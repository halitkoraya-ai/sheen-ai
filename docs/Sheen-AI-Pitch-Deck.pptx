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Monthly cost ($)</c:v>
                </c:pt>
              </c:strCache>
            </c:strRef>
          </c:tx>
          <c:spPr>
            <a:solidFill>
              <a:srgbClr val="8163A3"/>
            </a:solidFill>
            <a:effectLst/>
          </c:spPr>
          <c:invertIfNegative val="0"/>
          <c:dLbls>
            <c:numFmt formatCode="#,##0" sourceLinked="0"/>
            <c:txPr>
              <a:bodyPr/>
              <a:lstStyle/>
              <a:p>
                <a:pPr>
                  <a:defRPr b="0" i="0" strike="noStrike" sz="1100" u="none">
                    <a:solidFill>
                      <a:srgbClr val="2A1A3A"/>
                    </a:solidFill>
                    <a:latin typeface="Calibri"/>
                  </a:defRPr>
                </a:pPr>
              </a:p>
            </c:txPr>
            <c:showLegendKey val="0"/>
            <c:showVal val="1"/>
            <c:showCatName val="0"/>
            <c:showSerName val="0"/>
            <c:showPercent val="0"/>
            <c:showBubbleSize val="0"/>
            <c:showLeaderLines val="0"/>
          </c:dLbls>
          <c:cat>
            <c:multiLvlStrRef>
              <c:f>Sheet1!$A$2:$A$5</c:f>
              <c:multiLvlStrCache>
                <c:ptCount val="4"/>
                <c:lvl>
                  <c:pt idx="0">
                    <c:v>Free</c:v>
                  </c:pt>
                  <c:pt idx="1">
                    <c:v>Advance</c:v>
                  </c:pt>
                  <c:pt idx="2">
                    <c:v>Premium</c:v>
                  </c:pt>
                  <c:pt idx="3">
                    <c:v>Professional</c:v>
                  </c:pt>
                </c:lvl>
              </c:multiLvlStrCache>
            </c:multiLvlStrRef>
          </c:cat>
          <c:val>
            <c:numRef>
              <c:f>Sheet1!$B$2:$B$5</c:f>
              <c:numCache>
                <c:formatCode>General</c:formatCode>
                <c:ptCount val="4"/>
                <c:pt idx="0">
                  <c:v>0.21</c:v>
                </c:pt>
                <c:pt idx="1">
                  <c:v>1.27</c:v>
                </c:pt>
                <c:pt idx="2">
                  <c:v>3.62</c:v>
                </c:pt>
                <c:pt idx="3">
                  <c:v>13.4</c:v>
                </c:pt>
              </c:numCache>
            </c:numRef>
          </c:val>
        </c:ser>
        <c:ser>
          <c:idx val="1"/>
          <c:order val="1"/>
          <c:tx>
            <c:strRef>
              <c:f>Sheet1!$C$1</c:f>
              <c:strCache>
                <c:ptCount val="1"/>
                <c:pt idx="0">
                  <c:v>Monthly price ($)</c:v>
                </c:pt>
              </c:strCache>
            </c:strRef>
          </c:tx>
          <c:spPr>
            <a:solidFill>
              <a:srgbClr val="4A2070"/>
            </a:solidFill>
            <a:effectLst/>
          </c:spPr>
          <c:invertIfNegative val="0"/>
          <c:dLbls>
            <c:numFmt formatCode="#,##0" sourceLinked="0"/>
            <c:txPr>
              <a:bodyPr/>
              <a:lstStyle/>
              <a:p>
                <a:pPr>
                  <a:defRPr b="0" i="0" strike="noStrike" sz="1100" u="none">
                    <a:solidFill>
                      <a:srgbClr val="2A1A3A"/>
                    </a:solidFill>
                    <a:latin typeface="Calibri"/>
                  </a:defRPr>
                </a:pPr>
              </a:p>
            </c:txPr>
            <c:showLegendKey val="0"/>
            <c:showVal val="1"/>
            <c:showCatName val="0"/>
            <c:showSerName val="0"/>
            <c:showPercent val="0"/>
            <c:showBubbleSize val="0"/>
            <c:showLeaderLines val="0"/>
          </c:dLbls>
          <c:cat>
            <c:multiLvlStrRef>
              <c:f>Sheet1!$A$2:$A$5</c:f>
              <c:multiLvlStrCache>
                <c:ptCount val="4"/>
                <c:lvl>
                  <c:pt idx="0">
                    <c:v>Free</c:v>
                  </c:pt>
                  <c:pt idx="1">
                    <c:v>Advance</c:v>
                  </c:pt>
                  <c:pt idx="2">
                    <c:v>Premium</c:v>
                  </c:pt>
                  <c:pt idx="3">
                    <c:v>Professional</c:v>
                  </c:pt>
                </c:lvl>
              </c:multiLvlStrCache>
            </c:multiLvlStrRef>
          </c:cat>
          <c:val>
            <c:numRef>
              <c:f>Sheet1!$C$2:$C$5</c:f>
              <c:numCache>
                <c:formatCode>General</c:formatCode>
                <c:ptCount val="4"/>
                <c:pt idx="0">
                  <c:v>0</c:v>
                </c:pt>
                <c:pt idx="1">
                  <c:v>9.99</c:v>
                </c:pt>
                <c:pt idx="2">
                  <c:v>19.99</c:v>
                </c:pt>
                <c:pt idx="3">
                  <c:v>49.99</c:v>
                </c:pt>
              </c:numCache>
            </c:numRef>
          </c:val>
        </c:ser>
        <c:dLbls>
          <c:numFmt formatCode="#,##0" sourceLinked="0"/>
          <c:txPr>
            <a:bodyPr/>
            <a:lstStyle/>
            <a:p>
              <a:pPr>
                <a:defRPr b="0" i="0" strike="noStrike" sz="1100" u="none">
                  <a:solidFill>
                    <a:srgbClr val="2A1A3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A1A3A"/>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2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2A1A3A"/>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A2070"/>
        </a:solidFill>
      </p:bgPr>
    </p:bg>
    <p:spTree>
      <p:nvGrpSpPr>
        <p:cNvPr id="1" name=""/>
        <p:cNvGrpSpPr/>
        <p:nvPr/>
      </p:nvGrpSpPr>
      <p:grpSpPr>
        <a:xfrm>
          <a:off x="0" y="0"/>
          <a:ext cx="0" cy="0"/>
          <a:chOff x="0" y="0"/>
          <a:chExt cx="0" cy="0"/>
        </a:xfrm>
      </p:grpSpPr>
      <p:sp>
        <p:nvSpPr>
          <p:cNvPr id="2" name="Shape 0"/>
          <p:cNvSpPr/>
          <p:nvPr/>
        </p:nvSpPr>
        <p:spPr>
          <a:xfrm>
            <a:off x="11996928" y="0"/>
            <a:ext cx="164592" cy="6858000"/>
          </a:xfrm>
          <a:prstGeom prst="rect">
            <a:avLst/>
          </a:prstGeom>
          <a:solidFill>
            <a:srgbClr val="BDA2DA"/>
          </a:solidFill>
          <a:ln/>
        </p:spPr>
      </p:sp>
      <p:sp>
        <p:nvSpPr>
          <p:cNvPr id="3" name="Shape 1"/>
          <p:cNvSpPr/>
          <p:nvPr/>
        </p:nvSpPr>
        <p:spPr>
          <a:xfrm>
            <a:off x="5440680" y="1280160"/>
            <a:ext cx="1280160" cy="1280160"/>
          </a:xfrm>
          <a:prstGeom prst="ellipse">
            <a:avLst/>
          </a:prstGeom>
          <a:solidFill>
            <a:srgbClr val="BDA2DA"/>
          </a:solidFill>
          <a:ln w="50800">
            <a:solidFill>
              <a:srgbClr val="FFFFFF"/>
            </a:solidFill>
            <a:prstDash val="solid"/>
          </a:ln>
          <a:effectLst>
            <a:outerShdw sx="100000" sy="100000" kx="0" ky="0" algn="bl" rotWithShape="0" blurRad="152400" dist="50800" dir="8100000">
              <a:srgbClr val="000000">
                <a:alpha val="30000"/>
              </a:srgbClr>
            </a:outerShdw>
          </a:effectLst>
        </p:spPr>
      </p:sp>
      <p:sp>
        <p:nvSpPr>
          <p:cNvPr id="4" name="Text 2"/>
          <p:cNvSpPr/>
          <p:nvPr/>
        </p:nvSpPr>
        <p:spPr>
          <a:xfrm>
            <a:off x="5440680" y="1280160"/>
            <a:ext cx="1280160" cy="1280160"/>
          </a:xfrm>
          <a:prstGeom prst="rect">
            <a:avLst/>
          </a:prstGeom>
          <a:noFill/>
          <a:ln/>
        </p:spPr>
        <p:txBody>
          <a:bodyPr wrap="square" lIns="0" tIns="0" rIns="0" bIns="0" rtlCol="0" anchor="ctr"/>
          <a:lstStyle/>
          <a:p>
            <a:pPr algn="ctr" indent="0" marL="0">
              <a:buNone/>
            </a:pPr>
            <a:r>
              <a:rPr lang="en-US" sz="5600" b="1" dirty="0">
                <a:solidFill>
                  <a:srgbClr val="FFFFFF"/>
                </a:solidFill>
                <a:latin typeface="Calibri" pitchFamily="34" charset="0"/>
                <a:ea typeface="Calibri" pitchFamily="34" charset="-122"/>
                <a:cs typeface="Calibri" pitchFamily="34" charset="-120"/>
              </a:rPr>
              <a:t>S</a:t>
            </a:r>
            <a:endParaRPr lang="en-US" sz="5600" dirty="0"/>
          </a:p>
        </p:txBody>
      </p:sp>
      <p:sp>
        <p:nvSpPr>
          <p:cNvPr id="5" name="Text 3"/>
          <p:cNvSpPr/>
          <p:nvPr/>
        </p:nvSpPr>
        <p:spPr>
          <a:xfrm>
            <a:off x="914400" y="2926080"/>
            <a:ext cx="10332720" cy="1097280"/>
          </a:xfrm>
          <a:prstGeom prst="rect">
            <a:avLst/>
          </a:prstGeom>
          <a:noFill/>
          <a:ln/>
        </p:spPr>
        <p:txBody>
          <a:bodyPr wrap="square" lIns="0" tIns="0" rIns="0" bIns="0" rtlCol="0" anchor="ctr"/>
          <a:lstStyle/>
          <a:p>
            <a:pPr algn="ctr" indent="0" marL="0">
              <a:buNone/>
            </a:pPr>
            <a:r>
              <a:rPr lang="en-US" sz="8400" b="1" spc="800" kern="0" dirty="0">
                <a:solidFill>
                  <a:srgbClr val="FFFFFF"/>
                </a:solidFill>
                <a:latin typeface="Calibri" pitchFamily="34" charset="0"/>
                <a:ea typeface="Calibri" pitchFamily="34" charset="-122"/>
                <a:cs typeface="Calibri" pitchFamily="34" charset="-120"/>
              </a:rPr>
              <a:t>SHEEN AI</a:t>
            </a:r>
            <a:endParaRPr lang="en-US" sz="8400" dirty="0"/>
          </a:p>
        </p:txBody>
      </p:sp>
      <p:sp>
        <p:nvSpPr>
          <p:cNvPr id="6" name="Text 4"/>
          <p:cNvSpPr/>
          <p:nvPr/>
        </p:nvSpPr>
        <p:spPr>
          <a:xfrm>
            <a:off x="914400" y="4023360"/>
            <a:ext cx="10332720" cy="548640"/>
          </a:xfrm>
          <a:prstGeom prst="rect">
            <a:avLst/>
          </a:prstGeom>
          <a:noFill/>
          <a:ln/>
        </p:spPr>
        <p:txBody>
          <a:bodyPr wrap="square" lIns="0" tIns="0" rIns="0" bIns="0" rtlCol="0" anchor="ctr"/>
          <a:lstStyle/>
          <a:p>
            <a:pPr algn="ctr" indent="0" marL="0">
              <a:buNone/>
            </a:pPr>
            <a:r>
              <a:rPr lang="en-US" sz="2200" i="1" dirty="0">
                <a:solidFill>
                  <a:srgbClr val="BDA2DA"/>
                </a:solidFill>
                <a:latin typeface="Calibri" pitchFamily="34" charset="0"/>
                <a:ea typeface="Calibri" pitchFamily="34" charset="-122"/>
                <a:cs typeface="Calibri" pitchFamily="34" charset="-120"/>
              </a:rPr>
              <a:t>AI-powered meeting transcription, translation, and analysis</a:t>
            </a:r>
            <a:endParaRPr lang="en-US" sz="2200" dirty="0"/>
          </a:p>
        </p:txBody>
      </p:sp>
      <p:sp>
        <p:nvSpPr>
          <p:cNvPr id="7" name="Text 5"/>
          <p:cNvSpPr/>
          <p:nvPr/>
        </p:nvSpPr>
        <p:spPr>
          <a:xfrm>
            <a:off x="914400" y="5760720"/>
            <a:ext cx="10332720" cy="365760"/>
          </a:xfrm>
          <a:prstGeom prst="rect">
            <a:avLst/>
          </a:prstGeom>
          <a:noFill/>
          <a:ln/>
        </p:spPr>
        <p:txBody>
          <a:bodyPr wrap="square" lIns="0" tIns="0" rIns="0" bIns="0" rtlCol="0" anchor="ctr"/>
          <a:lstStyle/>
          <a:p>
            <a:pPr algn="ctr" indent="0" marL="0">
              <a:buNone/>
            </a:pPr>
            <a:r>
              <a:rPr lang="en-US" sz="1400" dirty="0">
                <a:solidFill>
                  <a:srgbClr val="BDA2DA"/>
                </a:solidFill>
                <a:latin typeface="Calibri" pitchFamily="34" charset="0"/>
                <a:ea typeface="Calibri" pitchFamily="34" charset="-122"/>
                <a:cs typeface="Calibri" pitchFamily="34" charset="-120"/>
              </a:rPr>
              <a:t>Stakeholder Pitch Deck · Version 1.0 · 8 May 2026</a:t>
            </a:r>
            <a:endParaRPr lang="en-US" sz="1400" dirty="0"/>
          </a:p>
        </p:txBody>
      </p:sp>
      <p:sp>
        <p:nvSpPr>
          <p:cNvPr id="8" name="Text 6"/>
          <p:cNvSpPr/>
          <p:nvPr/>
        </p:nvSpPr>
        <p:spPr>
          <a:xfrm>
            <a:off x="914400" y="6126480"/>
            <a:ext cx="10332720" cy="32004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Halit Koraya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EDF7"/>
        </a:solidFill>
      </p:bgPr>
    </p:bg>
    <p:spTree>
      <p:nvGrpSpPr>
        <p:cNvPr id="1" name=""/>
        <p:cNvGrpSpPr/>
        <p:nvPr/>
      </p:nvGrpSpPr>
      <p:grpSpPr>
        <a:xfrm>
          <a:off x="0" y="0"/>
          <a:ext cx="0" cy="0"/>
          <a:chOff x="0" y="0"/>
          <a:chExt cx="0" cy="0"/>
        </a:xfrm>
      </p:grpSpPr>
      <p:sp>
        <p:nvSpPr>
          <p:cNvPr id="2" name="Text 0"/>
          <p:cNvSpPr/>
          <p:nvPr/>
        </p:nvSpPr>
        <p:spPr>
          <a:xfrm>
            <a:off x="548640" y="502920"/>
            <a:ext cx="11064240" cy="320040"/>
          </a:xfrm>
          <a:prstGeom prst="rect">
            <a:avLst/>
          </a:prstGeom>
          <a:noFill/>
          <a:ln/>
        </p:spPr>
        <p:txBody>
          <a:bodyPr wrap="square" rtlCol="0" anchor="ctr"/>
          <a:lstStyle/>
          <a:p>
            <a:pPr indent="0" marL="0">
              <a:buNone/>
            </a:pPr>
            <a:r>
              <a:rPr lang="en-US" sz="1300" b="1" spc="400" kern="0" dirty="0">
                <a:solidFill>
                  <a:srgbClr val="8163A3"/>
                </a:solidFill>
                <a:latin typeface="Calibri" pitchFamily="34" charset="0"/>
                <a:ea typeface="Calibri" pitchFamily="34" charset="-122"/>
                <a:cs typeface="Calibri" pitchFamily="34" charset="-120"/>
              </a:rPr>
              <a:t>THE PROBLEM</a:t>
            </a:r>
            <a:endParaRPr lang="en-US" sz="1300" dirty="0"/>
          </a:p>
        </p:txBody>
      </p:sp>
      <p:sp>
        <p:nvSpPr>
          <p:cNvPr id="3" name="Text 1"/>
          <p:cNvSpPr/>
          <p:nvPr/>
        </p:nvSpPr>
        <p:spPr>
          <a:xfrm>
            <a:off x="548640" y="868680"/>
            <a:ext cx="11064240" cy="777240"/>
          </a:xfrm>
          <a:prstGeom prst="rect">
            <a:avLst/>
          </a:prstGeom>
          <a:noFill/>
          <a:ln/>
        </p:spPr>
        <p:txBody>
          <a:bodyPr wrap="square" lIns="0" tIns="0" rIns="0" bIns="0" rtlCol="0" anchor="ctr"/>
          <a:lstStyle/>
          <a:p>
            <a:pPr indent="0" marL="0">
              <a:buNone/>
            </a:pPr>
            <a:r>
              <a:rPr lang="en-US" sz="3200" b="1" dirty="0">
                <a:solidFill>
                  <a:srgbClr val="4A2070"/>
                </a:solidFill>
                <a:latin typeface="Calibri" pitchFamily="34" charset="0"/>
                <a:ea typeface="Calibri" pitchFamily="34" charset="-122"/>
                <a:cs typeface="Calibri" pitchFamily="34" charset="-120"/>
              </a:rPr>
              <a:t>Meetings Lose Substance Faster Than We Capture It</a:t>
            </a:r>
            <a:endParaRPr lang="en-US" sz="3200" dirty="0"/>
          </a:p>
        </p:txBody>
      </p:sp>
      <p:sp>
        <p:nvSpPr>
          <p:cNvPr id="4" name="Shape 2"/>
          <p:cNvSpPr/>
          <p:nvPr/>
        </p:nvSpPr>
        <p:spPr>
          <a:xfrm>
            <a:off x="548640" y="1828800"/>
            <a:ext cx="3657600" cy="4114800"/>
          </a:xfrm>
          <a:prstGeom prst="rect">
            <a:avLst/>
          </a:prstGeom>
          <a:solidFill>
            <a:srgbClr val="FFFFFF"/>
          </a:solidFill>
          <a:ln w="12700">
            <a:solidFill>
              <a:srgbClr val="BDA2DA"/>
            </a:solidFill>
            <a:prstDash val="solid"/>
          </a:ln>
        </p:spPr>
      </p:sp>
      <p:sp>
        <p:nvSpPr>
          <p:cNvPr id="5" name="Shape 3"/>
          <p:cNvSpPr/>
          <p:nvPr/>
        </p:nvSpPr>
        <p:spPr>
          <a:xfrm>
            <a:off x="548640" y="1828800"/>
            <a:ext cx="109728" cy="4114800"/>
          </a:xfrm>
          <a:prstGeom prst="rect">
            <a:avLst/>
          </a:prstGeom>
          <a:solidFill>
            <a:srgbClr val="B32B2B"/>
          </a:solidFill>
          <a:ln/>
        </p:spPr>
      </p:sp>
      <p:sp>
        <p:nvSpPr>
          <p:cNvPr id="6" name="Text 4"/>
          <p:cNvSpPr/>
          <p:nvPr/>
        </p:nvSpPr>
        <p:spPr>
          <a:xfrm>
            <a:off x="822960" y="2057400"/>
            <a:ext cx="3108960" cy="411480"/>
          </a:xfrm>
          <a:prstGeom prst="rect">
            <a:avLst/>
          </a:prstGeom>
          <a:noFill/>
          <a:ln/>
        </p:spPr>
        <p:txBody>
          <a:bodyPr wrap="square" lIns="0" tIns="0" rIns="0" bIns="0" rtlCol="0" anchor="ctr"/>
          <a:lstStyle/>
          <a:p>
            <a:pPr indent="0" marL="0">
              <a:buNone/>
            </a:pPr>
            <a:r>
              <a:rPr lang="en-US" sz="1600" b="1" dirty="0">
                <a:solidFill>
                  <a:srgbClr val="4A2070"/>
                </a:solidFill>
                <a:latin typeface="Calibri" pitchFamily="34" charset="0"/>
                <a:ea typeface="Calibri" pitchFamily="34" charset="-122"/>
                <a:cs typeface="Calibri" pitchFamily="34" charset="-120"/>
              </a:rPr>
              <a:t>Existing tools are expensive</a:t>
            </a:r>
            <a:endParaRPr lang="en-US" sz="1600" dirty="0"/>
          </a:p>
        </p:txBody>
      </p:sp>
      <p:sp>
        <p:nvSpPr>
          <p:cNvPr id="7" name="Text 5"/>
          <p:cNvSpPr/>
          <p:nvPr/>
        </p:nvSpPr>
        <p:spPr>
          <a:xfrm>
            <a:off x="822960" y="2514600"/>
            <a:ext cx="3108960" cy="3246120"/>
          </a:xfrm>
          <a:prstGeom prst="rect">
            <a:avLst/>
          </a:prstGeom>
          <a:noFill/>
          <a:ln/>
        </p:spPr>
        <p:txBody>
          <a:bodyPr wrap="square" lIns="0" tIns="0" rIns="0" bIns="0" rtlCol="0" anchor="t"/>
          <a:lstStyle/>
          <a:p>
            <a:pPr indent="0" marL="0">
              <a:spcAft>
                <a:spcPts val="400"/>
              </a:spcAft>
              <a:buNone/>
            </a:pPr>
            <a:r>
              <a:rPr lang="en-US" sz="1200" dirty="0">
                <a:solidFill>
                  <a:srgbClr val="2A1A3A"/>
                </a:solidFill>
                <a:latin typeface="Calibri" pitchFamily="34" charset="0"/>
                <a:ea typeface="Calibri" pitchFamily="34" charset="-122"/>
                <a:cs typeface="Calibri" pitchFamily="34" charset="-120"/>
              </a:rPr>
              <a:t>$15-$30 per month entry tier</a:t>
            </a:r>
            <a:endParaRPr lang="en-US" sz="1200" dirty="0"/>
          </a:p>
          <a:p>
            <a:pPr indent="0" marL="0">
              <a:spcAft>
                <a:spcPts val="400"/>
              </a:spcAft>
              <a:buNone/>
            </a:pPr>
            <a:r>
              <a:rPr lang="en-US" sz="1200" dirty="0">
                <a:solidFill>
                  <a:srgbClr val="2A1A3A"/>
                </a:solidFill>
                <a:latin typeface="Calibri" pitchFamily="34" charset="0"/>
                <a:ea typeface="Calibri" pitchFamily="34" charset="-122"/>
                <a:cs typeface="Calibri" pitchFamily="34" charset="-120"/>
              </a:rPr>
              <a:t>Charge per recording hour</a:t>
            </a:r>
            <a:endParaRPr lang="en-US" sz="1200" dirty="0"/>
          </a:p>
          <a:p>
            <a:pPr indent="0" marL="0">
              <a:spcAft>
                <a:spcPts val="400"/>
              </a:spcAft>
              <a:buNone/>
            </a:pPr>
            <a:r>
              <a:rPr lang="en-US" sz="1200" dirty="0">
                <a:solidFill>
                  <a:srgbClr val="2A1A3A"/>
                </a:solidFill>
                <a:latin typeface="Calibri" pitchFamily="34" charset="0"/>
                <a:ea typeface="Calibri" pitchFamily="34" charset="-122"/>
                <a:cs typeface="Calibri" pitchFamily="34" charset="-120"/>
              </a:rPr>
              <a:t>Translation almost always an add-on</a:t>
            </a:r>
            <a:endParaRPr lang="en-US" sz="1200" dirty="0"/>
          </a:p>
        </p:txBody>
      </p:sp>
      <p:sp>
        <p:nvSpPr>
          <p:cNvPr id="8" name="Shape 6"/>
          <p:cNvSpPr/>
          <p:nvPr/>
        </p:nvSpPr>
        <p:spPr>
          <a:xfrm>
            <a:off x="4389120" y="1828800"/>
            <a:ext cx="3657600" cy="4114800"/>
          </a:xfrm>
          <a:prstGeom prst="rect">
            <a:avLst/>
          </a:prstGeom>
          <a:solidFill>
            <a:srgbClr val="FFFFFF"/>
          </a:solidFill>
          <a:ln w="12700">
            <a:solidFill>
              <a:srgbClr val="BDA2DA"/>
            </a:solidFill>
            <a:prstDash val="solid"/>
          </a:ln>
        </p:spPr>
      </p:sp>
      <p:sp>
        <p:nvSpPr>
          <p:cNvPr id="9" name="Shape 7"/>
          <p:cNvSpPr/>
          <p:nvPr/>
        </p:nvSpPr>
        <p:spPr>
          <a:xfrm>
            <a:off x="4389120" y="1828800"/>
            <a:ext cx="109728" cy="4114800"/>
          </a:xfrm>
          <a:prstGeom prst="rect">
            <a:avLst/>
          </a:prstGeom>
          <a:solidFill>
            <a:srgbClr val="B7791F"/>
          </a:solidFill>
          <a:ln/>
        </p:spPr>
      </p:sp>
      <p:sp>
        <p:nvSpPr>
          <p:cNvPr id="10" name="Text 8"/>
          <p:cNvSpPr/>
          <p:nvPr/>
        </p:nvSpPr>
        <p:spPr>
          <a:xfrm>
            <a:off x="4663440" y="2057400"/>
            <a:ext cx="3108960" cy="411480"/>
          </a:xfrm>
          <a:prstGeom prst="rect">
            <a:avLst/>
          </a:prstGeom>
          <a:noFill/>
          <a:ln/>
        </p:spPr>
        <p:txBody>
          <a:bodyPr wrap="square" lIns="0" tIns="0" rIns="0" bIns="0" rtlCol="0" anchor="ctr"/>
          <a:lstStyle/>
          <a:p>
            <a:pPr indent="0" marL="0">
              <a:buNone/>
            </a:pPr>
            <a:r>
              <a:rPr lang="en-US" sz="1600" b="1" dirty="0">
                <a:solidFill>
                  <a:srgbClr val="4A2070"/>
                </a:solidFill>
                <a:latin typeface="Calibri" pitchFamily="34" charset="0"/>
                <a:ea typeface="Calibri" pitchFamily="34" charset="-122"/>
                <a:cs typeface="Calibri" pitchFamily="34" charset="-120"/>
              </a:rPr>
              <a:t>Cloud-only audio</a:t>
            </a:r>
            <a:endParaRPr lang="en-US" sz="1600" dirty="0"/>
          </a:p>
        </p:txBody>
      </p:sp>
      <p:sp>
        <p:nvSpPr>
          <p:cNvPr id="11" name="Text 9"/>
          <p:cNvSpPr/>
          <p:nvPr/>
        </p:nvSpPr>
        <p:spPr>
          <a:xfrm>
            <a:off x="4663440" y="2514600"/>
            <a:ext cx="3108960" cy="3246120"/>
          </a:xfrm>
          <a:prstGeom prst="rect">
            <a:avLst/>
          </a:prstGeom>
          <a:noFill/>
          <a:ln/>
        </p:spPr>
        <p:txBody>
          <a:bodyPr wrap="square" lIns="0" tIns="0" rIns="0" bIns="0" rtlCol="0" anchor="t"/>
          <a:lstStyle/>
          <a:p>
            <a:pPr indent="0" marL="0">
              <a:spcAft>
                <a:spcPts val="400"/>
              </a:spcAft>
              <a:buNone/>
            </a:pPr>
            <a:r>
              <a:rPr lang="en-US" sz="1200" dirty="0">
                <a:solidFill>
                  <a:srgbClr val="2A1A3A"/>
                </a:solidFill>
                <a:latin typeface="Calibri" pitchFamily="34" charset="0"/>
                <a:ea typeface="Calibri" pitchFamily="34" charset="-122"/>
                <a:cs typeface="Calibri" pitchFamily="34" charset="-120"/>
              </a:rPr>
              <a:t>Audio uploaded to the vendor's cloud</a:t>
            </a:r>
            <a:endParaRPr lang="en-US" sz="1200" dirty="0"/>
          </a:p>
          <a:p>
            <a:pPr indent="0" marL="0">
              <a:spcAft>
                <a:spcPts val="400"/>
              </a:spcAft>
              <a:buNone/>
            </a:pPr>
            <a:r>
              <a:rPr lang="en-US" sz="1200" dirty="0">
                <a:solidFill>
                  <a:srgbClr val="2A1A3A"/>
                </a:solidFill>
                <a:latin typeface="Calibri" pitchFamily="34" charset="0"/>
                <a:ea typeface="Calibri" pitchFamily="34" charset="-122"/>
                <a:cs typeface="Calibri" pitchFamily="34" charset="-120"/>
              </a:rPr>
              <a:t>Privacy concerns for legal, medical, journalism</a:t>
            </a:r>
            <a:endParaRPr lang="en-US" sz="1200" dirty="0"/>
          </a:p>
          <a:p>
            <a:pPr indent="0" marL="0">
              <a:spcAft>
                <a:spcPts val="400"/>
              </a:spcAft>
              <a:buNone/>
            </a:pPr>
            <a:r>
              <a:rPr lang="en-US" sz="1200" dirty="0">
                <a:solidFill>
                  <a:srgbClr val="2A1A3A"/>
                </a:solidFill>
                <a:latin typeface="Calibri" pitchFamily="34" charset="0"/>
                <a:ea typeface="Calibri" pitchFamily="34" charset="-122"/>
                <a:cs typeface="Calibri" pitchFamily="34" charset="-120"/>
              </a:rPr>
              <a:t>Hidden storage cost passed through to the user</a:t>
            </a:r>
            <a:endParaRPr lang="en-US" sz="1200" dirty="0"/>
          </a:p>
        </p:txBody>
      </p:sp>
      <p:sp>
        <p:nvSpPr>
          <p:cNvPr id="12" name="Shape 10"/>
          <p:cNvSpPr/>
          <p:nvPr/>
        </p:nvSpPr>
        <p:spPr>
          <a:xfrm>
            <a:off x="8229600" y="1828800"/>
            <a:ext cx="3657600" cy="4114800"/>
          </a:xfrm>
          <a:prstGeom prst="rect">
            <a:avLst/>
          </a:prstGeom>
          <a:solidFill>
            <a:srgbClr val="FFFFFF"/>
          </a:solidFill>
          <a:ln w="12700">
            <a:solidFill>
              <a:srgbClr val="BDA2DA"/>
            </a:solidFill>
            <a:prstDash val="solid"/>
          </a:ln>
        </p:spPr>
      </p:sp>
      <p:sp>
        <p:nvSpPr>
          <p:cNvPr id="13" name="Shape 11"/>
          <p:cNvSpPr/>
          <p:nvPr/>
        </p:nvSpPr>
        <p:spPr>
          <a:xfrm>
            <a:off x="8229600" y="1828800"/>
            <a:ext cx="109728" cy="4114800"/>
          </a:xfrm>
          <a:prstGeom prst="rect">
            <a:avLst/>
          </a:prstGeom>
          <a:solidFill>
            <a:srgbClr val="8163A3"/>
          </a:solidFill>
          <a:ln/>
        </p:spPr>
      </p:sp>
      <p:sp>
        <p:nvSpPr>
          <p:cNvPr id="14" name="Text 12"/>
          <p:cNvSpPr/>
          <p:nvPr/>
        </p:nvSpPr>
        <p:spPr>
          <a:xfrm>
            <a:off x="8503920" y="2057400"/>
            <a:ext cx="3108960" cy="411480"/>
          </a:xfrm>
          <a:prstGeom prst="rect">
            <a:avLst/>
          </a:prstGeom>
          <a:noFill/>
          <a:ln/>
        </p:spPr>
        <p:txBody>
          <a:bodyPr wrap="square" lIns="0" tIns="0" rIns="0" bIns="0" rtlCol="0" anchor="ctr"/>
          <a:lstStyle/>
          <a:p>
            <a:pPr indent="0" marL="0">
              <a:buNone/>
            </a:pPr>
            <a:r>
              <a:rPr lang="en-US" sz="1600" b="1" dirty="0">
                <a:solidFill>
                  <a:srgbClr val="4A2070"/>
                </a:solidFill>
                <a:latin typeface="Calibri" pitchFamily="34" charset="0"/>
                <a:ea typeface="Calibri" pitchFamily="34" charset="-122"/>
                <a:cs typeface="Calibri" pitchFamily="34" charset="-120"/>
              </a:rPr>
              <a:t>Knowledge evaporates</a:t>
            </a:r>
            <a:endParaRPr lang="en-US" sz="1600" dirty="0"/>
          </a:p>
        </p:txBody>
      </p:sp>
      <p:sp>
        <p:nvSpPr>
          <p:cNvPr id="15" name="Text 13"/>
          <p:cNvSpPr/>
          <p:nvPr/>
        </p:nvSpPr>
        <p:spPr>
          <a:xfrm>
            <a:off x="8503920" y="2514600"/>
            <a:ext cx="3108960" cy="3246120"/>
          </a:xfrm>
          <a:prstGeom prst="rect">
            <a:avLst/>
          </a:prstGeom>
          <a:noFill/>
          <a:ln/>
        </p:spPr>
        <p:txBody>
          <a:bodyPr wrap="square" lIns="0" tIns="0" rIns="0" bIns="0" rtlCol="0" anchor="t"/>
          <a:lstStyle/>
          <a:p>
            <a:pPr indent="0" marL="0">
              <a:spcAft>
                <a:spcPts val="400"/>
              </a:spcAft>
              <a:buNone/>
            </a:pPr>
            <a:r>
              <a:rPr lang="en-US" sz="1200" dirty="0">
                <a:solidFill>
                  <a:srgbClr val="2A1A3A"/>
                </a:solidFill>
                <a:latin typeface="Calibri" pitchFamily="34" charset="0"/>
                <a:ea typeface="Calibri" pitchFamily="34" charset="-122"/>
                <a:cs typeface="Calibri" pitchFamily="34" charset="-120"/>
              </a:rPr>
              <a:t>Notes captured by one participant — at best</a:t>
            </a:r>
            <a:endParaRPr lang="en-US" sz="1200" dirty="0"/>
          </a:p>
          <a:p>
            <a:pPr indent="0" marL="0">
              <a:spcAft>
                <a:spcPts val="400"/>
              </a:spcAft>
              <a:buNone/>
            </a:pPr>
            <a:r>
              <a:rPr lang="en-US" sz="1200" dirty="0">
                <a:solidFill>
                  <a:srgbClr val="2A1A3A"/>
                </a:solidFill>
                <a:latin typeface="Calibri" pitchFamily="34" charset="0"/>
                <a:ea typeface="Calibri" pitchFamily="34" charset="-122"/>
                <a:cs typeface="Calibri" pitchFamily="34" charset="-120"/>
              </a:rPr>
              <a:t>Multilingual teams pay a translation tax</a:t>
            </a:r>
            <a:endParaRPr lang="en-US" sz="1200" dirty="0"/>
          </a:p>
          <a:p>
            <a:pPr indent="0" marL="0">
              <a:spcAft>
                <a:spcPts val="400"/>
              </a:spcAft>
              <a:buNone/>
            </a:pPr>
            <a:r>
              <a:rPr lang="en-US" sz="1200" dirty="0">
                <a:solidFill>
                  <a:srgbClr val="2A1A3A"/>
                </a:solidFill>
                <a:latin typeface="Calibri" pitchFamily="34" charset="0"/>
                <a:ea typeface="Calibri" pitchFamily="34" charset="-122"/>
                <a:cs typeface="Calibri" pitchFamily="34" charset="-120"/>
              </a:rPr>
              <a:t>AI Q&amp;A locked behind premium tiers</a:t>
            </a:r>
            <a:endParaRPr lang="en-US" sz="1200" dirty="0"/>
          </a:p>
        </p:txBody>
      </p:sp>
      <p:sp>
        <p:nvSpPr>
          <p:cNvPr id="16" name="Text 14"/>
          <p:cNvSpPr/>
          <p:nvPr/>
        </p:nvSpPr>
        <p:spPr>
          <a:xfrm>
            <a:off x="365760" y="6492240"/>
            <a:ext cx="1828800" cy="274320"/>
          </a:xfrm>
          <a:prstGeom prst="rect">
            <a:avLst/>
          </a:prstGeom>
          <a:noFill/>
          <a:ln/>
        </p:spPr>
        <p:txBody>
          <a:bodyPr wrap="square" rtlCol="0" anchor="ctr"/>
          <a:lstStyle/>
          <a:p>
            <a:pPr indent="0" marL="0">
              <a:buNone/>
            </a:pPr>
            <a:r>
              <a:rPr lang="en-US" sz="1000" b="1" dirty="0">
                <a:solidFill>
                  <a:srgbClr val="666666"/>
                </a:solidFill>
                <a:latin typeface="Calibri" pitchFamily="34" charset="0"/>
                <a:ea typeface="Calibri" pitchFamily="34" charset="-122"/>
                <a:cs typeface="Calibri" pitchFamily="34" charset="-120"/>
              </a:rPr>
              <a:t>Sheen AI</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64240" cy="320040"/>
          </a:xfrm>
          <a:prstGeom prst="rect">
            <a:avLst/>
          </a:prstGeom>
          <a:noFill/>
          <a:ln/>
        </p:spPr>
        <p:txBody>
          <a:bodyPr wrap="square" rtlCol="0" anchor="ctr"/>
          <a:lstStyle/>
          <a:p>
            <a:pPr indent="0" marL="0">
              <a:buNone/>
            </a:pPr>
            <a:r>
              <a:rPr lang="en-US" sz="1300" b="1" spc="400" kern="0" dirty="0">
                <a:solidFill>
                  <a:srgbClr val="8163A3"/>
                </a:solidFill>
                <a:latin typeface="Calibri" pitchFamily="34" charset="0"/>
                <a:ea typeface="Calibri" pitchFamily="34" charset="-122"/>
                <a:cs typeface="Calibri" pitchFamily="34" charset="-120"/>
              </a:rPr>
              <a:t>OUR SOLUTION</a:t>
            </a:r>
            <a:endParaRPr lang="en-US" sz="1300" dirty="0"/>
          </a:p>
        </p:txBody>
      </p:sp>
      <p:sp>
        <p:nvSpPr>
          <p:cNvPr id="3" name="Text 1"/>
          <p:cNvSpPr/>
          <p:nvPr/>
        </p:nvSpPr>
        <p:spPr>
          <a:xfrm>
            <a:off x="548640" y="868680"/>
            <a:ext cx="11064240" cy="777240"/>
          </a:xfrm>
          <a:prstGeom prst="rect">
            <a:avLst/>
          </a:prstGeom>
          <a:noFill/>
          <a:ln/>
        </p:spPr>
        <p:txBody>
          <a:bodyPr wrap="square" lIns="0" tIns="0" rIns="0" bIns="0" rtlCol="0" anchor="ctr"/>
          <a:lstStyle/>
          <a:p>
            <a:pPr indent="0" marL="0">
              <a:buNone/>
            </a:pPr>
            <a:r>
              <a:rPr lang="en-US" sz="3200" b="1" dirty="0">
                <a:solidFill>
                  <a:srgbClr val="4A2070"/>
                </a:solidFill>
                <a:latin typeface="Calibri" pitchFamily="34" charset="0"/>
                <a:ea typeface="Calibri" pitchFamily="34" charset="-122"/>
                <a:cs typeface="Calibri" pitchFamily="34" charset="-120"/>
              </a:rPr>
              <a:t>One Tap Captures the Entire Meeting</a:t>
            </a:r>
            <a:endParaRPr lang="en-US" sz="3200" dirty="0"/>
          </a:p>
        </p:txBody>
      </p:sp>
      <p:sp>
        <p:nvSpPr>
          <p:cNvPr id="4" name="Shape 2"/>
          <p:cNvSpPr/>
          <p:nvPr/>
        </p:nvSpPr>
        <p:spPr>
          <a:xfrm>
            <a:off x="1394460" y="2194560"/>
            <a:ext cx="1691640" cy="914400"/>
          </a:xfrm>
          <a:prstGeom prst="rect">
            <a:avLst/>
          </a:prstGeom>
          <a:solidFill>
            <a:srgbClr val="4A2070"/>
          </a:solidFill>
          <a:ln/>
          <a:effectLst>
            <a:outerShdw sx="100000" sy="100000" kx="0" ky="0" algn="bl" rotWithShape="0" blurRad="76200" dist="25400" dir="8100000">
              <a:srgbClr val="000000">
                <a:alpha val="12000"/>
              </a:srgbClr>
            </a:outerShdw>
          </a:effectLst>
        </p:spPr>
      </p:sp>
      <p:sp>
        <p:nvSpPr>
          <p:cNvPr id="5" name="Text 3"/>
          <p:cNvSpPr/>
          <p:nvPr/>
        </p:nvSpPr>
        <p:spPr>
          <a:xfrm>
            <a:off x="1394460" y="2331720"/>
            <a:ext cx="169164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Record</a:t>
            </a:r>
            <a:endParaRPr lang="en-US" sz="1600" dirty="0"/>
          </a:p>
        </p:txBody>
      </p:sp>
      <p:sp>
        <p:nvSpPr>
          <p:cNvPr id="6" name="Text 4"/>
          <p:cNvSpPr/>
          <p:nvPr/>
        </p:nvSpPr>
        <p:spPr>
          <a:xfrm>
            <a:off x="1394460" y="2697480"/>
            <a:ext cx="169164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Tap, speak, walk away</a:t>
            </a:r>
            <a:endParaRPr lang="en-US" sz="1100" dirty="0"/>
          </a:p>
        </p:txBody>
      </p:sp>
      <p:sp>
        <p:nvSpPr>
          <p:cNvPr id="7" name="Text 5"/>
          <p:cNvSpPr/>
          <p:nvPr/>
        </p:nvSpPr>
        <p:spPr>
          <a:xfrm>
            <a:off x="3104388" y="2423160"/>
            <a:ext cx="192024" cy="457200"/>
          </a:xfrm>
          <a:prstGeom prst="rect">
            <a:avLst/>
          </a:prstGeom>
          <a:noFill/>
          <a:ln/>
        </p:spPr>
        <p:txBody>
          <a:bodyPr wrap="square" lIns="0" tIns="0" rIns="0" bIns="0" rtlCol="0" anchor="ctr"/>
          <a:lstStyle/>
          <a:p>
            <a:pPr algn="ctr" indent="0" marL="0">
              <a:buNone/>
            </a:pPr>
            <a:r>
              <a:rPr lang="en-US" sz="2200" b="1" dirty="0">
                <a:solidFill>
                  <a:srgbClr val="4A2070"/>
                </a:solidFill>
                <a:latin typeface="Calibri" pitchFamily="34" charset="0"/>
                <a:ea typeface="Calibri" pitchFamily="34" charset="-122"/>
                <a:cs typeface="Calibri" pitchFamily="34" charset="-120"/>
              </a:rPr>
              <a:t>→</a:t>
            </a:r>
            <a:endParaRPr lang="en-US" sz="2200" dirty="0"/>
          </a:p>
        </p:txBody>
      </p:sp>
      <p:sp>
        <p:nvSpPr>
          <p:cNvPr id="8" name="Shape 6"/>
          <p:cNvSpPr/>
          <p:nvPr/>
        </p:nvSpPr>
        <p:spPr>
          <a:xfrm>
            <a:off x="3314700" y="2194560"/>
            <a:ext cx="1691640" cy="914400"/>
          </a:xfrm>
          <a:prstGeom prst="rect">
            <a:avLst/>
          </a:prstGeom>
          <a:solidFill>
            <a:srgbClr val="8163A3"/>
          </a:solidFill>
          <a:ln/>
          <a:effectLst>
            <a:outerShdw sx="100000" sy="100000" kx="0" ky="0" algn="bl" rotWithShape="0" blurRad="76200" dist="25400" dir="8100000">
              <a:srgbClr val="000000">
                <a:alpha val="12000"/>
              </a:srgbClr>
            </a:outerShdw>
          </a:effectLst>
        </p:spPr>
      </p:sp>
      <p:sp>
        <p:nvSpPr>
          <p:cNvPr id="9" name="Text 7"/>
          <p:cNvSpPr/>
          <p:nvPr/>
        </p:nvSpPr>
        <p:spPr>
          <a:xfrm>
            <a:off x="3314700" y="2331720"/>
            <a:ext cx="169164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Live Transcript</a:t>
            </a:r>
            <a:endParaRPr lang="en-US" sz="1600" dirty="0"/>
          </a:p>
        </p:txBody>
      </p:sp>
      <p:sp>
        <p:nvSpPr>
          <p:cNvPr id="10" name="Text 8"/>
          <p:cNvSpPr/>
          <p:nvPr/>
        </p:nvSpPr>
        <p:spPr>
          <a:xfrm>
            <a:off x="3314700" y="2697480"/>
            <a:ext cx="169164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Streaming via Deepgram</a:t>
            </a:r>
            <a:endParaRPr lang="en-US" sz="1100" dirty="0"/>
          </a:p>
        </p:txBody>
      </p:sp>
      <p:sp>
        <p:nvSpPr>
          <p:cNvPr id="11" name="Text 9"/>
          <p:cNvSpPr/>
          <p:nvPr/>
        </p:nvSpPr>
        <p:spPr>
          <a:xfrm>
            <a:off x="5024628" y="2423160"/>
            <a:ext cx="192024" cy="457200"/>
          </a:xfrm>
          <a:prstGeom prst="rect">
            <a:avLst/>
          </a:prstGeom>
          <a:noFill/>
          <a:ln/>
        </p:spPr>
        <p:txBody>
          <a:bodyPr wrap="square" lIns="0" tIns="0" rIns="0" bIns="0" rtlCol="0" anchor="ctr"/>
          <a:lstStyle/>
          <a:p>
            <a:pPr algn="ctr" indent="0" marL="0">
              <a:buNone/>
            </a:pPr>
            <a:r>
              <a:rPr lang="en-US" sz="2200" b="1" dirty="0">
                <a:solidFill>
                  <a:srgbClr val="4A2070"/>
                </a:solidFill>
                <a:latin typeface="Calibri" pitchFamily="34" charset="0"/>
                <a:ea typeface="Calibri" pitchFamily="34" charset="-122"/>
                <a:cs typeface="Calibri" pitchFamily="34" charset="-120"/>
              </a:rPr>
              <a:t>→</a:t>
            </a:r>
            <a:endParaRPr lang="en-US" sz="2200" dirty="0"/>
          </a:p>
        </p:txBody>
      </p:sp>
      <p:sp>
        <p:nvSpPr>
          <p:cNvPr id="12" name="Shape 10"/>
          <p:cNvSpPr/>
          <p:nvPr/>
        </p:nvSpPr>
        <p:spPr>
          <a:xfrm>
            <a:off x="5234940" y="2194560"/>
            <a:ext cx="1691640" cy="914400"/>
          </a:xfrm>
          <a:prstGeom prst="rect">
            <a:avLst/>
          </a:prstGeom>
          <a:solidFill>
            <a:srgbClr val="BDA2DA"/>
          </a:solidFill>
          <a:ln/>
          <a:effectLst>
            <a:outerShdw sx="100000" sy="100000" kx="0" ky="0" algn="bl" rotWithShape="0" blurRad="76200" dist="25400" dir="8100000">
              <a:srgbClr val="000000">
                <a:alpha val="12000"/>
              </a:srgbClr>
            </a:outerShdw>
          </a:effectLst>
        </p:spPr>
      </p:sp>
      <p:sp>
        <p:nvSpPr>
          <p:cNvPr id="13" name="Text 11"/>
          <p:cNvSpPr/>
          <p:nvPr/>
        </p:nvSpPr>
        <p:spPr>
          <a:xfrm>
            <a:off x="5234940" y="2331720"/>
            <a:ext cx="169164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Translate</a:t>
            </a:r>
            <a:endParaRPr lang="en-US" sz="1600" dirty="0"/>
          </a:p>
        </p:txBody>
      </p:sp>
      <p:sp>
        <p:nvSpPr>
          <p:cNvPr id="14" name="Text 12"/>
          <p:cNvSpPr/>
          <p:nvPr/>
        </p:nvSpPr>
        <p:spPr>
          <a:xfrm>
            <a:off x="5234940" y="2697480"/>
            <a:ext cx="169164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Multilingual on the fly</a:t>
            </a:r>
            <a:endParaRPr lang="en-US" sz="1100" dirty="0"/>
          </a:p>
        </p:txBody>
      </p:sp>
      <p:sp>
        <p:nvSpPr>
          <p:cNvPr id="15" name="Text 13"/>
          <p:cNvSpPr/>
          <p:nvPr/>
        </p:nvSpPr>
        <p:spPr>
          <a:xfrm>
            <a:off x="6944868" y="2423160"/>
            <a:ext cx="192024" cy="457200"/>
          </a:xfrm>
          <a:prstGeom prst="rect">
            <a:avLst/>
          </a:prstGeom>
          <a:noFill/>
          <a:ln/>
        </p:spPr>
        <p:txBody>
          <a:bodyPr wrap="square" lIns="0" tIns="0" rIns="0" bIns="0" rtlCol="0" anchor="ctr"/>
          <a:lstStyle/>
          <a:p>
            <a:pPr algn="ctr" indent="0" marL="0">
              <a:buNone/>
            </a:pPr>
            <a:r>
              <a:rPr lang="en-US" sz="2200" b="1" dirty="0">
                <a:solidFill>
                  <a:srgbClr val="4A2070"/>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7155180" y="2194560"/>
            <a:ext cx="1691640" cy="914400"/>
          </a:xfrm>
          <a:prstGeom prst="rect">
            <a:avLst/>
          </a:prstGeom>
          <a:solidFill>
            <a:srgbClr val="8163A3"/>
          </a:solidFill>
          <a:ln/>
          <a:effectLst>
            <a:outerShdw sx="100000" sy="100000" kx="0" ky="0" algn="bl" rotWithShape="0" blurRad="76200" dist="25400" dir="8100000">
              <a:srgbClr val="000000">
                <a:alpha val="12000"/>
              </a:srgbClr>
            </a:outerShdw>
          </a:effectLst>
        </p:spPr>
      </p:sp>
      <p:sp>
        <p:nvSpPr>
          <p:cNvPr id="17" name="Text 15"/>
          <p:cNvSpPr/>
          <p:nvPr/>
        </p:nvSpPr>
        <p:spPr>
          <a:xfrm>
            <a:off x="7155180" y="2331720"/>
            <a:ext cx="169164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Mind Map</a:t>
            </a:r>
            <a:endParaRPr lang="en-US" sz="1600" dirty="0"/>
          </a:p>
        </p:txBody>
      </p:sp>
      <p:sp>
        <p:nvSpPr>
          <p:cNvPr id="18" name="Text 16"/>
          <p:cNvSpPr/>
          <p:nvPr/>
        </p:nvSpPr>
        <p:spPr>
          <a:xfrm>
            <a:off x="7155180" y="2697480"/>
            <a:ext cx="169164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Topics, decisions, outline</a:t>
            </a:r>
            <a:endParaRPr lang="en-US" sz="1100" dirty="0"/>
          </a:p>
        </p:txBody>
      </p:sp>
      <p:sp>
        <p:nvSpPr>
          <p:cNvPr id="19" name="Text 17"/>
          <p:cNvSpPr/>
          <p:nvPr/>
        </p:nvSpPr>
        <p:spPr>
          <a:xfrm>
            <a:off x="8865108" y="2423160"/>
            <a:ext cx="192024" cy="457200"/>
          </a:xfrm>
          <a:prstGeom prst="rect">
            <a:avLst/>
          </a:prstGeom>
          <a:noFill/>
          <a:ln/>
        </p:spPr>
        <p:txBody>
          <a:bodyPr wrap="square" lIns="0" tIns="0" rIns="0" bIns="0" rtlCol="0" anchor="ctr"/>
          <a:lstStyle/>
          <a:p>
            <a:pPr algn="ctr" indent="0" marL="0">
              <a:buNone/>
            </a:pPr>
            <a:r>
              <a:rPr lang="en-US" sz="2200" b="1" dirty="0">
                <a:solidFill>
                  <a:srgbClr val="4A2070"/>
                </a:solidFill>
                <a:latin typeface="Calibri" pitchFamily="34" charset="0"/>
                <a:ea typeface="Calibri" pitchFamily="34" charset="-122"/>
                <a:cs typeface="Calibri" pitchFamily="34" charset="-120"/>
              </a:rPr>
              <a:t>→</a:t>
            </a:r>
            <a:endParaRPr lang="en-US" sz="2200" dirty="0"/>
          </a:p>
        </p:txBody>
      </p:sp>
      <p:sp>
        <p:nvSpPr>
          <p:cNvPr id="20" name="Shape 18"/>
          <p:cNvSpPr/>
          <p:nvPr/>
        </p:nvSpPr>
        <p:spPr>
          <a:xfrm>
            <a:off x="9075420" y="2194560"/>
            <a:ext cx="1691640" cy="914400"/>
          </a:xfrm>
          <a:prstGeom prst="rect">
            <a:avLst/>
          </a:prstGeom>
          <a:solidFill>
            <a:srgbClr val="4A2070"/>
          </a:solidFill>
          <a:ln/>
          <a:effectLst>
            <a:outerShdw sx="100000" sy="100000" kx="0" ky="0" algn="bl" rotWithShape="0" blurRad="76200" dist="25400" dir="8100000">
              <a:srgbClr val="000000">
                <a:alpha val="12000"/>
              </a:srgbClr>
            </a:outerShdw>
          </a:effectLst>
        </p:spPr>
      </p:sp>
      <p:sp>
        <p:nvSpPr>
          <p:cNvPr id="21" name="Text 19"/>
          <p:cNvSpPr/>
          <p:nvPr/>
        </p:nvSpPr>
        <p:spPr>
          <a:xfrm>
            <a:off x="9075420" y="2331720"/>
            <a:ext cx="169164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Ask AI</a:t>
            </a:r>
            <a:endParaRPr lang="en-US" sz="1600" dirty="0"/>
          </a:p>
        </p:txBody>
      </p:sp>
      <p:sp>
        <p:nvSpPr>
          <p:cNvPr id="22" name="Text 20"/>
          <p:cNvSpPr/>
          <p:nvPr/>
        </p:nvSpPr>
        <p:spPr>
          <a:xfrm>
            <a:off x="9075420" y="2697480"/>
            <a:ext cx="169164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Gemini-powered Q&amp;A</a:t>
            </a:r>
            <a:endParaRPr lang="en-US" sz="1100" dirty="0"/>
          </a:p>
        </p:txBody>
      </p:sp>
      <p:sp>
        <p:nvSpPr>
          <p:cNvPr id="23" name="Shape 21"/>
          <p:cNvSpPr/>
          <p:nvPr/>
        </p:nvSpPr>
        <p:spPr>
          <a:xfrm>
            <a:off x="548640" y="4023360"/>
            <a:ext cx="11064240" cy="1554480"/>
          </a:xfrm>
          <a:prstGeom prst="rect">
            <a:avLst/>
          </a:prstGeom>
          <a:solidFill>
            <a:srgbClr val="E6DFED"/>
          </a:solidFill>
          <a:ln w="12700">
            <a:solidFill>
              <a:srgbClr val="BDA2DA"/>
            </a:solidFill>
            <a:prstDash val="solid"/>
          </a:ln>
        </p:spPr>
      </p:sp>
      <p:sp>
        <p:nvSpPr>
          <p:cNvPr id="24" name="Text 22"/>
          <p:cNvSpPr/>
          <p:nvPr/>
        </p:nvSpPr>
        <p:spPr>
          <a:xfrm>
            <a:off x="914400" y="4160520"/>
            <a:ext cx="10332720" cy="365760"/>
          </a:xfrm>
          <a:prstGeom prst="rect">
            <a:avLst/>
          </a:prstGeom>
          <a:noFill/>
          <a:ln/>
        </p:spPr>
        <p:txBody>
          <a:bodyPr wrap="square" lIns="0" tIns="0" rIns="0" bIns="0" rtlCol="0" anchor="ctr"/>
          <a:lstStyle/>
          <a:p>
            <a:pPr indent="0" marL="0">
              <a:buNone/>
            </a:pPr>
            <a:r>
              <a:rPr lang="en-US" sz="1400" b="1" spc="400" kern="0" dirty="0">
                <a:solidFill>
                  <a:srgbClr val="4A2070"/>
                </a:solidFill>
                <a:latin typeface="Calibri" pitchFamily="34" charset="0"/>
                <a:ea typeface="Calibri" pitchFamily="34" charset="-122"/>
                <a:cs typeface="Calibri" pitchFamily="34" charset="-120"/>
              </a:rPr>
              <a:t>AUDIO STAYS ON THE DEVICE</a:t>
            </a:r>
            <a:endParaRPr lang="en-US" sz="1400" dirty="0"/>
          </a:p>
        </p:txBody>
      </p:sp>
      <p:sp>
        <p:nvSpPr>
          <p:cNvPr id="25" name="Text 23"/>
          <p:cNvSpPr/>
          <p:nvPr/>
        </p:nvSpPr>
        <p:spPr>
          <a:xfrm>
            <a:off x="914400" y="4526280"/>
            <a:ext cx="10332720" cy="1005840"/>
          </a:xfrm>
          <a:prstGeom prst="rect">
            <a:avLst/>
          </a:prstGeom>
          <a:noFill/>
          <a:ln/>
        </p:spPr>
        <p:txBody>
          <a:bodyPr wrap="square" lIns="0" tIns="0" rIns="0" bIns="0" rtlCol="0" anchor="ctr"/>
          <a:lstStyle/>
          <a:p>
            <a:pPr indent="0" marL="0">
              <a:spcAft>
                <a:spcPts val="400"/>
              </a:spcAft>
              <a:buNone/>
            </a:pPr>
            <a:r>
              <a:rPr lang="en-US" sz="1400" dirty="0">
                <a:solidFill>
                  <a:srgbClr val="2A1A3A"/>
                </a:solidFill>
                <a:latin typeface="Calibri" pitchFamily="34" charset="0"/>
                <a:ea typeface="Calibri" pitchFamily="34" charset="-122"/>
                <a:cs typeface="Calibri" pitchFamily="34" charset="-120"/>
              </a:rPr>
              <a:t>We persist transcripts, summaries, and AI chat history — never the raw audio bytes. Deepgram processes the stream transiently, and the WAV file lives in the device's IndexedDB. Eliminates the largest cloud cost competitors carry, and addresses the privacy concerns that block enterprise adoption.</a:t>
            </a:r>
            <a:endParaRPr lang="en-US" sz="1400" dirty="0"/>
          </a:p>
        </p:txBody>
      </p:sp>
      <p:sp>
        <p:nvSpPr>
          <p:cNvPr id="26" name="Text 24"/>
          <p:cNvSpPr/>
          <p:nvPr/>
        </p:nvSpPr>
        <p:spPr>
          <a:xfrm>
            <a:off x="365760" y="6492240"/>
            <a:ext cx="1828800" cy="274320"/>
          </a:xfrm>
          <a:prstGeom prst="rect">
            <a:avLst/>
          </a:prstGeom>
          <a:noFill/>
          <a:ln/>
        </p:spPr>
        <p:txBody>
          <a:bodyPr wrap="square" rtlCol="0" anchor="ctr"/>
          <a:lstStyle/>
          <a:p>
            <a:pPr indent="0" marL="0">
              <a:buNone/>
            </a:pPr>
            <a:r>
              <a:rPr lang="en-US" sz="1000" b="1" dirty="0">
                <a:solidFill>
                  <a:srgbClr val="666666"/>
                </a:solidFill>
                <a:latin typeface="Calibri" pitchFamily="34" charset="0"/>
                <a:ea typeface="Calibri" pitchFamily="34" charset="-122"/>
                <a:cs typeface="Calibri" pitchFamily="34" charset="-120"/>
              </a:rPr>
              <a:t>Sheen AI</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EDF7"/>
        </a:solidFill>
      </p:bgPr>
    </p:bg>
    <p:spTree>
      <p:nvGrpSpPr>
        <p:cNvPr id="1" name=""/>
        <p:cNvGrpSpPr/>
        <p:nvPr/>
      </p:nvGrpSpPr>
      <p:grpSpPr>
        <a:xfrm>
          <a:off x="0" y="0"/>
          <a:ext cx="0" cy="0"/>
          <a:chOff x="0" y="0"/>
          <a:chExt cx="0" cy="0"/>
        </a:xfrm>
      </p:grpSpPr>
      <p:sp>
        <p:nvSpPr>
          <p:cNvPr id="2" name="Text 0"/>
          <p:cNvSpPr/>
          <p:nvPr/>
        </p:nvSpPr>
        <p:spPr>
          <a:xfrm>
            <a:off x="548640" y="502920"/>
            <a:ext cx="11064240" cy="320040"/>
          </a:xfrm>
          <a:prstGeom prst="rect">
            <a:avLst/>
          </a:prstGeom>
          <a:noFill/>
          <a:ln/>
        </p:spPr>
        <p:txBody>
          <a:bodyPr wrap="square" rtlCol="0" anchor="ctr"/>
          <a:lstStyle/>
          <a:p>
            <a:pPr indent="0" marL="0">
              <a:buNone/>
            </a:pPr>
            <a:r>
              <a:rPr lang="en-US" sz="1300" b="1" spc="400" kern="0" dirty="0">
                <a:solidFill>
                  <a:srgbClr val="8163A3"/>
                </a:solidFill>
                <a:latin typeface="Calibri" pitchFamily="34" charset="0"/>
                <a:ea typeface="Calibri" pitchFamily="34" charset="-122"/>
                <a:cs typeface="Calibri" pitchFamily="34" charset="-120"/>
              </a:rPr>
              <a:t>WHY US</a:t>
            </a:r>
            <a:endParaRPr lang="en-US" sz="1300" dirty="0"/>
          </a:p>
        </p:txBody>
      </p:sp>
      <p:sp>
        <p:nvSpPr>
          <p:cNvPr id="3" name="Text 1"/>
          <p:cNvSpPr/>
          <p:nvPr/>
        </p:nvSpPr>
        <p:spPr>
          <a:xfrm>
            <a:off x="548640" y="868680"/>
            <a:ext cx="11064240" cy="777240"/>
          </a:xfrm>
          <a:prstGeom prst="rect">
            <a:avLst/>
          </a:prstGeom>
          <a:noFill/>
          <a:ln/>
        </p:spPr>
        <p:txBody>
          <a:bodyPr wrap="square" lIns="0" tIns="0" rIns="0" bIns="0" rtlCol="0" anchor="ctr"/>
          <a:lstStyle/>
          <a:p>
            <a:pPr indent="0" marL="0">
              <a:buNone/>
            </a:pPr>
            <a:r>
              <a:rPr lang="en-US" sz="3200" b="1" dirty="0">
                <a:solidFill>
                  <a:srgbClr val="4A2070"/>
                </a:solidFill>
                <a:latin typeface="Calibri" pitchFamily="34" charset="0"/>
                <a:ea typeface="Calibri" pitchFamily="34" charset="-122"/>
                <a:cs typeface="Calibri" pitchFamily="34" charset="-120"/>
              </a:rPr>
              <a:t>Three Structural Advantages</a:t>
            </a:r>
            <a:endParaRPr lang="en-US" sz="3200" dirty="0"/>
          </a:p>
        </p:txBody>
      </p:sp>
      <p:sp>
        <p:nvSpPr>
          <p:cNvPr id="4" name="Shape 2"/>
          <p:cNvSpPr/>
          <p:nvPr/>
        </p:nvSpPr>
        <p:spPr>
          <a:xfrm>
            <a:off x="228600" y="2011680"/>
            <a:ext cx="3657600" cy="4114800"/>
          </a:xfrm>
          <a:prstGeom prst="rect">
            <a:avLst/>
          </a:prstGeom>
          <a:solidFill>
            <a:srgbClr val="FFFFFF"/>
          </a:solidFill>
          <a:ln w="12700">
            <a:solidFill>
              <a:srgbClr val="BDA2DA"/>
            </a:solidFill>
            <a:prstDash val="solid"/>
          </a:ln>
          <a:effectLst>
            <a:outerShdw sx="100000" sy="100000" kx="0" ky="0" algn="bl" rotWithShape="0" blurRad="101600" dist="25400" dir="8100000">
              <a:srgbClr val="000000">
                <a:alpha val="10000"/>
              </a:srgbClr>
            </a:outerShdw>
          </a:effectLst>
        </p:spPr>
      </p:sp>
      <p:sp>
        <p:nvSpPr>
          <p:cNvPr id="5" name="Shape 3"/>
          <p:cNvSpPr/>
          <p:nvPr/>
        </p:nvSpPr>
        <p:spPr>
          <a:xfrm>
            <a:off x="594360" y="2377440"/>
            <a:ext cx="822960" cy="822960"/>
          </a:xfrm>
          <a:prstGeom prst="ellipse">
            <a:avLst/>
          </a:prstGeom>
          <a:solidFill>
            <a:srgbClr val="4A2070"/>
          </a:solidFill>
          <a:ln/>
        </p:spPr>
      </p:sp>
      <p:sp>
        <p:nvSpPr>
          <p:cNvPr id="6" name="Text 4"/>
          <p:cNvSpPr/>
          <p:nvPr/>
        </p:nvSpPr>
        <p:spPr>
          <a:xfrm>
            <a:off x="594360" y="237744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01</a:t>
            </a:r>
            <a:endParaRPr lang="en-US" sz="2200" dirty="0"/>
          </a:p>
        </p:txBody>
      </p:sp>
      <p:sp>
        <p:nvSpPr>
          <p:cNvPr id="7" name="Text 5"/>
          <p:cNvSpPr/>
          <p:nvPr/>
        </p:nvSpPr>
        <p:spPr>
          <a:xfrm>
            <a:off x="594360" y="3383280"/>
            <a:ext cx="2926080" cy="548640"/>
          </a:xfrm>
          <a:prstGeom prst="rect">
            <a:avLst/>
          </a:prstGeom>
          <a:noFill/>
          <a:ln/>
        </p:spPr>
        <p:txBody>
          <a:bodyPr wrap="square" lIns="0" tIns="0" rIns="0" bIns="0" rtlCol="0" anchor="ctr"/>
          <a:lstStyle/>
          <a:p>
            <a:pPr indent="0" marL="0">
              <a:buNone/>
            </a:pPr>
            <a:r>
              <a:rPr lang="en-US" sz="1800" b="1" dirty="0">
                <a:solidFill>
                  <a:srgbClr val="4A2070"/>
                </a:solidFill>
                <a:latin typeface="Calibri" pitchFamily="34" charset="0"/>
                <a:ea typeface="Calibri" pitchFamily="34" charset="-122"/>
                <a:cs typeface="Calibri" pitchFamily="34" charset="-120"/>
              </a:rPr>
              <a:t>On-Device Audio</a:t>
            </a:r>
            <a:endParaRPr lang="en-US" sz="1800" dirty="0"/>
          </a:p>
        </p:txBody>
      </p:sp>
      <p:sp>
        <p:nvSpPr>
          <p:cNvPr id="8" name="Text 6"/>
          <p:cNvSpPr/>
          <p:nvPr/>
        </p:nvSpPr>
        <p:spPr>
          <a:xfrm>
            <a:off x="594360" y="4023360"/>
            <a:ext cx="2926080" cy="1920240"/>
          </a:xfrm>
          <a:prstGeom prst="rect">
            <a:avLst/>
          </a:prstGeom>
          <a:noFill/>
          <a:ln/>
        </p:spPr>
        <p:txBody>
          <a:bodyPr wrap="square" lIns="0" tIns="0" rIns="0" bIns="0" rtlCol="0" anchor="ctr"/>
          <a:lstStyle/>
          <a:p>
            <a:pPr indent="0" marL="0">
              <a:spcAft>
                <a:spcPts val="400"/>
              </a:spcAft>
              <a:buNone/>
            </a:pPr>
            <a:r>
              <a:rPr lang="en-US" sz="1300" dirty="0">
                <a:solidFill>
                  <a:srgbClr val="2A1A3A"/>
                </a:solidFill>
                <a:latin typeface="Calibri" pitchFamily="34" charset="0"/>
                <a:ea typeface="Calibri" pitchFamily="34" charset="-122"/>
                <a:cs typeface="Calibri" pitchFamily="34" charset="-120"/>
              </a:rPr>
              <a:t>IndexedDB stores the encoded WAV on the user's phone. Nothing uploads to cloud Storage. Eliminates per-user storage cost and lifts the biggest privacy objection.</a:t>
            </a:r>
            <a:endParaRPr lang="en-US" sz="1300" dirty="0"/>
          </a:p>
        </p:txBody>
      </p:sp>
      <p:sp>
        <p:nvSpPr>
          <p:cNvPr id="9" name="Shape 7"/>
          <p:cNvSpPr/>
          <p:nvPr/>
        </p:nvSpPr>
        <p:spPr>
          <a:xfrm>
            <a:off x="4251960" y="2011680"/>
            <a:ext cx="3657600" cy="4114800"/>
          </a:xfrm>
          <a:prstGeom prst="rect">
            <a:avLst/>
          </a:prstGeom>
          <a:solidFill>
            <a:srgbClr val="FFFFFF"/>
          </a:solidFill>
          <a:ln w="12700">
            <a:solidFill>
              <a:srgbClr val="BDA2DA"/>
            </a:solidFill>
            <a:prstDash val="solid"/>
          </a:ln>
          <a:effectLst>
            <a:outerShdw sx="100000" sy="100000" kx="0" ky="0" algn="bl" rotWithShape="0" blurRad="101600" dist="25400" dir="8100000">
              <a:srgbClr val="000000">
                <a:alpha val="10000"/>
              </a:srgbClr>
            </a:outerShdw>
          </a:effectLst>
        </p:spPr>
      </p:sp>
      <p:sp>
        <p:nvSpPr>
          <p:cNvPr id="10" name="Shape 8"/>
          <p:cNvSpPr/>
          <p:nvPr/>
        </p:nvSpPr>
        <p:spPr>
          <a:xfrm>
            <a:off x="4617720" y="2377440"/>
            <a:ext cx="822960" cy="822960"/>
          </a:xfrm>
          <a:prstGeom prst="ellipse">
            <a:avLst/>
          </a:prstGeom>
          <a:solidFill>
            <a:srgbClr val="4A2070"/>
          </a:solidFill>
          <a:ln/>
        </p:spPr>
      </p:sp>
      <p:sp>
        <p:nvSpPr>
          <p:cNvPr id="11" name="Text 9"/>
          <p:cNvSpPr/>
          <p:nvPr/>
        </p:nvSpPr>
        <p:spPr>
          <a:xfrm>
            <a:off x="4617720" y="237744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02</a:t>
            </a:r>
            <a:endParaRPr lang="en-US" sz="2200" dirty="0"/>
          </a:p>
        </p:txBody>
      </p:sp>
      <p:sp>
        <p:nvSpPr>
          <p:cNvPr id="12" name="Text 10"/>
          <p:cNvSpPr/>
          <p:nvPr/>
        </p:nvSpPr>
        <p:spPr>
          <a:xfrm>
            <a:off x="4617720" y="3383280"/>
            <a:ext cx="2926080" cy="548640"/>
          </a:xfrm>
          <a:prstGeom prst="rect">
            <a:avLst/>
          </a:prstGeom>
          <a:noFill/>
          <a:ln/>
        </p:spPr>
        <p:txBody>
          <a:bodyPr wrap="square" lIns="0" tIns="0" rIns="0" bIns="0" rtlCol="0" anchor="ctr"/>
          <a:lstStyle/>
          <a:p>
            <a:pPr indent="0" marL="0">
              <a:buNone/>
            </a:pPr>
            <a:r>
              <a:rPr lang="en-US" sz="1800" b="1" dirty="0">
                <a:solidFill>
                  <a:srgbClr val="4A2070"/>
                </a:solidFill>
                <a:latin typeface="Calibri" pitchFamily="34" charset="0"/>
                <a:ea typeface="Calibri" pitchFamily="34" charset="-122"/>
                <a:cs typeface="Calibri" pitchFamily="34" charset="-120"/>
              </a:rPr>
              <a:t>Live Multilingual Translation</a:t>
            </a:r>
            <a:endParaRPr lang="en-US" sz="1800" dirty="0"/>
          </a:p>
        </p:txBody>
      </p:sp>
      <p:sp>
        <p:nvSpPr>
          <p:cNvPr id="13" name="Text 11"/>
          <p:cNvSpPr/>
          <p:nvPr/>
        </p:nvSpPr>
        <p:spPr>
          <a:xfrm>
            <a:off x="4617720" y="4023360"/>
            <a:ext cx="2926080" cy="1920240"/>
          </a:xfrm>
          <a:prstGeom prst="rect">
            <a:avLst/>
          </a:prstGeom>
          <a:noFill/>
          <a:ln/>
        </p:spPr>
        <p:txBody>
          <a:bodyPr wrap="square" lIns="0" tIns="0" rIns="0" bIns="0" rtlCol="0" anchor="ctr"/>
          <a:lstStyle/>
          <a:p>
            <a:pPr indent="0" marL="0">
              <a:spcAft>
                <a:spcPts val="400"/>
              </a:spcAft>
              <a:buNone/>
            </a:pPr>
            <a:r>
              <a:rPr lang="en-US" sz="1300" dirty="0">
                <a:solidFill>
                  <a:srgbClr val="2A1A3A"/>
                </a:solidFill>
                <a:latin typeface="Calibri" pitchFamily="34" charset="0"/>
                <a:ea typeface="Calibri" pitchFamily="34" charset="-122"/>
                <a:cs typeface="Calibri" pitchFamily="34" charset="-120"/>
              </a:rPr>
              <a:t>Deepgram Nova-3 + Google Translate ships from day one. Turkish, English, Russian, Arabic, German, Spanish, more. Other tools sell translation as a separate add-on.</a:t>
            </a:r>
            <a:endParaRPr lang="en-US" sz="1300" dirty="0"/>
          </a:p>
        </p:txBody>
      </p:sp>
      <p:sp>
        <p:nvSpPr>
          <p:cNvPr id="14" name="Shape 12"/>
          <p:cNvSpPr/>
          <p:nvPr/>
        </p:nvSpPr>
        <p:spPr>
          <a:xfrm>
            <a:off x="8275320" y="2011680"/>
            <a:ext cx="3657600" cy="4114800"/>
          </a:xfrm>
          <a:prstGeom prst="rect">
            <a:avLst/>
          </a:prstGeom>
          <a:solidFill>
            <a:srgbClr val="FFFFFF"/>
          </a:solidFill>
          <a:ln w="12700">
            <a:solidFill>
              <a:srgbClr val="BDA2DA"/>
            </a:solidFill>
            <a:prstDash val="solid"/>
          </a:ln>
          <a:effectLst>
            <a:outerShdw sx="100000" sy="100000" kx="0" ky="0" algn="bl" rotWithShape="0" blurRad="101600" dist="25400" dir="8100000">
              <a:srgbClr val="000000">
                <a:alpha val="10000"/>
              </a:srgbClr>
            </a:outerShdw>
          </a:effectLst>
        </p:spPr>
      </p:sp>
      <p:sp>
        <p:nvSpPr>
          <p:cNvPr id="15" name="Shape 13"/>
          <p:cNvSpPr/>
          <p:nvPr/>
        </p:nvSpPr>
        <p:spPr>
          <a:xfrm>
            <a:off x="8641080" y="2377440"/>
            <a:ext cx="822960" cy="822960"/>
          </a:xfrm>
          <a:prstGeom prst="ellipse">
            <a:avLst/>
          </a:prstGeom>
          <a:solidFill>
            <a:srgbClr val="4A2070"/>
          </a:solidFill>
          <a:ln/>
        </p:spPr>
      </p:sp>
      <p:sp>
        <p:nvSpPr>
          <p:cNvPr id="16" name="Text 14"/>
          <p:cNvSpPr/>
          <p:nvPr/>
        </p:nvSpPr>
        <p:spPr>
          <a:xfrm>
            <a:off x="8641080" y="237744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03</a:t>
            </a:r>
            <a:endParaRPr lang="en-US" sz="2200" dirty="0"/>
          </a:p>
        </p:txBody>
      </p:sp>
      <p:sp>
        <p:nvSpPr>
          <p:cNvPr id="17" name="Text 15"/>
          <p:cNvSpPr/>
          <p:nvPr/>
        </p:nvSpPr>
        <p:spPr>
          <a:xfrm>
            <a:off x="8641080" y="3383280"/>
            <a:ext cx="2926080" cy="548640"/>
          </a:xfrm>
          <a:prstGeom prst="rect">
            <a:avLst/>
          </a:prstGeom>
          <a:noFill/>
          <a:ln/>
        </p:spPr>
        <p:txBody>
          <a:bodyPr wrap="square" lIns="0" tIns="0" rIns="0" bIns="0" rtlCol="0" anchor="ctr"/>
          <a:lstStyle/>
          <a:p>
            <a:pPr indent="0" marL="0">
              <a:buNone/>
            </a:pPr>
            <a:r>
              <a:rPr lang="en-US" sz="1800" b="1" dirty="0">
                <a:solidFill>
                  <a:srgbClr val="4A2070"/>
                </a:solidFill>
                <a:latin typeface="Calibri" pitchFamily="34" charset="0"/>
                <a:ea typeface="Calibri" pitchFamily="34" charset="-122"/>
                <a:cs typeface="Calibri" pitchFamily="34" charset="-120"/>
              </a:rPr>
              <a:t>~12× Cheaper AI Stack</a:t>
            </a:r>
            <a:endParaRPr lang="en-US" sz="1800" dirty="0"/>
          </a:p>
        </p:txBody>
      </p:sp>
      <p:sp>
        <p:nvSpPr>
          <p:cNvPr id="18" name="Text 16"/>
          <p:cNvSpPr/>
          <p:nvPr/>
        </p:nvSpPr>
        <p:spPr>
          <a:xfrm>
            <a:off x="8641080" y="4023360"/>
            <a:ext cx="2926080" cy="1920240"/>
          </a:xfrm>
          <a:prstGeom prst="rect">
            <a:avLst/>
          </a:prstGeom>
          <a:noFill/>
          <a:ln/>
        </p:spPr>
        <p:txBody>
          <a:bodyPr wrap="square" lIns="0" tIns="0" rIns="0" bIns="0" rtlCol="0" anchor="ctr"/>
          <a:lstStyle/>
          <a:p>
            <a:pPr indent="0" marL="0">
              <a:spcAft>
                <a:spcPts val="400"/>
              </a:spcAft>
              <a:buNone/>
            </a:pPr>
            <a:r>
              <a:rPr lang="en-US" sz="1300" dirty="0">
                <a:solidFill>
                  <a:srgbClr val="2A1A3A"/>
                </a:solidFill>
                <a:latin typeface="Calibri" pitchFamily="34" charset="0"/>
                <a:ea typeface="Calibri" pitchFamily="34" charset="-122"/>
                <a:cs typeface="Calibri" pitchFamily="34" charset="-120"/>
              </a:rPr>
              <a:t>Gemini 2.5 Flash + Pro routing replaced the Anthropic stack our peers run. Same answer quality at a fraction of the cost — savings flow into margin or into more generous quotas.</a:t>
            </a:r>
            <a:endParaRPr lang="en-US" sz="1300" dirty="0"/>
          </a:p>
        </p:txBody>
      </p:sp>
      <p:sp>
        <p:nvSpPr>
          <p:cNvPr id="19" name="Text 17"/>
          <p:cNvSpPr/>
          <p:nvPr/>
        </p:nvSpPr>
        <p:spPr>
          <a:xfrm>
            <a:off x="365760" y="6492240"/>
            <a:ext cx="1828800" cy="274320"/>
          </a:xfrm>
          <a:prstGeom prst="rect">
            <a:avLst/>
          </a:prstGeom>
          <a:noFill/>
          <a:ln/>
        </p:spPr>
        <p:txBody>
          <a:bodyPr wrap="square" rtlCol="0" anchor="ctr"/>
          <a:lstStyle/>
          <a:p>
            <a:pPr indent="0" marL="0">
              <a:buNone/>
            </a:pPr>
            <a:r>
              <a:rPr lang="en-US" sz="1000" b="1" dirty="0">
                <a:solidFill>
                  <a:srgbClr val="666666"/>
                </a:solidFill>
                <a:latin typeface="Calibri" pitchFamily="34" charset="0"/>
                <a:ea typeface="Calibri" pitchFamily="34" charset="-122"/>
                <a:cs typeface="Calibri" pitchFamily="34" charset="-120"/>
              </a:rPr>
              <a:t>Sheen AI</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64240" cy="320040"/>
          </a:xfrm>
          <a:prstGeom prst="rect">
            <a:avLst/>
          </a:prstGeom>
          <a:noFill/>
          <a:ln/>
        </p:spPr>
        <p:txBody>
          <a:bodyPr wrap="square" rtlCol="0" anchor="ctr"/>
          <a:lstStyle/>
          <a:p>
            <a:pPr indent="0" marL="0">
              <a:buNone/>
            </a:pPr>
            <a:r>
              <a:rPr lang="en-US" sz="1300" b="1" spc="400" kern="0" dirty="0">
                <a:solidFill>
                  <a:srgbClr val="8163A3"/>
                </a:solidFill>
                <a:latin typeface="Calibri" pitchFamily="34" charset="0"/>
                <a:ea typeface="Calibri" pitchFamily="34" charset="-122"/>
                <a:cs typeface="Calibri" pitchFamily="34" charset="-120"/>
              </a:rPr>
              <a:t>TARGET AUDIENCE</a:t>
            </a:r>
            <a:endParaRPr lang="en-US" sz="1300" dirty="0"/>
          </a:p>
        </p:txBody>
      </p:sp>
      <p:sp>
        <p:nvSpPr>
          <p:cNvPr id="3" name="Text 1"/>
          <p:cNvSpPr/>
          <p:nvPr/>
        </p:nvSpPr>
        <p:spPr>
          <a:xfrm>
            <a:off x="548640" y="868680"/>
            <a:ext cx="11064240" cy="777240"/>
          </a:xfrm>
          <a:prstGeom prst="rect">
            <a:avLst/>
          </a:prstGeom>
          <a:noFill/>
          <a:ln/>
        </p:spPr>
        <p:txBody>
          <a:bodyPr wrap="square" lIns="0" tIns="0" rIns="0" bIns="0" rtlCol="0" anchor="ctr"/>
          <a:lstStyle/>
          <a:p>
            <a:pPr indent="0" marL="0">
              <a:buNone/>
            </a:pPr>
            <a:r>
              <a:rPr lang="en-US" sz="3200" b="1" dirty="0">
                <a:solidFill>
                  <a:srgbClr val="4A2070"/>
                </a:solidFill>
                <a:latin typeface="Calibri" pitchFamily="34" charset="0"/>
                <a:ea typeface="Calibri" pitchFamily="34" charset="-122"/>
                <a:cs typeface="Calibri" pitchFamily="34" charset="-120"/>
              </a:rPr>
              <a:t>Who We Build For</a:t>
            </a:r>
            <a:endParaRPr lang="en-US" sz="3200" dirty="0"/>
          </a:p>
        </p:txBody>
      </p:sp>
      <p:sp>
        <p:nvSpPr>
          <p:cNvPr id="4" name="Shape 2"/>
          <p:cNvSpPr/>
          <p:nvPr/>
        </p:nvSpPr>
        <p:spPr>
          <a:xfrm>
            <a:off x="457200" y="1828800"/>
            <a:ext cx="3566160" cy="2194560"/>
          </a:xfrm>
          <a:prstGeom prst="rect">
            <a:avLst/>
          </a:prstGeom>
          <a:solidFill>
            <a:srgbClr val="FFFFFF"/>
          </a:solidFill>
          <a:ln w="12700">
            <a:solidFill>
              <a:srgbClr val="BDA2DA"/>
            </a:solidFill>
            <a:prstDash val="solid"/>
          </a:ln>
        </p:spPr>
      </p:sp>
      <p:sp>
        <p:nvSpPr>
          <p:cNvPr id="5" name="Shape 3"/>
          <p:cNvSpPr/>
          <p:nvPr/>
        </p:nvSpPr>
        <p:spPr>
          <a:xfrm>
            <a:off x="457200" y="1828800"/>
            <a:ext cx="109728" cy="2194560"/>
          </a:xfrm>
          <a:prstGeom prst="rect">
            <a:avLst/>
          </a:prstGeom>
          <a:solidFill>
            <a:srgbClr val="4A2070"/>
          </a:solidFill>
          <a:ln/>
        </p:spPr>
      </p:sp>
      <p:sp>
        <p:nvSpPr>
          <p:cNvPr id="6" name="Text 4"/>
          <p:cNvSpPr/>
          <p:nvPr/>
        </p:nvSpPr>
        <p:spPr>
          <a:xfrm>
            <a:off x="731520" y="2057400"/>
            <a:ext cx="3017520" cy="411480"/>
          </a:xfrm>
          <a:prstGeom prst="rect">
            <a:avLst/>
          </a:prstGeom>
          <a:noFill/>
          <a:ln/>
        </p:spPr>
        <p:txBody>
          <a:bodyPr wrap="square" lIns="0" tIns="0" rIns="0" bIns="0" rtlCol="0" anchor="ctr"/>
          <a:lstStyle/>
          <a:p>
            <a:pPr indent="0" marL="0">
              <a:buNone/>
            </a:pPr>
            <a:r>
              <a:rPr lang="en-US" sz="1600" b="1" dirty="0">
                <a:solidFill>
                  <a:srgbClr val="4A2070"/>
                </a:solidFill>
                <a:latin typeface="Calibri" pitchFamily="34" charset="0"/>
                <a:ea typeface="Calibri" pitchFamily="34" charset="-122"/>
                <a:cs typeface="Calibri" pitchFamily="34" charset="-120"/>
              </a:rPr>
              <a:t>Independent professionals</a:t>
            </a:r>
            <a:endParaRPr lang="en-US" sz="1600" dirty="0"/>
          </a:p>
        </p:txBody>
      </p:sp>
      <p:sp>
        <p:nvSpPr>
          <p:cNvPr id="7" name="Text 5"/>
          <p:cNvSpPr/>
          <p:nvPr/>
        </p:nvSpPr>
        <p:spPr>
          <a:xfrm>
            <a:off x="731520" y="2514600"/>
            <a:ext cx="3017520" cy="1325880"/>
          </a:xfrm>
          <a:prstGeom prst="rect">
            <a:avLst/>
          </a:prstGeom>
          <a:noFill/>
          <a:ln/>
        </p:spPr>
        <p:txBody>
          <a:bodyPr wrap="square" lIns="0" tIns="0" rIns="0" bIns="0" rtlCol="0" anchor="t"/>
          <a:lstStyle/>
          <a:p>
            <a:pPr indent="0" marL="0">
              <a:spcAft>
                <a:spcPts val="400"/>
              </a:spcAft>
              <a:buNone/>
            </a:pPr>
            <a:r>
              <a:rPr lang="en-US" sz="1200" dirty="0">
                <a:solidFill>
                  <a:srgbClr val="2A1A3A"/>
                </a:solidFill>
                <a:latin typeface="Calibri" pitchFamily="34" charset="0"/>
                <a:ea typeface="Calibri" pitchFamily="34" charset="-122"/>
                <a:cs typeface="Calibri" pitchFamily="34" charset="-120"/>
              </a:rPr>
              <a:t>Lawyers, consultants, therapists running back-to-back client calls. Privacy posture matters.</a:t>
            </a:r>
            <a:endParaRPr lang="en-US" sz="1200" dirty="0"/>
          </a:p>
        </p:txBody>
      </p:sp>
      <p:sp>
        <p:nvSpPr>
          <p:cNvPr id="8" name="Shape 6"/>
          <p:cNvSpPr/>
          <p:nvPr/>
        </p:nvSpPr>
        <p:spPr>
          <a:xfrm>
            <a:off x="4297680" y="1828800"/>
            <a:ext cx="3566160" cy="2194560"/>
          </a:xfrm>
          <a:prstGeom prst="rect">
            <a:avLst/>
          </a:prstGeom>
          <a:solidFill>
            <a:srgbClr val="FFFFFF"/>
          </a:solidFill>
          <a:ln w="12700">
            <a:solidFill>
              <a:srgbClr val="BDA2DA"/>
            </a:solidFill>
            <a:prstDash val="solid"/>
          </a:ln>
        </p:spPr>
      </p:sp>
      <p:sp>
        <p:nvSpPr>
          <p:cNvPr id="9" name="Shape 7"/>
          <p:cNvSpPr/>
          <p:nvPr/>
        </p:nvSpPr>
        <p:spPr>
          <a:xfrm>
            <a:off x="4297680" y="1828800"/>
            <a:ext cx="109728" cy="2194560"/>
          </a:xfrm>
          <a:prstGeom prst="rect">
            <a:avLst/>
          </a:prstGeom>
          <a:solidFill>
            <a:srgbClr val="4A2070"/>
          </a:solidFill>
          <a:ln/>
        </p:spPr>
      </p:sp>
      <p:sp>
        <p:nvSpPr>
          <p:cNvPr id="10" name="Text 8"/>
          <p:cNvSpPr/>
          <p:nvPr/>
        </p:nvSpPr>
        <p:spPr>
          <a:xfrm>
            <a:off x="4572000" y="2057400"/>
            <a:ext cx="3017520" cy="411480"/>
          </a:xfrm>
          <a:prstGeom prst="rect">
            <a:avLst/>
          </a:prstGeom>
          <a:noFill/>
          <a:ln/>
        </p:spPr>
        <p:txBody>
          <a:bodyPr wrap="square" lIns="0" tIns="0" rIns="0" bIns="0" rtlCol="0" anchor="ctr"/>
          <a:lstStyle/>
          <a:p>
            <a:pPr indent="0" marL="0">
              <a:buNone/>
            </a:pPr>
            <a:r>
              <a:rPr lang="en-US" sz="1600" b="1" dirty="0">
                <a:solidFill>
                  <a:srgbClr val="4A2070"/>
                </a:solidFill>
                <a:latin typeface="Calibri" pitchFamily="34" charset="0"/>
                <a:ea typeface="Calibri" pitchFamily="34" charset="-122"/>
                <a:cs typeface="Calibri" pitchFamily="34" charset="-120"/>
              </a:rPr>
              <a:t>University students</a:t>
            </a:r>
            <a:endParaRPr lang="en-US" sz="1600" dirty="0"/>
          </a:p>
        </p:txBody>
      </p:sp>
      <p:sp>
        <p:nvSpPr>
          <p:cNvPr id="11" name="Text 9"/>
          <p:cNvSpPr/>
          <p:nvPr/>
        </p:nvSpPr>
        <p:spPr>
          <a:xfrm>
            <a:off x="4572000" y="2514600"/>
            <a:ext cx="3017520" cy="1325880"/>
          </a:xfrm>
          <a:prstGeom prst="rect">
            <a:avLst/>
          </a:prstGeom>
          <a:noFill/>
          <a:ln/>
        </p:spPr>
        <p:txBody>
          <a:bodyPr wrap="square" lIns="0" tIns="0" rIns="0" bIns="0" rtlCol="0" anchor="t"/>
          <a:lstStyle/>
          <a:p>
            <a:pPr indent="0" marL="0">
              <a:spcAft>
                <a:spcPts val="400"/>
              </a:spcAft>
              <a:buNone/>
            </a:pPr>
            <a:r>
              <a:rPr lang="en-US" sz="1200" dirty="0">
                <a:solidFill>
                  <a:srgbClr val="2A1A3A"/>
                </a:solidFill>
                <a:latin typeface="Calibri" pitchFamily="34" charset="0"/>
                <a:ea typeface="Calibri" pitchFamily="34" charset="-122"/>
                <a:cs typeface="Calibri" pitchFamily="34" charset="-120"/>
              </a:rPr>
              <a:t>Recording lectures and seminars; English-language content for non-English speakers.</a:t>
            </a:r>
            <a:endParaRPr lang="en-US" sz="1200" dirty="0"/>
          </a:p>
        </p:txBody>
      </p:sp>
      <p:sp>
        <p:nvSpPr>
          <p:cNvPr id="12" name="Shape 10"/>
          <p:cNvSpPr/>
          <p:nvPr/>
        </p:nvSpPr>
        <p:spPr>
          <a:xfrm>
            <a:off x="8138160" y="1828800"/>
            <a:ext cx="3566160" cy="2194560"/>
          </a:xfrm>
          <a:prstGeom prst="rect">
            <a:avLst/>
          </a:prstGeom>
          <a:solidFill>
            <a:srgbClr val="FFFFFF"/>
          </a:solidFill>
          <a:ln w="12700">
            <a:solidFill>
              <a:srgbClr val="BDA2DA"/>
            </a:solidFill>
            <a:prstDash val="solid"/>
          </a:ln>
        </p:spPr>
      </p:sp>
      <p:sp>
        <p:nvSpPr>
          <p:cNvPr id="13" name="Shape 11"/>
          <p:cNvSpPr/>
          <p:nvPr/>
        </p:nvSpPr>
        <p:spPr>
          <a:xfrm>
            <a:off x="8138160" y="1828800"/>
            <a:ext cx="109728" cy="2194560"/>
          </a:xfrm>
          <a:prstGeom prst="rect">
            <a:avLst/>
          </a:prstGeom>
          <a:solidFill>
            <a:srgbClr val="4A2070"/>
          </a:solidFill>
          <a:ln/>
        </p:spPr>
      </p:sp>
      <p:sp>
        <p:nvSpPr>
          <p:cNvPr id="14" name="Text 12"/>
          <p:cNvSpPr/>
          <p:nvPr/>
        </p:nvSpPr>
        <p:spPr>
          <a:xfrm>
            <a:off x="8412480" y="2057400"/>
            <a:ext cx="3017520" cy="411480"/>
          </a:xfrm>
          <a:prstGeom prst="rect">
            <a:avLst/>
          </a:prstGeom>
          <a:noFill/>
          <a:ln/>
        </p:spPr>
        <p:txBody>
          <a:bodyPr wrap="square" lIns="0" tIns="0" rIns="0" bIns="0" rtlCol="0" anchor="ctr"/>
          <a:lstStyle/>
          <a:p>
            <a:pPr indent="0" marL="0">
              <a:buNone/>
            </a:pPr>
            <a:r>
              <a:rPr lang="en-US" sz="1600" b="1" dirty="0">
                <a:solidFill>
                  <a:srgbClr val="4A2070"/>
                </a:solidFill>
                <a:latin typeface="Calibri" pitchFamily="34" charset="0"/>
                <a:ea typeface="Calibri" pitchFamily="34" charset="-122"/>
                <a:cs typeface="Calibri" pitchFamily="34" charset="-120"/>
              </a:rPr>
              <a:t>Multilingual remote teams</a:t>
            </a:r>
            <a:endParaRPr lang="en-US" sz="1600" dirty="0"/>
          </a:p>
        </p:txBody>
      </p:sp>
      <p:sp>
        <p:nvSpPr>
          <p:cNvPr id="15" name="Text 13"/>
          <p:cNvSpPr/>
          <p:nvPr/>
        </p:nvSpPr>
        <p:spPr>
          <a:xfrm>
            <a:off x="8412480" y="2514600"/>
            <a:ext cx="3017520" cy="1325880"/>
          </a:xfrm>
          <a:prstGeom prst="rect">
            <a:avLst/>
          </a:prstGeom>
          <a:noFill/>
          <a:ln/>
        </p:spPr>
        <p:txBody>
          <a:bodyPr wrap="square" lIns="0" tIns="0" rIns="0" bIns="0" rtlCol="0" anchor="t"/>
          <a:lstStyle/>
          <a:p>
            <a:pPr indent="0" marL="0">
              <a:spcAft>
                <a:spcPts val="400"/>
              </a:spcAft>
              <a:buNone/>
            </a:pPr>
            <a:r>
              <a:rPr lang="en-US" sz="1200" dirty="0">
                <a:solidFill>
                  <a:srgbClr val="2A1A3A"/>
                </a:solidFill>
                <a:latin typeface="Calibri" pitchFamily="34" charset="0"/>
                <a:ea typeface="Calibri" pitchFamily="34" charset="-122"/>
                <a:cs typeface="Calibri" pitchFamily="34" charset="-120"/>
              </a:rPr>
              <a:t>TR/EN/RU/AR/DE/ES meetings. Built-in translation removes a separate vendor.</a:t>
            </a:r>
            <a:endParaRPr lang="en-US" sz="1200" dirty="0"/>
          </a:p>
        </p:txBody>
      </p:sp>
      <p:sp>
        <p:nvSpPr>
          <p:cNvPr id="16" name="Shape 14"/>
          <p:cNvSpPr/>
          <p:nvPr/>
        </p:nvSpPr>
        <p:spPr>
          <a:xfrm>
            <a:off x="2377440" y="4297680"/>
            <a:ext cx="3566160" cy="2194560"/>
          </a:xfrm>
          <a:prstGeom prst="rect">
            <a:avLst/>
          </a:prstGeom>
          <a:solidFill>
            <a:srgbClr val="FFFFFF"/>
          </a:solidFill>
          <a:ln w="12700">
            <a:solidFill>
              <a:srgbClr val="BDA2DA"/>
            </a:solidFill>
            <a:prstDash val="solid"/>
          </a:ln>
        </p:spPr>
      </p:sp>
      <p:sp>
        <p:nvSpPr>
          <p:cNvPr id="17" name="Shape 15"/>
          <p:cNvSpPr/>
          <p:nvPr/>
        </p:nvSpPr>
        <p:spPr>
          <a:xfrm>
            <a:off x="2377440" y="4297680"/>
            <a:ext cx="109728" cy="2194560"/>
          </a:xfrm>
          <a:prstGeom prst="rect">
            <a:avLst/>
          </a:prstGeom>
          <a:solidFill>
            <a:srgbClr val="8163A3"/>
          </a:solidFill>
          <a:ln/>
        </p:spPr>
      </p:sp>
      <p:sp>
        <p:nvSpPr>
          <p:cNvPr id="18" name="Text 16"/>
          <p:cNvSpPr/>
          <p:nvPr/>
        </p:nvSpPr>
        <p:spPr>
          <a:xfrm>
            <a:off x="2651760" y="4526280"/>
            <a:ext cx="3017520" cy="411480"/>
          </a:xfrm>
          <a:prstGeom prst="rect">
            <a:avLst/>
          </a:prstGeom>
          <a:noFill/>
          <a:ln/>
        </p:spPr>
        <p:txBody>
          <a:bodyPr wrap="square" lIns="0" tIns="0" rIns="0" bIns="0" rtlCol="0" anchor="ctr"/>
          <a:lstStyle/>
          <a:p>
            <a:pPr indent="0" marL="0">
              <a:buNone/>
            </a:pPr>
            <a:r>
              <a:rPr lang="en-US" sz="1600" b="1" dirty="0">
                <a:solidFill>
                  <a:srgbClr val="4A2070"/>
                </a:solidFill>
                <a:latin typeface="Calibri" pitchFamily="34" charset="0"/>
                <a:ea typeface="Calibri" pitchFamily="34" charset="-122"/>
                <a:cs typeface="Calibri" pitchFamily="34" charset="-120"/>
              </a:rPr>
              <a:t>Journalists &amp; researchers</a:t>
            </a:r>
            <a:endParaRPr lang="en-US" sz="1600" dirty="0"/>
          </a:p>
        </p:txBody>
      </p:sp>
      <p:sp>
        <p:nvSpPr>
          <p:cNvPr id="19" name="Text 17"/>
          <p:cNvSpPr/>
          <p:nvPr/>
        </p:nvSpPr>
        <p:spPr>
          <a:xfrm>
            <a:off x="2651760" y="4983480"/>
            <a:ext cx="3017520" cy="1325880"/>
          </a:xfrm>
          <a:prstGeom prst="rect">
            <a:avLst/>
          </a:prstGeom>
          <a:noFill/>
          <a:ln/>
        </p:spPr>
        <p:txBody>
          <a:bodyPr wrap="square" lIns="0" tIns="0" rIns="0" bIns="0" rtlCol="0" anchor="t"/>
          <a:lstStyle/>
          <a:p>
            <a:pPr indent="0" marL="0">
              <a:spcAft>
                <a:spcPts val="400"/>
              </a:spcAft>
              <a:buNone/>
            </a:pPr>
            <a:r>
              <a:rPr lang="en-US" sz="1200" dirty="0">
                <a:solidFill>
                  <a:srgbClr val="2A1A3A"/>
                </a:solidFill>
                <a:latin typeface="Calibri" pitchFamily="34" charset="0"/>
                <a:ea typeface="Calibri" pitchFamily="34" charset="-122"/>
                <a:cs typeface="Calibri" pitchFamily="34" charset="-120"/>
              </a:rPr>
              <a:t>Interview transcripts, AI Q&amp;A on long-form recordings, source-grounded answers.</a:t>
            </a:r>
            <a:endParaRPr lang="en-US" sz="1200" dirty="0"/>
          </a:p>
        </p:txBody>
      </p:sp>
      <p:sp>
        <p:nvSpPr>
          <p:cNvPr id="20" name="Shape 18"/>
          <p:cNvSpPr/>
          <p:nvPr/>
        </p:nvSpPr>
        <p:spPr>
          <a:xfrm>
            <a:off x="6217920" y="4297680"/>
            <a:ext cx="3566160" cy="2194560"/>
          </a:xfrm>
          <a:prstGeom prst="rect">
            <a:avLst/>
          </a:prstGeom>
          <a:solidFill>
            <a:srgbClr val="FFFFFF"/>
          </a:solidFill>
          <a:ln w="12700">
            <a:solidFill>
              <a:srgbClr val="BDA2DA"/>
            </a:solidFill>
            <a:prstDash val="solid"/>
          </a:ln>
        </p:spPr>
      </p:sp>
      <p:sp>
        <p:nvSpPr>
          <p:cNvPr id="21" name="Shape 19"/>
          <p:cNvSpPr/>
          <p:nvPr/>
        </p:nvSpPr>
        <p:spPr>
          <a:xfrm>
            <a:off x="6217920" y="4297680"/>
            <a:ext cx="109728" cy="2194560"/>
          </a:xfrm>
          <a:prstGeom prst="rect">
            <a:avLst/>
          </a:prstGeom>
          <a:solidFill>
            <a:srgbClr val="8163A3"/>
          </a:solidFill>
          <a:ln/>
        </p:spPr>
      </p:sp>
      <p:sp>
        <p:nvSpPr>
          <p:cNvPr id="22" name="Text 20"/>
          <p:cNvSpPr/>
          <p:nvPr/>
        </p:nvSpPr>
        <p:spPr>
          <a:xfrm>
            <a:off x="6492240" y="4526280"/>
            <a:ext cx="3017520" cy="411480"/>
          </a:xfrm>
          <a:prstGeom prst="rect">
            <a:avLst/>
          </a:prstGeom>
          <a:noFill/>
          <a:ln/>
        </p:spPr>
        <p:txBody>
          <a:bodyPr wrap="square" lIns="0" tIns="0" rIns="0" bIns="0" rtlCol="0" anchor="ctr"/>
          <a:lstStyle/>
          <a:p>
            <a:pPr indent="0" marL="0">
              <a:buNone/>
            </a:pPr>
            <a:r>
              <a:rPr lang="en-US" sz="1600" b="1" dirty="0">
                <a:solidFill>
                  <a:srgbClr val="4A2070"/>
                </a:solidFill>
                <a:latin typeface="Calibri" pitchFamily="34" charset="0"/>
                <a:ea typeface="Calibri" pitchFamily="34" charset="-122"/>
                <a:cs typeface="Calibri" pitchFamily="34" charset="-120"/>
              </a:rPr>
              <a:t>Small businesses (3-20)</a:t>
            </a:r>
            <a:endParaRPr lang="en-US" sz="1600" dirty="0"/>
          </a:p>
        </p:txBody>
      </p:sp>
      <p:sp>
        <p:nvSpPr>
          <p:cNvPr id="23" name="Text 21"/>
          <p:cNvSpPr/>
          <p:nvPr/>
        </p:nvSpPr>
        <p:spPr>
          <a:xfrm>
            <a:off x="6492240" y="4983480"/>
            <a:ext cx="3017520" cy="1325880"/>
          </a:xfrm>
          <a:prstGeom prst="rect">
            <a:avLst/>
          </a:prstGeom>
          <a:noFill/>
          <a:ln/>
        </p:spPr>
        <p:txBody>
          <a:bodyPr wrap="square" lIns="0" tIns="0" rIns="0" bIns="0" rtlCol="0" anchor="t"/>
          <a:lstStyle/>
          <a:p>
            <a:pPr indent="0" marL="0">
              <a:spcAft>
                <a:spcPts val="400"/>
              </a:spcAft>
              <a:buNone/>
            </a:pPr>
            <a:r>
              <a:rPr lang="en-US" sz="1200" dirty="0">
                <a:solidFill>
                  <a:srgbClr val="2A1A3A"/>
                </a:solidFill>
                <a:latin typeface="Calibri" pitchFamily="34" charset="0"/>
                <a:ea typeface="Calibri" pitchFamily="34" charset="-122"/>
                <a:cs typeface="Calibri" pitchFamily="34" charset="-120"/>
              </a:rPr>
              <a:t>Stand-ups and kickoffs. Affordable subscription tier replaces ad-hoc note-taking.</a:t>
            </a:r>
            <a:endParaRPr lang="en-US" sz="1200" dirty="0"/>
          </a:p>
        </p:txBody>
      </p:sp>
      <p:sp>
        <p:nvSpPr>
          <p:cNvPr id="24" name="Text 22"/>
          <p:cNvSpPr/>
          <p:nvPr/>
        </p:nvSpPr>
        <p:spPr>
          <a:xfrm>
            <a:off x="365760" y="6492240"/>
            <a:ext cx="1828800" cy="274320"/>
          </a:xfrm>
          <a:prstGeom prst="rect">
            <a:avLst/>
          </a:prstGeom>
          <a:noFill/>
          <a:ln/>
        </p:spPr>
        <p:txBody>
          <a:bodyPr wrap="square" rtlCol="0" anchor="ctr"/>
          <a:lstStyle/>
          <a:p>
            <a:pPr indent="0" marL="0">
              <a:buNone/>
            </a:pPr>
            <a:r>
              <a:rPr lang="en-US" sz="1000" b="1" dirty="0">
                <a:solidFill>
                  <a:srgbClr val="666666"/>
                </a:solidFill>
                <a:latin typeface="Calibri" pitchFamily="34" charset="0"/>
                <a:ea typeface="Calibri" pitchFamily="34" charset="-122"/>
                <a:cs typeface="Calibri" pitchFamily="34" charset="-120"/>
              </a:rPr>
              <a:t>Sheen AI</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4A2070"/>
        </a:solidFill>
      </p:bgPr>
    </p:bg>
    <p:spTree>
      <p:nvGrpSpPr>
        <p:cNvPr id="1" name=""/>
        <p:cNvGrpSpPr/>
        <p:nvPr/>
      </p:nvGrpSpPr>
      <p:grpSpPr>
        <a:xfrm>
          <a:off x="0" y="0"/>
          <a:ext cx="0" cy="0"/>
          <a:chOff x="0" y="0"/>
          <a:chExt cx="0" cy="0"/>
        </a:xfrm>
      </p:grpSpPr>
      <p:sp>
        <p:nvSpPr>
          <p:cNvPr id="2" name="Shape 0"/>
          <p:cNvSpPr/>
          <p:nvPr/>
        </p:nvSpPr>
        <p:spPr>
          <a:xfrm>
            <a:off x="11996928" y="0"/>
            <a:ext cx="164592" cy="6858000"/>
          </a:xfrm>
          <a:prstGeom prst="rect">
            <a:avLst/>
          </a:prstGeom>
          <a:solidFill>
            <a:srgbClr val="BDA2DA"/>
          </a:solidFill>
          <a:ln/>
        </p:spPr>
      </p:sp>
      <p:sp>
        <p:nvSpPr>
          <p:cNvPr id="3" name="Text 1"/>
          <p:cNvSpPr/>
          <p:nvPr/>
        </p:nvSpPr>
        <p:spPr>
          <a:xfrm>
            <a:off x="914400" y="2560320"/>
            <a:ext cx="10332720" cy="457200"/>
          </a:xfrm>
          <a:prstGeom prst="rect">
            <a:avLst/>
          </a:prstGeom>
          <a:noFill/>
          <a:ln/>
        </p:spPr>
        <p:txBody>
          <a:bodyPr wrap="square" lIns="0" tIns="0" rIns="0" bIns="0" rtlCol="0" anchor="ctr"/>
          <a:lstStyle/>
          <a:p>
            <a:pPr algn="ctr" indent="0" marL="0">
              <a:buNone/>
            </a:pPr>
            <a:r>
              <a:rPr lang="en-US" sz="1800" b="1" spc="600" kern="0" dirty="0">
                <a:solidFill>
                  <a:srgbClr val="BDA2DA"/>
                </a:solidFill>
                <a:latin typeface="Calibri" pitchFamily="34" charset="0"/>
                <a:ea typeface="Calibri" pitchFamily="34" charset="-122"/>
                <a:cs typeface="Calibri" pitchFamily="34" charset="-120"/>
              </a:rPr>
              <a:t>SECTION 01</a:t>
            </a:r>
            <a:endParaRPr lang="en-US" sz="1800" dirty="0"/>
          </a:p>
        </p:txBody>
      </p:sp>
      <p:sp>
        <p:nvSpPr>
          <p:cNvPr id="4" name="Text 2"/>
          <p:cNvSpPr/>
          <p:nvPr/>
        </p:nvSpPr>
        <p:spPr>
          <a:xfrm>
            <a:off x="914400" y="3108960"/>
            <a:ext cx="10332720" cy="1280160"/>
          </a:xfrm>
          <a:prstGeom prst="rect">
            <a:avLst/>
          </a:prstGeom>
          <a:noFill/>
          <a:ln/>
        </p:spPr>
        <p:txBody>
          <a:bodyPr wrap="square" lIns="0" tIns="0" rIns="0" bIns="0" rtlCol="0" anchor="ctr"/>
          <a:lstStyle/>
          <a:p>
            <a:pPr algn="ctr" indent="0" marL="0">
              <a:buNone/>
            </a:pPr>
            <a:r>
              <a:rPr lang="en-US" sz="6400" b="1" dirty="0">
                <a:solidFill>
                  <a:srgbClr val="FFFFFF"/>
                </a:solidFill>
                <a:latin typeface="Calibri" pitchFamily="34" charset="0"/>
                <a:ea typeface="Calibri" pitchFamily="34" charset="-122"/>
                <a:cs typeface="Calibri" pitchFamily="34" charset="-120"/>
              </a:rPr>
              <a:t>Technology</a:t>
            </a:r>
            <a:endParaRPr lang="en-US" sz="6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64240" cy="320040"/>
          </a:xfrm>
          <a:prstGeom prst="rect">
            <a:avLst/>
          </a:prstGeom>
          <a:noFill/>
          <a:ln/>
        </p:spPr>
        <p:txBody>
          <a:bodyPr wrap="square" rtlCol="0" anchor="ctr"/>
          <a:lstStyle/>
          <a:p>
            <a:pPr indent="0" marL="0">
              <a:buNone/>
            </a:pPr>
            <a:r>
              <a:rPr lang="en-US" sz="1300" b="1" spc="400" kern="0" dirty="0">
                <a:solidFill>
                  <a:srgbClr val="8163A3"/>
                </a:solidFill>
                <a:latin typeface="Calibri" pitchFamily="34" charset="0"/>
                <a:ea typeface="Calibri" pitchFamily="34" charset="-122"/>
                <a:cs typeface="Calibri" pitchFamily="34" charset="-120"/>
              </a:rPr>
              <a:t>TECHNICAL ARCHITECTURE</a:t>
            </a:r>
            <a:endParaRPr lang="en-US" sz="1300" dirty="0"/>
          </a:p>
        </p:txBody>
      </p:sp>
      <p:sp>
        <p:nvSpPr>
          <p:cNvPr id="3" name="Text 1"/>
          <p:cNvSpPr/>
          <p:nvPr/>
        </p:nvSpPr>
        <p:spPr>
          <a:xfrm>
            <a:off x="548640" y="868680"/>
            <a:ext cx="11064240" cy="777240"/>
          </a:xfrm>
          <a:prstGeom prst="rect">
            <a:avLst/>
          </a:prstGeom>
          <a:noFill/>
          <a:ln/>
        </p:spPr>
        <p:txBody>
          <a:bodyPr wrap="square" lIns="0" tIns="0" rIns="0" bIns="0" rtlCol="0" anchor="ctr"/>
          <a:lstStyle/>
          <a:p>
            <a:pPr indent="0" marL="0">
              <a:buNone/>
            </a:pPr>
            <a:r>
              <a:rPr lang="en-US" sz="3200" b="1" dirty="0">
                <a:solidFill>
                  <a:srgbClr val="4A2070"/>
                </a:solidFill>
                <a:latin typeface="Calibri" pitchFamily="34" charset="0"/>
                <a:ea typeface="Calibri" pitchFamily="34" charset="-122"/>
                <a:cs typeface="Calibri" pitchFamily="34" charset="-120"/>
              </a:rPr>
              <a:t>Seven Layers, One Codebase</a:t>
            </a:r>
            <a:endParaRPr lang="en-US" sz="3200" dirty="0"/>
          </a:p>
        </p:txBody>
      </p:sp>
      <p:sp>
        <p:nvSpPr>
          <p:cNvPr id="4" name="Shape 2"/>
          <p:cNvSpPr/>
          <p:nvPr/>
        </p:nvSpPr>
        <p:spPr>
          <a:xfrm>
            <a:off x="548640" y="1783080"/>
            <a:ext cx="502920" cy="502920"/>
          </a:xfrm>
          <a:prstGeom prst="rect">
            <a:avLst/>
          </a:prstGeom>
          <a:solidFill>
            <a:srgbClr val="4A2070"/>
          </a:solidFill>
          <a:ln/>
        </p:spPr>
      </p:sp>
      <p:sp>
        <p:nvSpPr>
          <p:cNvPr id="5" name="Text 3"/>
          <p:cNvSpPr/>
          <p:nvPr/>
        </p:nvSpPr>
        <p:spPr>
          <a:xfrm>
            <a:off x="548640" y="178308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6" name="Text 4"/>
          <p:cNvSpPr/>
          <p:nvPr/>
        </p:nvSpPr>
        <p:spPr>
          <a:xfrm>
            <a:off x="1188720" y="1783080"/>
            <a:ext cx="2377440" cy="502920"/>
          </a:xfrm>
          <a:prstGeom prst="rect">
            <a:avLst/>
          </a:prstGeom>
          <a:noFill/>
          <a:ln/>
        </p:spPr>
        <p:txBody>
          <a:bodyPr wrap="square" lIns="0" tIns="0" rIns="0" bIns="0" rtlCol="0" anchor="ctr"/>
          <a:lstStyle/>
          <a:p>
            <a:pPr indent="0" marL="0">
              <a:buNone/>
            </a:pPr>
            <a:r>
              <a:rPr lang="en-US" sz="1400" b="1" dirty="0">
                <a:solidFill>
                  <a:srgbClr val="4A2070"/>
                </a:solidFill>
                <a:latin typeface="Calibri" pitchFamily="34" charset="0"/>
                <a:ea typeface="Calibri" pitchFamily="34" charset="-122"/>
                <a:cs typeface="Calibri" pitchFamily="34" charset="-120"/>
              </a:rPr>
              <a:t>Presentation</a:t>
            </a:r>
            <a:endParaRPr lang="en-US" sz="1400" dirty="0"/>
          </a:p>
        </p:txBody>
      </p:sp>
      <p:sp>
        <p:nvSpPr>
          <p:cNvPr id="7" name="Text 5"/>
          <p:cNvSpPr/>
          <p:nvPr/>
        </p:nvSpPr>
        <p:spPr>
          <a:xfrm>
            <a:off x="3657600" y="1783080"/>
            <a:ext cx="7955280" cy="502920"/>
          </a:xfrm>
          <a:prstGeom prst="rect">
            <a:avLst/>
          </a:prstGeom>
          <a:noFill/>
          <a:ln/>
        </p:spPr>
        <p:txBody>
          <a:bodyPr wrap="square" lIns="0" tIns="0" rIns="0" bIns="0" rtlCol="0" anchor="ctr"/>
          <a:lstStyle/>
          <a:p>
            <a:pPr indent="0" marL="0">
              <a:buNone/>
            </a:pPr>
            <a:r>
              <a:rPr lang="en-US" sz="1200" dirty="0">
                <a:solidFill>
                  <a:srgbClr val="2A1A3A"/>
                </a:solidFill>
                <a:latin typeface="Calibri" pitchFamily="34" charset="0"/>
                <a:ea typeface="Calibri" pitchFamily="34" charset="-122"/>
                <a:cs typeface="Calibri" pitchFamily="34" charset="-120"/>
              </a:rPr>
              <a:t>React 18 + Vite, wrapped natively by Capacitor 8 (iOS + Android shells)</a:t>
            </a:r>
            <a:endParaRPr lang="en-US" sz="1200" dirty="0"/>
          </a:p>
        </p:txBody>
      </p:sp>
      <p:sp>
        <p:nvSpPr>
          <p:cNvPr id="8" name="Shape 6"/>
          <p:cNvSpPr/>
          <p:nvPr/>
        </p:nvSpPr>
        <p:spPr>
          <a:xfrm>
            <a:off x="548640" y="2340864"/>
            <a:ext cx="502920" cy="502920"/>
          </a:xfrm>
          <a:prstGeom prst="rect">
            <a:avLst/>
          </a:prstGeom>
          <a:solidFill>
            <a:srgbClr val="4A2070"/>
          </a:solidFill>
          <a:ln/>
        </p:spPr>
      </p:sp>
      <p:sp>
        <p:nvSpPr>
          <p:cNvPr id="9" name="Text 7"/>
          <p:cNvSpPr/>
          <p:nvPr/>
        </p:nvSpPr>
        <p:spPr>
          <a:xfrm>
            <a:off x="548640" y="2340864"/>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0" name="Text 8"/>
          <p:cNvSpPr/>
          <p:nvPr/>
        </p:nvSpPr>
        <p:spPr>
          <a:xfrm>
            <a:off x="1188720" y="2340864"/>
            <a:ext cx="2377440" cy="502920"/>
          </a:xfrm>
          <a:prstGeom prst="rect">
            <a:avLst/>
          </a:prstGeom>
          <a:noFill/>
          <a:ln/>
        </p:spPr>
        <p:txBody>
          <a:bodyPr wrap="square" lIns="0" tIns="0" rIns="0" bIns="0" rtlCol="0" anchor="ctr"/>
          <a:lstStyle/>
          <a:p>
            <a:pPr indent="0" marL="0">
              <a:buNone/>
            </a:pPr>
            <a:r>
              <a:rPr lang="en-US" sz="1400" b="1" dirty="0">
                <a:solidFill>
                  <a:srgbClr val="4A2070"/>
                </a:solidFill>
                <a:latin typeface="Calibri" pitchFamily="34" charset="0"/>
                <a:ea typeface="Calibri" pitchFamily="34" charset="-122"/>
                <a:cs typeface="Calibri" pitchFamily="34" charset="-120"/>
              </a:rPr>
              <a:t>Application</a:t>
            </a:r>
            <a:endParaRPr lang="en-US" sz="1400" dirty="0"/>
          </a:p>
        </p:txBody>
      </p:sp>
      <p:sp>
        <p:nvSpPr>
          <p:cNvPr id="11" name="Text 9"/>
          <p:cNvSpPr/>
          <p:nvPr/>
        </p:nvSpPr>
        <p:spPr>
          <a:xfrm>
            <a:off x="3657600" y="2340864"/>
            <a:ext cx="7955280" cy="502920"/>
          </a:xfrm>
          <a:prstGeom prst="rect">
            <a:avLst/>
          </a:prstGeom>
          <a:noFill/>
          <a:ln/>
        </p:spPr>
        <p:txBody>
          <a:bodyPr wrap="square" lIns="0" tIns="0" rIns="0" bIns="0" rtlCol="0" anchor="ctr"/>
          <a:lstStyle/>
          <a:p>
            <a:pPr indent="0" marL="0">
              <a:buNone/>
            </a:pPr>
            <a:r>
              <a:rPr lang="en-US" sz="1200" dirty="0">
                <a:solidFill>
                  <a:srgbClr val="2A1A3A"/>
                </a:solidFill>
                <a:latin typeface="Calibri" pitchFamily="34" charset="0"/>
                <a:ea typeface="Calibri" pitchFamily="34" charset="-122"/>
                <a:cs typeface="Calibri" pitchFamily="34" charset="-120"/>
              </a:rPr>
              <a:t>React Context state machines for auth, recording lifecycle, AI chat</a:t>
            </a:r>
            <a:endParaRPr lang="en-US" sz="1200" dirty="0"/>
          </a:p>
        </p:txBody>
      </p:sp>
      <p:sp>
        <p:nvSpPr>
          <p:cNvPr id="12" name="Shape 10"/>
          <p:cNvSpPr/>
          <p:nvPr/>
        </p:nvSpPr>
        <p:spPr>
          <a:xfrm>
            <a:off x="548640" y="2898648"/>
            <a:ext cx="502920" cy="502920"/>
          </a:xfrm>
          <a:prstGeom prst="rect">
            <a:avLst/>
          </a:prstGeom>
          <a:solidFill>
            <a:srgbClr val="4A2070"/>
          </a:solidFill>
          <a:ln/>
        </p:spPr>
      </p:sp>
      <p:sp>
        <p:nvSpPr>
          <p:cNvPr id="13" name="Text 11"/>
          <p:cNvSpPr/>
          <p:nvPr/>
        </p:nvSpPr>
        <p:spPr>
          <a:xfrm>
            <a:off x="548640" y="289864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14" name="Text 12"/>
          <p:cNvSpPr/>
          <p:nvPr/>
        </p:nvSpPr>
        <p:spPr>
          <a:xfrm>
            <a:off x="1188720" y="2898648"/>
            <a:ext cx="2377440" cy="502920"/>
          </a:xfrm>
          <a:prstGeom prst="rect">
            <a:avLst/>
          </a:prstGeom>
          <a:noFill/>
          <a:ln/>
        </p:spPr>
        <p:txBody>
          <a:bodyPr wrap="square" lIns="0" tIns="0" rIns="0" bIns="0" rtlCol="0" anchor="ctr"/>
          <a:lstStyle/>
          <a:p>
            <a:pPr indent="0" marL="0">
              <a:buNone/>
            </a:pPr>
            <a:r>
              <a:rPr lang="en-US" sz="1400" b="1" dirty="0">
                <a:solidFill>
                  <a:srgbClr val="4A2070"/>
                </a:solidFill>
                <a:latin typeface="Calibri" pitchFamily="34" charset="0"/>
                <a:ea typeface="Calibri" pitchFamily="34" charset="-122"/>
                <a:cs typeface="Calibri" pitchFamily="34" charset="-120"/>
              </a:rPr>
              <a:t>Backend</a:t>
            </a:r>
            <a:endParaRPr lang="en-US" sz="1400" dirty="0"/>
          </a:p>
        </p:txBody>
      </p:sp>
      <p:sp>
        <p:nvSpPr>
          <p:cNvPr id="15" name="Text 13"/>
          <p:cNvSpPr/>
          <p:nvPr/>
        </p:nvSpPr>
        <p:spPr>
          <a:xfrm>
            <a:off x="3657600" y="2898648"/>
            <a:ext cx="7955280" cy="502920"/>
          </a:xfrm>
          <a:prstGeom prst="rect">
            <a:avLst/>
          </a:prstGeom>
          <a:noFill/>
          <a:ln/>
        </p:spPr>
        <p:txBody>
          <a:bodyPr wrap="square" lIns="0" tIns="0" rIns="0" bIns="0" rtlCol="0" anchor="ctr"/>
          <a:lstStyle/>
          <a:p>
            <a:pPr indent="0" marL="0">
              <a:buNone/>
            </a:pPr>
            <a:r>
              <a:rPr lang="en-US" sz="1200" dirty="0">
                <a:solidFill>
                  <a:srgbClr val="2A1A3A"/>
                </a:solidFill>
                <a:latin typeface="Calibri" pitchFamily="34" charset="0"/>
                <a:ea typeface="Calibri" pitchFamily="34" charset="-122"/>
                <a:cs typeface="Calibri" pitchFamily="34" charset="-120"/>
              </a:rPr>
              <a:t>Firebase Auth + Firestore + Cloud Functions v2 + Cloud Storage rules</a:t>
            </a:r>
            <a:endParaRPr lang="en-US" sz="1200" dirty="0"/>
          </a:p>
        </p:txBody>
      </p:sp>
      <p:sp>
        <p:nvSpPr>
          <p:cNvPr id="16" name="Shape 14"/>
          <p:cNvSpPr/>
          <p:nvPr/>
        </p:nvSpPr>
        <p:spPr>
          <a:xfrm>
            <a:off x="548640" y="3456432"/>
            <a:ext cx="502920" cy="502920"/>
          </a:xfrm>
          <a:prstGeom prst="rect">
            <a:avLst/>
          </a:prstGeom>
          <a:solidFill>
            <a:srgbClr val="4A2070"/>
          </a:solidFill>
          <a:ln/>
        </p:spPr>
      </p:sp>
      <p:sp>
        <p:nvSpPr>
          <p:cNvPr id="17" name="Text 15"/>
          <p:cNvSpPr/>
          <p:nvPr/>
        </p:nvSpPr>
        <p:spPr>
          <a:xfrm>
            <a:off x="548640" y="3456432"/>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18" name="Text 16"/>
          <p:cNvSpPr/>
          <p:nvPr/>
        </p:nvSpPr>
        <p:spPr>
          <a:xfrm>
            <a:off x="1188720" y="3456432"/>
            <a:ext cx="2377440" cy="502920"/>
          </a:xfrm>
          <a:prstGeom prst="rect">
            <a:avLst/>
          </a:prstGeom>
          <a:noFill/>
          <a:ln/>
        </p:spPr>
        <p:txBody>
          <a:bodyPr wrap="square" lIns="0" tIns="0" rIns="0" bIns="0" rtlCol="0" anchor="ctr"/>
          <a:lstStyle/>
          <a:p>
            <a:pPr indent="0" marL="0">
              <a:buNone/>
            </a:pPr>
            <a:r>
              <a:rPr lang="en-US" sz="1400" b="1" dirty="0">
                <a:solidFill>
                  <a:srgbClr val="4A2070"/>
                </a:solidFill>
                <a:latin typeface="Calibri" pitchFamily="34" charset="0"/>
                <a:ea typeface="Calibri" pitchFamily="34" charset="-122"/>
                <a:cs typeface="Calibri" pitchFamily="34" charset="-120"/>
              </a:rPr>
              <a:t>AI</a:t>
            </a:r>
            <a:endParaRPr lang="en-US" sz="1400" dirty="0"/>
          </a:p>
        </p:txBody>
      </p:sp>
      <p:sp>
        <p:nvSpPr>
          <p:cNvPr id="19" name="Text 17"/>
          <p:cNvSpPr/>
          <p:nvPr/>
        </p:nvSpPr>
        <p:spPr>
          <a:xfrm>
            <a:off x="3657600" y="3456432"/>
            <a:ext cx="7955280" cy="502920"/>
          </a:xfrm>
          <a:prstGeom prst="rect">
            <a:avLst/>
          </a:prstGeom>
          <a:noFill/>
          <a:ln/>
        </p:spPr>
        <p:txBody>
          <a:bodyPr wrap="square" lIns="0" tIns="0" rIns="0" bIns="0" rtlCol="0" anchor="ctr"/>
          <a:lstStyle/>
          <a:p>
            <a:pPr indent="0" marL="0">
              <a:buNone/>
            </a:pPr>
            <a:r>
              <a:rPr lang="en-US" sz="1200" dirty="0">
                <a:solidFill>
                  <a:srgbClr val="2A1A3A"/>
                </a:solidFill>
                <a:latin typeface="Calibri" pitchFamily="34" charset="0"/>
                <a:ea typeface="Calibri" pitchFamily="34" charset="-122"/>
                <a:cs typeface="Calibri" pitchFamily="34" charset="-120"/>
              </a:rPr>
              <a:t>Google Gemini 2.5 Flash (default) + Pro (auto-routed for hard questions)</a:t>
            </a:r>
            <a:endParaRPr lang="en-US" sz="1200" dirty="0"/>
          </a:p>
        </p:txBody>
      </p:sp>
      <p:sp>
        <p:nvSpPr>
          <p:cNvPr id="20" name="Shape 18"/>
          <p:cNvSpPr/>
          <p:nvPr/>
        </p:nvSpPr>
        <p:spPr>
          <a:xfrm>
            <a:off x="548640" y="4014216"/>
            <a:ext cx="502920" cy="502920"/>
          </a:xfrm>
          <a:prstGeom prst="rect">
            <a:avLst/>
          </a:prstGeom>
          <a:solidFill>
            <a:srgbClr val="4A2070"/>
          </a:solidFill>
          <a:ln/>
        </p:spPr>
      </p:sp>
      <p:sp>
        <p:nvSpPr>
          <p:cNvPr id="21" name="Text 19"/>
          <p:cNvSpPr/>
          <p:nvPr/>
        </p:nvSpPr>
        <p:spPr>
          <a:xfrm>
            <a:off x="548640" y="4014216"/>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22" name="Text 20"/>
          <p:cNvSpPr/>
          <p:nvPr/>
        </p:nvSpPr>
        <p:spPr>
          <a:xfrm>
            <a:off x="1188720" y="4014216"/>
            <a:ext cx="2377440" cy="502920"/>
          </a:xfrm>
          <a:prstGeom prst="rect">
            <a:avLst/>
          </a:prstGeom>
          <a:noFill/>
          <a:ln/>
        </p:spPr>
        <p:txBody>
          <a:bodyPr wrap="square" lIns="0" tIns="0" rIns="0" bIns="0" rtlCol="0" anchor="ctr"/>
          <a:lstStyle/>
          <a:p>
            <a:pPr indent="0" marL="0">
              <a:buNone/>
            </a:pPr>
            <a:r>
              <a:rPr lang="en-US" sz="1400" b="1" dirty="0">
                <a:solidFill>
                  <a:srgbClr val="4A2070"/>
                </a:solidFill>
                <a:latin typeface="Calibri" pitchFamily="34" charset="0"/>
                <a:ea typeface="Calibri" pitchFamily="34" charset="-122"/>
                <a:cs typeface="Calibri" pitchFamily="34" charset="-120"/>
              </a:rPr>
              <a:t>Speech-to-Text</a:t>
            </a:r>
            <a:endParaRPr lang="en-US" sz="1400" dirty="0"/>
          </a:p>
        </p:txBody>
      </p:sp>
      <p:sp>
        <p:nvSpPr>
          <p:cNvPr id="23" name="Text 21"/>
          <p:cNvSpPr/>
          <p:nvPr/>
        </p:nvSpPr>
        <p:spPr>
          <a:xfrm>
            <a:off x="3657600" y="4014216"/>
            <a:ext cx="7955280" cy="502920"/>
          </a:xfrm>
          <a:prstGeom prst="rect">
            <a:avLst/>
          </a:prstGeom>
          <a:noFill/>
          <a:ln/>
        </p:spPr>
        <p:txBody>
          <a:bodyPr wrap="square" lIns="0" tIns="0" rIns="0" bIns="0" rtlCol="0" anchor="ctr"/>
          <a:lstStyle/>
          <a:p>
            <a:pPr indent="0" marL="0">
              <a:buNone/>
            </a:pPr>
            <a:r>
              <a:rPr lang="en-US" sz="1200" dirty="0">
                <a:solidFill>
                  <a:srgbClr val="2A1A3A"/>
                </a:solidFill>
                <a:latin typeface="Calibri" pitchFamily="34" charset="0"/>
                <a:ea typeface="Calibri" pitchFamily="34" charset="-122"/>
                <a:cs typeface="Calibri" pitchFamily="34" charset="-120"/>
              </a:rPr>
              <a:t>Deepgram Nova-3 streaming, plus Google Translate for cross-language segments</a:t>
            </a:r>
            <a:endParaRPr lang="en-US" sz="1200" dirty="0"/>
          </a:p>
        </p:txBody>
      </p:sp>
      <p:sp>
        <p:nvSpPr>
          <p:cNvPr id="24" name="Shape 22"/>
          <p:cNvSpPr/>
          <p:nvPr/>
        </p:nvSpPr>
        <p:spPr>
          <a:xfrm>
            <a:off x="548640" y="4572000"/>
            <a:ext cx="502920" cy="502920"/>
          </a:xfrm>
          <a:prstGeom prst="rect">
            <a:avLst/>
          </a:prstGeom>
          <a:solidFill>
            <a:srgbClr val="4A2070"/>
          </a:solidFill>
          <a:ln/>
        </p:spPr>
      </p:sp>
      <p:sp>
        <p:nvSpPr>
          <p:cNvPr id="25" name="Text 23"/>
          <p:cNvSpPr/>
          <p:nvPr/>
        </p:nvSpPr>
        <p:spPr>
          <a:xfrm>
            <a:off x="548640" y="457200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06</a:t>
            </a:r>
            <a:endParaRPr lang="en-US" sz="1400" dirty="0"/>
          </a:p>
        </p:txBody>
      </p:sp>
      <p:sp>
        <p:nvSpPr>
          <p:cNvPr id="26" name="Text 24"/>
          <p:cNvSpPr/>
          <p:nvPr/>
        </p:nvSpPr>
        <p:spPr>
          <a:xfrm>
            <a:off x="1188720" y="4572000"/>
            <a:ext cx="2377440" cy="502920"/>
          </a:xfrm>
          <a:prstGeom prst="rect">
            <a:avLst/>
          </a:prstGeom>
          <a:noFill/>
          <a:ln/>
        </p:spPr>
        <p:txBody>
          <a:bodyPr wrap="square" lIns="0" tIns="0" rIns="0" bIns="0" rtlCol="0" anchor="ctr"/>
          <a:lstStyle/>
          <a:p>
            <a:pPr indent="0" marL="0">
              <a:buNone/>
            </a:pPr>
            <a:r>
              <a:rPr lang="en-US" sz="1400" b="1" dirty="0">
                <a:solidFill>
                  <a:srgbClr val="4A2070"/>
                </a:solidFill>
                <a:latin typeface="Calibri" pitchFamily="34" charset="0"/>
                <a:ea typeface="Calibri" pitchFamily="34" charset="-122"/>
                <a:cs typeface="Calibri" pitchFamily="34" charset="-120"/>
              </a:rPr>
              <a:t>Streaming Server</a:t>
            </a:r>
            <a:endParaRPr lang="en-US" sz="1400" dirty="0"/>
          </a:p>
        </p:txBody>
      </p:sp>
      <p:sp>
        <p:nvSpPr>
          <p:cNvPr id="27" name="Text 25"/>
          <p:cNvSpPr/>
          <p:nvPr/>
        </p:nvSpPr>
        <p:spPr>
          <a:xfrm>
            <a:off x="3657600" y="4572000"/>
            <a:ext cx="7955280" cy="502920"/>
          </a:xfrm>
          <a:prstGeom prst="rect">
            <a:avLst/>
          </a:prstGeom>
          <a:noFill/>
          <a:ln/>
        </p:spPr>
        <p:txBody>
          <a:bodyPr wrap="square" lIns="0" tIns="0" rIns="0" bIns="0" rtlCol="0" anchor="ctr"/>
          <a:lstStyle/>
          <a:p>
            <a:pPr indent="0" marL="0">
              <a:buNone/>
            </a:pPr>
            <a:r>
              <a:rPr lang="en-US" sz="1200" dirty="0">
                <a:solidFill>
                  <a:srgbClr val="2A1A3A"/>
                </a:solidFill>
                <a:latin typeface="Calibri" pitchFamily="34" charset="0"/>
                <a:ea typeface="Calibri" pitchFamily="34" charset="-122"/>
                <a:cs typeface="Calibri" pitchFamily="34" charset="-120"/>
              </a:rPr>
              <a:t>TypeScript Cloud Run service bridging the device to Deepgram via WebSocket</a:t>
            </a:r>
            <a:endParaRPr lang="en-US" sz="1200" dirty="0"/>
          </a:p>
        </p:txBody>
      </p:sp>
      <p:sp>
        <p:nvSpPr>
          <p:cNvPr id="28" name="Shape 26"/>
          <p:cNvSpPr/>
          <p:nvPr/>
        </p:nvSpPr>
        <p:spPr>
          <a:xfrm>
            <a:off x="548640" y="5129784"/>
            <a:ext cx="502920" cy="502920"/>
          </a:xfrm>
          <a:prstGeom prst="rect">
            <a:avLst/>
          </a:prstGeom>
          <a:solidFill>
            <a:srgbClr val="4A2070"/>
          </a:solidFill>
          <a:ln/>
        </p:spPr>
      </p:sp>
      <p:sp>
        <p:nvSpPr>
          <p:cNvPr id="29" name="Text 27"/>
          <p:cNvSpPr/>
          <p:nvPr/>
        </p:nvSpPr>
        <p:spPr>
          <a:xfrm>
            <a:off x="548640" y="5129784"/>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07</a:t>
            </a:r>
            <a:endParaRPr lang="en-US" sz="1400" dirty="0"/>
          </a:p>
        </p:txBody>
      </p:sp>
      <p:sp>
        <p:nvSpPr>
          <p:cNvPr id="30" name="Text 28"/>
          <p:cNvSpPr/>
          <p:nvPr/>
        </p:nvSpPr>
        <p:spPr>
          <a:xfrm>
            <a:off x="1188720" y="5129784"/>
            <a:ext cx="2377440" cy="502920"/>
          </a:xfrm>
          <a:prstGeom prst="rect">
            <a:avLst/>
          </a:prstGeom>
          <a:noFill/>
          <a:ln/>
        </p:spPr>
        <p:txBody>
          <a:bodyPr wrap="square" lIns="0" tIns="0" rIns="0" bIns="0" rtlCol="0" anchor="ctr"/>
          <a:lstStyle/>
          <a:p>
            <a:pPr indent="0" marL="0">
              <a:buNone/>
            </a:pPr>
            <a:r>
              <a:rPr lang="en-US" sz="1400" b="1" dirty="0">
                <a:solidFill>
                  <a:srgbClr val="4A2070"/>
                </a:solidFill>
                <a:latin typeface="Calibri" pitchFamily="34" charset="0"/>
                <a:ea typeface="Calibri" pitchFamily="34" charset="-122"/>
                <a:cs typeface="Calibri" pitchFamily="34" charset="-120"/>
              </a:rPr>
              <a:t>Storage</a:t>
            </a:r>
            <a:endParaRPr lang="en-US" sz="1400" dirty="0"/>
          </a:p>
        </p:txBody>
      </p:sp>
      <p:sp>
        <p:nvSpPr>
          <p:cNvPr id="31" name="Text 29"/>
          <p:cNvSpPr/>
          <p:nvPr/>
        </p:nvSpPr>
        <p:spPr>
          <a:xfrm>
            <a:off x="3657600" y="5129784"/>
            <a:ext cx="7955280" cy="502920"/>
          </a:xfrm>
          <a:prstGeom prst="rect">
            <a:avLst/>
          </a:prstGeom>
          <a:noFill/>
          <a:ln/>
        </p:spPr>
        <p:txBody>
          <a:bodyPr wrap="square" lIns="0" tIns="0" rIns="0" bIns="0" rtlCol="0" anchor="ctr"/>
          <a:lstStyle/>
          <a:p>
            <a:pPr indent="0" marL="0">
              <a:buNone/>
            </a:pPr>
            <a:r>
              <a:rPr lang="en-US" sz="1200" dirty="0">
                <a:solidFill>
                  <a:srgbClr val="2A1A3A"/>
                </a:solidFill>
                <a:latin typeface="Calibri" pitchFamily="34" charset="0"/>
                <a:ea typeface="Calibri" pitchFamily="34" charset="-122"/>
                <a:cs typeface="Calibri" pitchFamily="34" charset="-120"/>
              </a:rPr>
              <a:t>Firestore for transcripts + metadata · IndexedDB on the device for audio</a:t>
            </a:r>
            <a:endParaRPr lang="en-US" sz="1200" dirty="0"/>
          </a:p>
        </p:txBody>
      </p:sp>
      <p:sp>
        <p:nvSpPr>
          <p:cNvPr id="32" name="Text 30"/>
          <p:cNvSpPr/>
          <p:nvPr/>
        </p:nvSpPr>
        <p:spPr>
          <a:xfrm>
            <a:off x="365760" y="6492240"/>
            <a:ext cx="1828800" cy="274320"/>
          </a:xfrm>
          <a:prstGeom prst="rect">
            <a:avLst/>
          </a:prstGeom>
          <a:noFill/>
          <a:ln/>
        </p:spPr>
        <p:txBody>
          <a:bodyPr wrap="square" rtlCol="0" anchor="ctr"/>
          <a:lstStyle/>
          <a:p>
            <a:pPr indent="0" marL="0">
              <a:buNone/>
            </a:pPr>
            <a:r>
              <a:rPr lang="en-US" sz="1000" b="1" dirty="0">
                <a:solidFill>
                  <a:srgbClr val="666666"/>
                </a:solidFill>
                <a:latin typeface="Calibri" pitchFamily="34" charset="0"/>
                <a:ea typeface="Calibri" pitchFamily="34" charset="-122"/>
                <a:cs typeface="Calibri" pitchFamily="34" charset="-120"/>
              </a:rPr>
              <a:t>Sheen AI</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EDF7"/>
        </a:solidFill>
      </p:bgPr>
    </p:bg>
    <p:spTree>
      <p:nvGrpSpPr>
        <p:cNvPr id="1" name=""/>
        <p:cNvGrpSpPr/>
        <p:nvPr/>
      </p:nvGrpSpPr>
      <p:grpSpPr>
        <a:xfrm>
          <a:off x="0" y="0"/>
          <a:ext cx="0" cy="0"/>
          <a:chOff x="0" y="0"/>
          <a:chExt cx="0" cy="0"/>
        </a:xfrm>
      </p:grpSpPr>
      <p:sp>
        <p:nvSpPr>
          <p:cNvPr id="2" name="Text 0"/>
          <p:cNvSpPr/>
          <p:nvPr/>
        </p:nvSpPr>
        <p:spPr>
          <a:xfrm>
            <a:off x="548640" y="502920"/>
            <a:ext cx="11064240" cy="320040"/>
          </a:xfrm>
          <a:prstGeom prst="rect">
            <a:avLst/>
          </a:prstGeom>
          <a:noFill/>
          <a:ln/>
        </p:spPr>
        <p:txBody>
          <a:bodyPr wrap="square" rtlCol="0" anchor="ctr"/>
          <a:lstStyle/>
          <a:p>
            <a:pPr indent="0" marL="0">
              <a:buNone/>
            </a:pPr>
            <a:r>
              <a:rPr lang="en-US" sz="1300" b="1" spc="400" kern="0" dirty="0">
                <a:solidFill>
                  <a:srgbClr val="8163A3"/>
                </a:solidFill>
                <a:latin typeface="Calibri" pitchFamily="34" charset="0"/>
                <a:ea typeface="Calibri" pitchFamily="34" charset="-122"/>
                <a:cs typeface="Calibri" pitchFamily="34" charset="-120"/>
              </a:rPr>
              <a:t>TECHNOLOGY</a:t>
            </a:r>
            <a:endParaRPr lang="en-US" sz="1300" dirty="0"/>
          </a:p>
        </p:txBody>
      </p:sp>
      <p:sp>
        <p:nvSpPr>
          <p:cNvPr id="3" name="Text 1"/>
          <p:cNvSpPr/>
          <p:nvPr/>
        </p:nvSpPr>
        <p:spPr>
          <a:xfrm>
            <a:off x="548640" y="868680"/>
            <a:ext cx="11064240" cy="777240"/>
          </a:xfrm>
          <a:prstGeom prst="rect">
            <a:avLst/>
          </a:prstGeom>
          <a:noFill/>
          <a:ln/>
        </p:spPr>
        <p:txBody>
          <a:bodyPr wrap="square" lIns="0" tIns="0" rIns="0" bIns="0" rtlCol="0" anchor="ctr"/>
          <a:lstStyle/>
          <a:p>
            <a:pPr indent="0" marL="0">
              <a:buNone/>
            </a:pPr>
            <a:r>
              <a:rPr lang="en-US" sz="3200" b="1" dirty="0">
                <a:solidFill>
                  <a:srgbClr val="4A2070"/>
                </a:solidFill>
                <a:latin typeface="Calibri" pitchFamily="34" charset="0"/>
                <a:ea typeface="Calibri" pitchFamily="34" charset="-122"/>
                <a:cs typeface="Calibri" pitchFamily="34" charset="-120"/>
              </a:rPr>
              <a:t>Tech Stack at a Glance</a:t>
            </a:r>
            <a:endParaRPr lang="en-US" sz="3200" dirty="0"/>
          </a:p>
        </p:txBody>
      </p:sp>
      <p:sp>
        <p:nvSpPr>
          <p:cNvPr id="4" name="Shape 2"/>
          <p:cNvSpPr/>
          <p:nvPr/>
        </p:nvSpPr>
        <p:spPr>
          <a:xfrm>
            <a:off x="320040" y="1645920"/>
            <a:ext cx="3657600" cy="4023360"/>
          </a:xfrm>
          <a:prstGeom prst="rect">
            <a:avLst/>
          </a:prstGeom>
          <a:solidFill>
            <a:srgbClr val="FFFFFF"/>
          </a:solidFill>
          <a:ln w="12700">
            <a:solidFill>
              <a:srgbClr val="BDA2DA"/>
            </a:solidFill>
            <a:prstDash val="solid"/>
          </a:ln>
        </p:spPr>
      </p:sp>
      <p:sp>
        <p:nvSpPr>
          <p:cNvPr id="5" name="Shape 3"/>
          <p:cNvSpPr/>
          <p:nvPr/>
        </p:nvSpPr>
        <p:spPr>
          <a:xfrm>
            <a:off x="320040" y="1645920"/>
            <a:ext cx="3657600" cy="640080"/>
          </a:xfrm>
          <a:prstGeom prst="rect">
            <a:avLst/>
          </a:prstGeom>
          <a:solidFill>
            <a:srgbClr val="4A2070"/>
          </a:solidFill>
          <a:ln/>
        </p:spPr>
      </p:sp>
      <p:sp>
        <p:nvSpPr>
          <p:cNvPr id="6" name="Text 4"/>
          <p:cNvSpPr/>
          <p:nvPr/>
        </p:nvSpPr>
        <p:spPr>
          <a:xfrm>
            <a:off x="320040" y="1645920"/>
            <a:ext cx="3657600" cy="640080"/>
          </a:xfrm>
          <a:prstGeom prst="rect">
            <a:avLst/>
          </a:prstGeom>
          <a:noFill/>
          <a:ln/>
        </p:spPr>
        <p:txBody>
          <a:bodyPr wrap="square" lIns="0" tIns="0" rIns="0" bIns="0" rtlCol="0" anchor="ctr"/>
          <a:lstStyle/>
          <a:p>
            <a:pPr algn="ctr" indent="0" marL="0">
              <a:buNone/>
            </a:pPr>
            <a:r>
              <a:rPr lang="en-US" sz="1700" b="1" spc="500" kern="0" dirty="0">
                <a:solidFill>
                  <a:srgbClr val="FFFFFF"/>
                </a:solidFill>
                <a:latin typeface="Calibri" pitchFamily="34" charset="0"/>
                <a:ea typeface="Calibri" pitchFamily="34" charset="-122"/>
                <a:cs typeface="Calibri" pitchFamily="34" charset="-120"/>
              </a:rPr>
              <a:t>FRONTEND</a:t>
            </a:r>
            <a:endParaRPr lang="en-US" sz="1700" dirty="0"/>
          </a:p>
        </p:txBody>
      </p:sp>
      <p:sp>
        <p:nvSpPr>
          <p:cNvPr id="7" name="Shape 5"/>
          <p:cNvSpPr/>
          <p:nvPr/>
        </p:nvSpPr>
        <p:spPr>
          <a:xfrm>
            <a:off x="777240" y="2724912"/>
            <a:ext cx="182880" cy="182880"/>
          </a:xfrm>
          <a:prstGeom prst="ellipse">
            <a:avLst/>
          </a:prstGeom>
          <a:solidFill>
            <a:srgbClr val="8163A3"/>
          </a:solidFill>
          <a:ln/>
        </p:spPr>
      </p:sp>
      <p:sp>
        <p:nvSpPr>
          <p:cNvPr id="8" name="Text 6"/>
          <p:cNvSpPr/>
          <p:nvPr/>
        </p:nvSpPr>
        <p:spPr>
          <a:xfrm>
            <a:off x="1097280" y="2560320"/>
            <a:ext cx="2697480" cy="502920"/>
          </a:xfrm>
          <a:prstGeom prst="rect">
            <a:avLst/>
          </a:prstGeom>
          <a:noFill/>
          <a:ln/>
        </p:spPr>
        <p:txBody>
          <a:bodyPr wrap="square" lIns="0" tIns="0" rIns="0" bIns="0" rtlCol="0" anchor="ctr"/>
          <a:lstStyle/>
          <a:p>
            <a:pPr indent="0" marL="0">
              <a:buNone/>
            </a:pPr>
            <a:r>
              <a:rPr lang="en-US" sz="1400" dirty="0">
                <a:solidFill>
                  <a:srgbClr val="2A1A3A"/>
                </a:solidFill>
                <a:latin typeface="Calibri" pitchFamily="34" charset="0"/>
                <a:ea typeface="Calibri" pitchFamily="34" charset="-122"/>
                <a:cs typeface="Calibri" pitchFamily="34" charset="-120"/>
              </a:rPr>
              <a:t>React 18</a:t>
            </a:r>
            <a:endParaRPr lang="en-US" sz="1400" dirty="0"/>
          </a:p>
        </p:txBody>
      </p:sp>
      <p:sp>
        <p:nvSpPr>
          <p:cNvPr id="9" name="Shape 7"/>
          <p:cNvSpPr/>
          <p:nvPr/>
        </p:nvSpPr>
        <p:spPr>
          <a:xfrm>
            <a:off x="777240" y="3273552"/>
            <a:ext cx="182880" cy="182880"/>
          </a:xfrm>
          <a:prstGeom prst="ellipse">
            <a:avLst/>
          </a:prstGeom>
          <a:solidFill>
            <a:srgbClr val="8163A3"/>
          </a:solidFill>
          <a:ln/>
        </p:spPr>
      </p:sp>
      <p:sp>
        <p:nvSpPr>
          <p:cNvPr id="10" name="Text 8"/>
          <p:cNvSpPr/>
          <p:nvPr/>
        </p:nvSpPr>
        <p:spPr>
          <a:xfrm>
            <a:off x="1097280" y="3108960"/>
            <a:ext cx="2697480" cy="502920"/>
          </a:xfrm>
          <a:prstGeom prst="rect">
            <a:avLst/>
          </a:prstGeom>
          <a:noFill/>
          <a:ln/>
        </p:spPr>
        <p:txBody>
          <a:bodyPr wrap="square" lIns="0" tIns="0" rIns="0" bIns="0" rtlCol="0" anchor="ctr"/>
          <a:lstStyle/>
          <a:p>
            <a:pPr indent="0" marL="0">
              <a:buNone/>
            </a:pPr>
            <a:r>
              <a:rPr lang="en-US" sz="1400" dirty="0">
                <a:solidFill>
                  <a:srgbClr val="2A1A3A"/>
                </a:solidFill>
                <a:latin typeface="Calibri" pitchFamily="34" charset="0"/>
                <a:ea typeface="Calibri" pitchFamily="34" charset="-122"/>
                <a:cs typeface="Calibri" pitchFamily="34" charset="-120"/>
              </a:rPr>
              <a:t>Vite 5</a:t>
            </a:r>
            <a:endParaRPr lang="en-US" sz="1400" dirty="0"/>
          </a:p>
        </p:txBody>
      </p:sp>
      <p:sp>
        <p:nvSpPr>
          <p:cNvPr id="11" name="Shape 9"/>
          <p:cNvSpPr/>
          <p:nvPr/>
        </p:nvSpPr>
        <p:spPr>
          <a:xfrm>
            <a:off x="777240" y="3822192"/>
            <a:ext cx="182880" cy="182880"/>
          </a:xfrm>
          <a:prstGeom prst="ellipse">
            <a:avLst/>
          </a:prstGeom>
          <a:solidFill>
            <a:srgbClr val="8163A3"/>
          </a:solidFill>
          <a:ln/>
        </p:spPr>
      </p:sp>
      <p:sp>
        <p:nvSpPr>
          <p:cNvPr id="12" name="Text 10"/>
          <p:cNvSpPr/>
          <p:nvPr/>
        </p:nvSpPr>
        <p:spPr>
          <a:xfrm>
            <a:off x="1097280" y="3657600"/>
            <a:ext cx="2697480" cy="502920"/>
          </a:xfrm>
          <a:prstGeom prst="rect">
            <a:avLst/>
          </a:prstGeom>
          <a:noFill/>
          <a:ln/>
        </p:spPr>
        <p:txBody>
          <a:bodyPr wrap="square" lIns="0" tIns="0" rIns="0" bIns="0" rtlCol="0" anchor="ctr"/>
          <a:lstStyle/>
          <a:p>
            <a:pPr indent="0" marL="0">
              <a:buNone/>
            </a:pPr>
            <a:r>
              <a:rPr lang="en-US" sz="1400" dirty="0">
                <a:solidFill>
                  <a:srgbClr val="2A1A3A"/>
                </a:solidFill>
                <a:latin typeface="Calibri" pitchFamily="34" charset="0"/>
                <a:ea typeface="Calibri" pitchFamily="34" charset="-122"/>
                <a:cs typeface="Calibri" pitchFamily="34" charset="-120"/>
              </a:rPr>
              <a:t>Capacitor 8</a:t>
            </a:r>
            <a:endParaRPr lang="en-US" sz="1400" dirty="0"/>
          </a:p>
        </p:txBody>
      </p:sp>
      <p:sp>
        <p:nvSpPr>
          <p:cNvPr id="13" name="Shape 11"/>
          <p:cNvSpPr/>
          <p:nvPr/>
        </p:nvSpPr>
        <p:spPr>
          <a:xfrm>
            <a:off x="777240" y="4370832"/>
            <a:ext cx="182880" cy="182880"/>
          </a:xfrm>
          <a:prstGeom prst="ellipse">
            <a:avLst/>
          </a:prstGeom>
          <a:solidFill>
            <a:srgbClr val="8163A3"/>
          </a:solidFill>
          <a:ln/>
        </p:spPr>
      </p:sp>
      <p:sp>
        <p:nvSpPr>
          <p:cNvPr id="14" name="Text 12"/>
          <p:cNvSpPr/>
          <p:nvPr/>
        </p:nvSpPr>
        <p:spPr>
          <a:xfrm>
            <a:off x="1097280" y="4206240"/>
            <a:ext cx="2697480" cy="502920"/>
          </a:xfrm>
          <a:prstGeom prst="rect">
            <a:avLst/>
          </a:prstGeom>
          <a:noFill/>
          <a:ln/>
        </p:spPr>
        <p:txBody>
          <a:bodyPr wrap="square" lIns="0" tIns="0" rIns="0" bIns="0" rtlCol="0" anchor="ctr"/>
          <a:lstStyle/>
          <a:p>
            <a:pPr indent="0" marL="0">
              <a:buNone/>
            </a:pPr>
            <a:r>
              <a:rPr lang="en-US" sz="1400" dirty="0">
                <a:solidFill>
                  <a:srgbClr val="2A1A3A"/>
                </a:solidFill>
                <a:latin typeface="Calibri" pitchFamily="34" charset="0"/>
                <a:ea typeface="Calibri" pitchFamily="34" charset="-122"/>
                <a:cs typeface="Calibri" pitchFamily="34" charset="-120"/>
              </a:rPr>
              <a:t>Web Audio API</a:t>
            </a:r>
            <a:endParaRPr lang="en-US" sz="1400" dirty="0"/>
          </a:p>
        </p:txBody>
      </p:sp>
      <p:sp>
        <p:nvSpPr>
          <p:cNvPr id="15" name="Shape 13"/>
          <p:cNvSpPr/>
          <p:nvPr/>
        </p:nvSpPr>
        <p:spPr>
          <a:xfrm>
            <a:off x="777240" y="4919472"/>
            <a:ext cx="182880" cy="182880"/>
          </a:xfrm>
          <a:prstGeom prst="ellipse">
            <a:avLst/>
          </a:prstGeom>
          <a:solidFill>
            <a:srgbClr val="8163A3"/>
          </a:solidFill>
          <a:ln/>
        </p:spPr>
      </p:sp>
      <p:sp>
        <p:nvSpPr>
          <p:cNvPr id="16" name="Text 14"/>
          <p:cNvSpPr/>
          <p:nvPr/>
        </p:nvSpPr>
        <p:spPr>
          <a:xfrm>
            <a:off x="1097280" y="4754880"/>
            <a:ext cx="2697480" cy="502920"/>
          </a:xfrm>
          <a:prstGeom prst="rect">
            <a:avLst/>
          </a:prstGeom>
          <a:noFill/>
          <a:ln/>
        </p:spPr>
        <p:txBody>
          <a:bodyPr wrap="square" lIns="0" tIns="0" rIns="0" bIns="0" rtlCol="0" anchor="ctr"/>
          <a:lstStyle/>
          <a:p>
            <a:pPr indent="0" marL="0">
              <a:buNone/>
            </a:pPr>
            <a:r>
              <a:rPr lang="en-US" sz="1400" dirty="0">
                <a:solidFill>
                  <a:srgbClr val="2A1A3A"/>
                </a:solidFill>
                <a:latin typeface="Calibri" pitchFamily="34" charset="0"/>
                <a:ea typeface="Calibri" pitchFamily="34" charset="-122"/>
                <a:cs typeface="Calibri" pitchFamily="34" charset="-120"/>
              </a:rPr>
              <a:t>IndexedDB</a:t>
            </a:r>
            <a:endParaRPr lang="en-US" sz="1400" dirty="0"/>
          </a:p>
        </p:txBody>
      </p:sp>
      <p:sp>
        <p:nvSpPr>
          <p:cNvPr id="17" name="Shape 15"/>
          <p:cNvSpPr/>
          <p:nvPr/>
        </p:nvSpPr>
        <p:spPr>
          <a:xfrm>
            <a:off x="4251960" y="1645920"/>
            <a:ext cx="3657600" cy="4023360"/>
          </a:xfrm>
          <a:prstGeom prst="rect">
            <a:avLst/>
          </a:prstGeom>
          <a:solidFill>
            <a:srgbClr val="FFFFFF"/>
          </a:solidFill>
          <a:ln w="12700">
            <a:solidFill>
              <a:srgbClr val="BDA2DA"/>
            </a:solidFill>
            <a:prstDash val="solid"/>
          </a:ln>
        </p:spPr>
      </p:sp>
      <p:sp>
        <p:nvSpPr>
          <p:cNvPr id="18" name="Shape 16"/>
          <p:cNvSpPr/>
          <p:nvPr/>
        </p:nvSpPr>
        <p:spPr>
          <a:xfrm>
            <a:off x="4251960" y="1645920"/>
            <a:ext cx="3657600" cy="640080"/>
          </a:xfrm>
          <a:prstGeom prst="rect">
            <a:avLst/>
          </a:prstGeom>
          <a:solidFill>
            <a:srgbClr val="4A2070"/>
          </a:solidFill>
          <a:ln/>
        </p:spPr>
      </p:sp>
      <p:sp>
        <p:nvSpPr>
          <p:cNvPr id="19" name="Text 17"/>
          <p:cNvSpPr/>
          <p:nvPr/>
        </p:nvSpPr>
        <p:spPr>
          <a:xfrm>
            <a:off x="4251960" y="1645920"/>
            <a:ext cx="3657600" cy="640080"/>
          </a:xfrm>
          <a:prstGeom prst="rect">
            <a:avLst/>
          </a:prstGeom>
          <a:noFill/>
          <a:ln/>
        </p:spPr>
        <p:txBody>
          <a:bodyPr wrap="square" lIns="0" tIns="0" rIns="0" bIns="0" rtlCol="0" anchor="ctr"/>
          <a:lstStyle/>
          <a:p>
            <a:pPr algn="ctr" indent="0" marL="0">
              <a:buNone/>
            </a:pPr>
            <a:r>
              <a:rPr lang="en-US" sz="1700" b="1" spc="500" kern="0" dirty="0">
                <a:solidFill>
                  <a:srgbClr val="FFFFFF"/>
                </a:solidFill>
                <a:latin typeface="Calibri" pitchFamily="34" charset="0"/>
                <a:ea typeface="Calibri" pitchFamily="34" charset="-122"/>
                <a:cs typeface="Calibri" pitchFamily="34" charset="-120"/>
              </a:rPr>
              <a:t>BACKEND</a:t>
            </a:r>
            <a:endParaRPr lang="en-US" sz="1700" dirty="0"/>
          </a:p>
        </p:txBody>
      </p:sp>
      <p:sp>
        <p:nvSpPr>
          <p:cNvPr id="20" name="Shape 18"/>
          <p:cNvSpPr/>
          <p:nvPr/>
        </p:nvSpPr>
        <p:spPr>
          <a:xfrm>
            <a:off x="4709160" y="2724912"/>
            <a:ext cx="182880" cy="182880"/>
          </a:xfrm>
          <a:prstGeom prst="ellipse">
            <a:avLst/>
          </a:prstGeom>
          <a:solidFill>
            <a:srgbClr val="8163A3"/>
          </a:solidFill>
          <a:ln/>
        </p:spPr>
      </p:sp>
      <p:sp>
        <p:nvSpPr>
          <p:cNvPr id="21" name="Text 19"/>
          <p:cNvSpPr/>
          <p:nvPr/>
        </p:nvSpPr>
        <p:spPr>
          <a:xfrm>
            <a:off x="5029200" y="2560320"/>
            <a:ext cx="2697480" cy="502920"/>
          </a:xfrm>
          <a:prstGeom prst="rect">
            <a:avLst/>
          </a:prstGeom>
          <a:noFill/>
          <a:ln/>
        </p:spPr>
        <p:txBody>
          <a:bodyPr wrap="square" lIns="0" tIns="0" rIns="0" bIns="0" rtlCol="0" anchor="ctr"/>
          <a:lstStyle/>
          <a:p>
            <a:pPr indent="0" marL="0">
              <a:buNone/>
            </a:pPr>
            <a:r>
              <a:rPr lang="en-US" sz="1400" dirty="0">
                <a:solidFill>
                  <a:srgbClr val="2A1A3A"/>
                </a:solidFill>
                <a:latin typeface="Calibri" pitchFamily="34" charset="0"/>
                <a:ea typeface="Calibri" pitchFamily="34" charset="-122"/>
                <a:cs typeface="Calibri" pitchFamily="34" charset="-120"/>
              </a:rPr>
              <a:t>Firebase Auth</a:t>
            </a:r>
            <a:endParaRPr lang="en-US" sz="1400" dirty="0"/>
          </a:p>
        </p:txBody>
      </p:sp>
      <p:sp>
        <p:nvSpPr>
          <p:cNvPr id="22" name="Shape 20"/>
          <p:cNvSpPr/>
          <p:nvPr/>
        </p:nvSpPr>
        <p:spPr>
          <a:xfrm>
            <a:off x="4709160" y="3273552"/>
            <a:ext cx="182880" cy="182880"/>
          </a:xfrm>
          <a:prstGeom prst="ellipse">
            <a:avLst/>
          </a:prstGeom>
          <a:solidFill>
            <a:srgbClr val="8163A3"/>
          </a:solidFill>
          <a:ln/>
        </p:spPr>
      </p:sp>
      <p:sp>
        <p:nvSpPr>
          <p:cNvPr id="23" name="Text 21"/>
          <p:cNvSpPr/>
          <p:nvPr/>
        </p:nvSpPr>
        <p:spPr>
          <a:xfrm>
            <a:off x="5029200" y="3108960"/>
            <a:ext cx="2697480" cy="502920"/>
          </a:xfrm>
          <a:prstGeom prst="rect">
            <a:avLst/>
          </a:prstGeom>
          <a:noFill/>
          <a:ln/>
        </p:spPr>
        <p:txBody>
          <a:bodyPr wrap="square" lIns="0" tIns="0" rIns="0" bIns="0" rtlCol="0" anchor="ctr"/>
          <a:lstStyle/>
          <a:p>
            <a:pPr indent="0" marL="0">
              <a:buNone/>
            </a:pPr>
            <a:r>
              <a:rPr lang="en-US" sz="1400" dirty="0">
                <a:solidFill>
                  <a:srgbClr val="2A1A3A"/>
                </a:solidFill>
                <a:latin typeface="Calibri" pitchFamily="34" charset="0"/>
                <a:ea typeface="Calibri" pitchFamily="34" charset="-122"/>
                <a:cs typeface="Calibri" pitchFamily="34" charset="-120"/>
              </a:rPr>
              <a:t>Firestore</a:t>
            </a:r>
            <a:endParaRPr lang="en-US" sz="1400" dirty="0"/>
          </a:p>
        </p:txBody>
      </p:sp>
      <p:sp>
        <p:nvSpPr>
          <p:cNvPr id="24" name="Shape 22"/>
          <p:cNvSpPr/>
          <p:nvPr/>
        </p:nvSpPr>
        <p:spPr>
          <a:xfrm>
            <a:off x="4709160" y="3822192"/>
            <a:ext cx="182880" cy="182880"/>
          </a:xfrm>
          <a:prstGeom prst="ellipse">
            <a:avLst/>
          </a:prstGeom>
          <a:solidFill>
            <a:srgbClr val="8163A3"/>
          </a:solidFill>
          <a:ln/>
        </p:spPr>
      </p:sp>
      <p:sp>
        <p:nvSpPr>
          <p:cNvPr id="25" name="Text 23"/>
          <p:cNvSpPr/>
          <p:nvPr/>
        </p:nvSpPr>
        <p:spPr>
          <a:xfrm>
            <a:off x="5029200" y="3657600"/>
            <a:ext cx="2697480" cy="502920"/>
          </a:xfrm>
          <a:prstGeom prst="rect">
            <a:avLst/>
          </a:prstGeom>
          <a:noFill/>
          <a:ln/>
        </p:spPr>
        <p:txBody>
          <a:bodyPr wrap="square" lIns="0" tIns="0" rIns="0" bIns="0" rtlCol="0" anchor="ctr"/>
          <a:lstStyle/>
          <a:p>
            <a:pPr indent="0" marL="0">
              <a:buNone/>
            </a:pPr>
            <a:r>
              <a:rPr lang="en-US" sz="1400" dirty="0">
                <a:solidFill>
                  <a:srgbClr val="2A1A3A"/>
                </a:solidFill>
                <a:latin typeface="Calibri" pitchFamily="34" charset="0"/>
                <a:ea typeface="Calibri" pitchFamily="34" charset="-122"/>
                <a:cs typeface="Calibri" pitchFamily="34" charset="-120"/>
              </a:rPr>
              <a:t>Cloud Functions v2</a:t>
            </a:r>
            <a:endParaRPr lang="en-US" sz="1400" dirty="0"/>
          </a:p>
        </p:txBody>
      </p:sp>
      <p:sp>
        <p:nvSpPr>
          <p:cNvPr id="26" name="Shape 24"/>
          <p:cNvSpPr/>
          <p:nvPr/>
        </p:nvSpPr>
        <p:spPr>
          <a:xfrm>
            <a:off x="4709160" y="4370832"/>
            <a:ext cx="182880" cy="182880"/>
          </a:xfrm>
          <a:prstGeom prst="ellipse">
            <a:avLst/>
          </a:prstGeom>
          <a:solidFill>
            <a:srgbClr val="8163A3"/>
          </a:solidFill>
          <a:ln/>
        </p:spPr>
      </p:sp>
      <p:sp>
        <p:nvSpPr>
          <p:cNvPr id="27" name="Text 25"/>
          <p:cNvSpPr/>
          <p:nvPr/>
        </p:nvSpPr>
        <p:spPr>
          <a:xfrm>
            <a:off x="5029200" y="4206240"/>
            <a:ext cx="2697480" cy="502920"/>
          </a:xfrm>
          <a:prstGeom prst="rect">
            <a:avLst/>
          </a:prstGeom>
          <a:noFill/>
          <a:ln/>
        </p:spPr>
        <p:txBody>
          <a:bodyPr wrap="square" lIns="0" tIns="0" rIns="0" bIns="0" rtlCol="0" anchor="ctr"/>
          <a:lstStyle/>
          <a:p>
            <a:pPr indent="0" marL="0">
              <a:buNone/>
            </a:pPr>
            <a:r>
              <a:rPr lang="en-US" sz="1400" dirty="0">
                <a:solidFill>
                  <a:srgbClr val="2A1A3A"/>
                </a:solidFill>
                <a:latin typeface="Calibri" pitchFamily="34" charset="0"/>
                <a:ea typeface="Calibri" pitchFamily="34" charset="-122"/>
                <a:cs typeface="Calibri" pitchFamily="34" charset="-120"/>
              </a:rPr>
              <a:t>Cloud Run</a:t>
            </a:r>
            <a:endParaRPr lang="en-US" sz="1400" dirty="0"/>
          </a:p>
        </p:txBody>
      </p:sp>
      <p:sp>
        <p:nvSpPr>
          <p:cNvPr id="28" name="Shape 26"/>
          <p:cNvSpPr/>
          <p:nvPr/>
        </p:nvSpPr>
        <p:spPr>
          <a:xfrm>
            <a:off x="4709160" y="4919472"/>
            <a:ext cx="182880" cy="182880"/>
          </a:xfrm>
          <a:prstGeom prst="ellipse">
            <a:avLst/>
          </a:prstGeom>
          <a:solidFill>
            <a:srgbClr val="8163A3"/>
          </a:solidFill>
          <a:ln/>
        </p:spPr>
      </p:sp>
      <p:sp>
        <p:nvSpPr>
          <p:cNvPr id="29" name="Text 27"/>
          <p:cNvSpPr/>
          <p:nvPr/>
        </p:nvSpPr>
        <p:spPr>
          <a:xfrm>
            <a:off x="5029200" y="4754880"/>
            <a:ext cx="2697480" cy="502920"/>
          </a:xfrm>
          <a:prstGeom prst="rect">
            <a:avLst/>
          </a:prstGeom>
          <a:noFill/>
          <a:ln/>
        </p:spPr>
        <p:txBody>
          <a:bodyPr wrap="square" lIns="0" tIns="0" rIns="0" bIns="0" rtlCol="0" anchor="ctr"/>
          <a:lstStyle/>
          <a:p>
            <a:pPr indent="0" marL="0">
              <a:buNone/>
            </a:pPr>
            <a:r>
              <a:rPr lang="en-US" sz="1400" dirty="0">
                <a:solidFill>
                  <a:srgbClr val="2A1A3A"/>
                </a:solidFill>
                <a:latin typeface="Calibri" pitchFamily="34" charset="0"/>
                <a:ea typeface="Calibri" pitchFamily="34" charset="-122"/>
                <a:cs typeface="Calibri" pitchFamily="34" charset="-120"/>
              </a:rPr>
              <a:t>Secret Manager</a:t>
            </a:r>
            <a:endParaRPr lang="en-US" sz="1400" dirty="0"/>
          </a:p>
        </p:txBody>
      </p:sp>
      <p:sp>
        <p:nvSpPr>
          <p:cNvPr id="30" name="Shape 28"/>
          <p:cNvSpPr/>
          <p:nvPr/>
        </p:nvSpPr>
        <p:spPr>
          <a:xfrm>
            <a:off x="8183880" y="1645920"/>
            <a:ext cx="3657600" cy="4023360"/>
          </a:xfrm>
          <a:prstGeom prst="rect">
            <a:avLst/>
          </a:prstGeom>
          <a:solidFill>
            <a:srgbClr val="FFFFFF"/>
          </a:solidFill>
          <a:ln w="12700">
            <a:solidFill>
              <a:srgbClr val="BDA2DA"/>
            </a:solidFill>
            <a:prstDash val="solid"/>
          </a:ln>
        </p:spPr>
      </p:sp>
      <p:sp>
        <p:nvSpPr>
          <p:cNvPr id="31" name="Shape 29"/>
          <p:cNvSpPr/>
          <p:nvPr/>
        </p:nvSpPr>
        <p:spPr>
          <a:xfrm>
            <a:off x="8183880" y="1645920"/>
            <a:ext cx="3657600" cy="640080"/>
          </a:xfrm>
          <a:prstGeom prst="rect">
            <a:avLst/>
          </a:prstGeom>
          <a:solidFill>
            <a:srgbClr val="4A2070"/>
          </a:solidFill>
          <a:ln/>
        </p:spPr>
      </p:sp>
      <p:sp>
        <p:nvSpPr>
          <p:cNvPr id="32" name="Text 30"/>
          <p:cNvSpPr/>
          <p:nvPr/>
        </p:nvSpPr>
        <p:spPr>
          <a:xfrm>
            <a:off x="8183880" y="1645920"/>
            <a:ext cx="3657600" cy="640080"/>
          </a:xfrm>
          <a:prstGeom prst="rect">
            <a:avLst/>
          </a:prstGeom>
          <a:noFill/>
          <a:ln/>
        </p:spPr>
        <p:txBody>
          <a:bodyPr wrap="square" lIns="0" tIns="0" rIns="0" bIns="0" rtlCol="0" anchor="ctr"/>
          <a:lstStyle/>
          <a:p>
            <a:pPr algn="ctr" indent="0" marL="0">
              <a:buNone/>
            </a:pPr>
            <a:r>
              <a:rPr lang="en-US" sz="1700" b="1" spc="500" kern="0" dirty="0">
                <a:solidFill>
                  <a:srgbClr val="FFFFFF"/>
                </a:solidFill>
                <a:latin typeface="Calibri" pitchFamily="34" charset="0"/>
                <a:ea typeface="Calibri" pitchFamily="34" charset="-122"/>
                <a:cs typeface="Calibri" pitchFamily="34" charset="-120"/>
              </a:rPr>
              <a:t>AI / ML</a:t>
            </a:r>
            <a:endParaRPr lang="en-US" sz="1700" dirty="0"/>
          </a:p>
        </p:txBody>
      </p:sp>
      <p:sp>
        <p:nvSpPr>
          <p:cNvPr id="33" name="Shape 31"/>
          <p:cNvSpPr/>
          <p:nvPr/>
        </p:nvSpPr>
        <p:spPr>
          <a:xfrm>
            <a:off x="8641080" y="2724912"/>
            <a:ext cx="182880" cy="182880"/>
          </a:xfrm>
          <a:prstGeom prst="ellipse">
            <a:avLst/>
          </a:prstGeom>
          <a:solidFill>
            <a:srgbClr val="8163A3"/>
          </a:solidFill>
          <a:ln/>
        </p:spPr>
      </p:sp>
      <p:sp>
        <p:nvSpPr>
          <p:cNvPr id="34" name="Text 32"/>
          <p:cNvSpPr/>
          <p:nvPr/>
        </p:nvSpPr>
        <p:spPr>
          <a:xfrm>
            <a:off x="8961120" y="2560320"/>
            <a:ext cx="2697480" cy="502920"/>
          </a:xfrm>
          <a:prstGeom prst="rect">
            <a:avLst/>
          </a:prstGeom>
          <a:noFill/>
          <a:ln/>
        </p:spPr>
        <p:txBody>
          <a:bodyPr wrap="square" lIns="0" tIns="0" rIns="0" bIns="0" rtlCol="0" anchor="ctr"/>
          <a:lstStyle/>
          <a:p>
            <a:pPr indent="0" marL="0">
              <a:buNone/>
            </a:pPr>
            <a:r>
              <a:rPr lang="en-US" sz="1400" dirty="0">
                <a:solidFill>
                  <a:srgbClr val="2A1A3A"/>
                </a:solidFill>
                <a:latin typeface="Calibri" pitchFamily="34" charset="0"/>
                <a:ea typeface="Calibri" pitchFamily="34" charset="-122"/>
                <a:cs typeface="Calibri" pitchFamily="34" charset="-120"/>
              </a:rPr>
              <a:t>Gemini 2.5 Flash</a:t>
            </a:r>
            <a:endParaRPr lang="en-US" sz="1400" dirty="0"/>
          </a:p>
        </p:txBody>
      </p:sp>
      <p:sp>
        <p:nvSpPr>
          <p:cNvPr id="35" name="Shape 33"/>
          <p:cNvSpPr/>
          <p:nvPr/>
        </p:nvSpPr>
        <p:spPr>
          <a:xfrm>
            <a:off x="8641080" y="3273552"/>
            <a:ext cx="182880" cy="182880"/>
          </a:xfrm>
          <a:prstGeom prst="ellipse">
            <a:avLst/>
          </a:prstGeom>
          <a:solidFill>
            <a:srgbClr val="8163A3"/>
          </a:solidFill>
          <a:ln/>
        </p:spPr>
      </p:sp>
      <p:sp>
        <p:nvSpPr>
          <p:cNvPr id="36" name="Text 34"/>
          <p:cNvSpPr/>
          <p:nvPr/>
        </p:nvSpPr>
        <p:spPr>
          <a:xfrm>
            <a:off x="8961120" y="3108960"/>
            <a:ext cx="2697480" cy="502920"/>
          </a:xfrm>
          <a:prstGeom prst="rect">
            <a:avLst/>
          </a:prstGeom>
          <a:noFill/>
          <a:ln/>
        </p:spPr>
        <p:txBody>
          <a:bodyPr wrap="square" lIns="0" tIns="0" rIns="0" bIns="0" rtlCol="0" anchor="ctr"/>
          <a:lstStyle/>
          <a:p>
            <a:pPr indent="0" marL="0">
              <a:buNone/>
            </a:pPr>
            <a:r>
              <a:rPr lang="en-US" sz="1400" dirty="0">
                <a:solidFill>
                  <a:srgbClr val="2A1A3A"/>
                </a:solidFill>
                <a:latin typeface="Calibri" pitchFamily="34" charset="0"/>
                <a:ea typeface="Calibri" pitchFamily="34" charset="-122"/>
                <a:cs typeface="Calibri" pitchFamily="34" charset="-120"/>
              </a:rPr>
              <a:t>Gemini 2.5 Pro</a:t>
            </a:r>
            <a:endParaRPr lang="en-US" sz="1400" dirty="0"/>
          </a:p>
        </p:txBody>
      </p:sp>
      <p:sp>
        <p:nvSpPr>
          <p:cNvPr id="37" name="Shape 35"/>
          <p:cNvSpPr/>
          <p:nvPr/>
        </p:nvSpPr>
        <p:spPr>
          <a:xfrm>
            <a:off x="8641080" y="3822192"/>
            <a:ext cx="182880" cy="182880"/>
          </a:xfrm>
          <a:prstGeom prst="ellipse">
            <a:avLst/>
          </a:prstGeom>
          <a:solidFill>
            <a:srgbClr val="8163A3"/>
          </a:solidFill>
          <a:ln/>
        </p:spPr>
      </p:sp>
      <p:sp>
        <p:nvSpPr>
          <p:cNvPr id="38" name="Text 36"/>
          <p:cNvSpPr/>
          <p:nvPr/>
        </p:nvSpPr>
        <p:spPr>
          <a:xfrm>
            <a:off x="8961120" y="3657600"/>
            <a:ext cx="2697480" cy="502920"/>
          </a:xfrm>
          <a:prstGeom prst="rect">
            <a:avLst/>
          </a:prstGeom>
          <a:noFill/>
          <a:ln/>
        </p:spPr>
        <p:txBody>
          <a:bodyPr wrap="square" lIns="0" tIns="0" rIns="0" bIns="0" rtlCol="0" anchor="ctr"/>
          <a:lstStyle/>
          <a:p>
            <a:pPr indent="0" marL="0">
              <a:buNone/>
            </a:pPr>
            <a:r>
              <a:rPr lang="en-US" sz="1400" dirty="0">
                <a:solidFill>
                  <a:srgbClr val="2A1A3A"/>
                </a:solidFill>
                <a:latin typeface="Calibri" pitchFamily="34" charset="0"/>
                <a:ea typeface="Calibri" pitchFamily="34" charset="-122"/>
                <a:cs typeface="Calibri" pitchFamily="34" charset="-120"/>
              </a:rPr>
              <a:t>Deepgram Nova-3</a:t>
            </a:r>
            <a:endParaRPr lang="en-US" sz="1400" dirty="0"/>
          </a:p>
        </p:txBody>
      </p:sp>
      <p:sp>
        <p:nvSpPr>
          <p:cNvPr id="39" name="Shape 37"/>
          <p:cNvSpPr/>
          <p:nvPr/>
        </p:nvSpPr>
        <p:spPr>
          <a:xfrm>
            <a:off x="8641080" y="4370832"/>
            <a:ext cx="182880" cy="182880"/>
          </a:xfrm>
          <a:prstGeom prst="ellipse">
            <a:avLst/>
          </a:prstGeom>
          <a:solidFill>
            <a:srgbClr val="8163A3"/>
          </a:solidFill>
          <a:ln/>
        </p:spPr>
      </p:sp>
      <p:sp>
        <p:nvSpPr>
          <p:cNvPr id="40" name="Text 38"/>
          <p:cNvSpPr/>
          <p:nvPr/>
        </p:nvSpPr>
        <p:spPr>
          <a:xfrm>
            <a:off x="8961120" y="4206240"/>
            <a:ext cx="2697480" cy="502920"/>
          </a:xfrm>
          <a:prstGeom prst="rect">
            <a:avLst/>
          </a:prstGeom>
          <a:noFill/>
          <a:ln/>
        </p:spPr>
        <p:txBody>
          <a:bodyPr wrap="square" lIns="0" tIns="0" rIns="0" bIns="0" rtlCol="0" anchor="ctr"/>
          <a:lstStyle/>
          <a:p>
            <a:pPr indent="0" marL="0">
              <a:buNone/>
            </a:pPr>
            <a:r>
              <a:rPr lang="en-US" sz="1400" dirty="0">
                <a:solidFill>
                  <a:srgbClr val="2A1A3A"/>
                </a:solidFill>
                <a:latin typeface="Calibri" pitchFamily="34" charset="0"/>
                <a:ea typeface="Calibri" pitchFamily="34" charset="-122"/>
                <a:cs typeface="Calibri" pitchFamily="34" charset="-120"/>
              </a:rPr>
              <a:t>Google Translate</a:t>
            </a:r>
            <a:endParaRPr lang="en-US" sz="1400" dirty="0"/>
          </a:p>
        </p:txBody>
      </p:sp>
      <p:sp>
        <p:nvSpPr>
          <p:cNvPr id="41" name="Shape 39"/>
          <p:cNvSpPr/>
          <p:nvPr/>
        </p:nvSpPr>
        <p:spPr>
          <a:xfrm>
            <a:off x="8641080" y="4919472"/>
            <a:ext cx="182880" cy="182880"/>
          </a:xfrm>
          <a:prstGeom prst="ellipse">
            <a:avLst/>
          </a:prstGeom>
          <a:solidFill>
            <a:srgbClr val="8163A3"/>
          </a:solidFill>
          <a:ln/>
        </p:spPr>
      </p:sp>
      <p:sp>
        <p:nvSpPr>
          <p:cNvPr id="42" name="Text 40"/>
          <p:cNvSpPr/>
          <p:nvPr/>
        </p:nvSpPr>
        <p:spPr>
          <a:xfrm>
            <a:off x="8961120" y="4754880"/>
            <a:ext cx="2697480" cy="502920"/>
          </a:xfrm>
          <a:prstGeom prst="rect">
            <a:avLst/>
          </a:prstGeom>
          <a:noFill/>
          <a:ln/>
        </p:spPr>
        <p:txBody>
          <a:bodyPr wrap="square" lIns="0" tIns="0" rIns="0" bIns="0" rtlCol="0" anchor="ctr"/>
          <a:lstStyle/>
          <a:p>
            <a:pPr indent="0" marL="0">
              <a:buNone/>
            </a:pPr>
            <a:r>
              <a:rPr lang="en-US" sz="1400" dirty="0">
                <a:solidFill>
                  <a:srgbClr val="2A1A3A"/>
                </a:solidFill>
                <a:latin typeface="Calibri" pitchFamily="34" charset="0"/>
                <a:ea typeface="Calibri" pitchFamily="34" charset="-122"/>
                <a:cs typeface="Calibri" pitchFamily="34" charset="-120"/>
              </a:rPr>
              <a:t>Custom router</a:t>
            </a:r>
            <a:endParaRPr lang="en-US" sz="1400" dirty="0"/>
          </a:p>
        </p:txBody>
      </p:sp>
      <p:sp>
        <p:nvSpPr>
          <p:cNvPr id="43" name="Text 41"/>
          <p:cNvSpPr/>
          <p:nvPr/>
        </p:nvSpPr>
        <p:spPr>
          <a:xfrm>
            <a:off x="365760" y="6492240"/>
            <a:ext cx="1828800" cy="274320"/>
          </a:xfrm>
          <a:prstGeom prst="rect">
            <a:avLst/>
          </a:prstGeom>
          <a:noFill/>
          <a:ln/>
        </p:spPr>
        <p:txBody>
          <a:bodyPr wrap="square" rtlCol="0" anchor="ctr"/>
          <a:lstStyle/>
          <a:p>
            <a:pPr indent="0" marL="0">
              <a:buNone/>
            </a:pPr>
            <a:r>
              <a:rPr lang="en-US" sz="1000" b="1" dirty="0">
                <a:solidFill>
                  <a:srgbClr val="666666"/>
                </a:solidFill>
                <a:latin typeface="Calibri" pitchFamily="34" charset="0"/>
                <a:ea typeface="Calibri" pitchFamily="34" charset="-122"/>
                <a:cs typeface="Calibri" pitchFamily="34" charset="-120"/>
              </a:rPr>
              <a:t>Sheen AI</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64240" cy="320040"/>
          </a:xfrm>
          <a:prstGeom prst="rect">
            <a:avLst/>
          </a:prstGeom>
          <a:noFill/>
          <a:ln/>
        </p:spPr>
        <p:txBody>
          <a:bodyPr wrap="square" rtlCol="0" anchor="ctr"/>
          <a:lstStyle/>
          <a:p>
            <a:pPr indent="0" marL="0">
              <a:buNone/>
            </a:pPr>
            <a:r>
              <a:rPr lang="en-US" sz="1300" b="1" spc="400" kern="0" dirty="0">
                <a:solidFill>
                  <a:srgbClr val="8163A3"/>
                </a:solidFill>
                <a:latin typeface="Calibri" pitchFamily="34" charset="0"/>
                <a:ea typeface="Calibri" pitchFamily="34" charset="-122"/>
                <a:cs typeface="Calibri" pitchFamily="34" charset="-120"/>
              </a:rPr>
              <a:t>DATA FLOW</a:t>
            </a:r>
            <a:endParaRPr lang="en-US" sz="1300" dirty="0"/>
          </a:p>
        </p:txBody>
      </p:sp>
      <p:sp>
        <p:nvSpPr>
          <p:cNvPr id="3" name="Text 1"/>
          <p:cNvSpPr/>
          <p:nvPr/>
        </p:nvSpPr>
        <p:spPr>
          <a:xfrm>
            <a:off x="548640" y="868680"/>
            <a:ext cx="11064240" cy="777240"/>
          </a:xfrm>
          <a:prstGeom prst="rect">
            <a:avLst/>
          </a:prstGeom>
          <a:noFill/>
          <a:ln/>
        </p:spPr>
        <p:txBody>
          <a:bodyPr wrap="square" lIns="0" tIns="0" rIns="0" bIns="0" rtlCol="0" anchor="ctr"/>
          <a:lstStyle/>
          <a:p>
            <a:pPr indent="0" marL="0">
              <a:buNone/>
            </a:pPr>
            <a:r>
              <a:rPr lang="en-US" sz="3200" b="1" dirty="0">
                <a:solidFill>
                  <a:srgbClr val="4A2070"/>
                </a:solidFill>
                <a:latin typeface="Calibri" pitchFamily="34" charset="0"/>
                <a:ea typeface="Calibri" pitchFamily="34" charset="-122"/>
                <a:cs typeface="Calibri" pitchFamily="34" charset="-120"/>
              </a:rPr>
              <a:t>How a Recording Becomes a Searchable Transcript</a:t>
            </a:r>
            <a:endParaRPr lang="en-US" sz="3200" dirty="0"/>
          </a:p>
        </p:txBody>
      </p:sp>
      <p:sp>
        <p:nvSpPr>
          <p:cNvPr id="4" name="Text 2"/>
          <p:cNvSpPr/>
          <p:nvPr/>
        </p:nvSpPr>
        <p:spPr>
          <a:xfrm>
            <a:off x="548640" y="1691640"/>
            <a:ext cx="2286000" cy="365760"/>
          </a:xfrm>
          <a:prstGeom prst="rect">
            <a:avLst/>
          </a:prstGeom>
          <a:noFill/>
          <a:ln/>
        </p:spPr>
        <p:txBody>
          <a:bodyPr wrap="square" lIns="0" tIns="0" rIns="0" bIns="0" rtlCol="0" anchor="ctr"/>
          <a:lstStyle/>
          <a:p>
            <a:pPr indent="0" marL="0">
              <a:buNone/>
            </a:pPr>
            <a:r>
              <a:rPr lang="en-US" sz="1600" b="1" spc="400" kern="0" dirty="0">
                <a:solidFill>
                  <a:srgbClr val="4A2070"/>
                </a:solidFill>
                <a:latin typeface="Calibri" pitchFamily="34" charset="0"/>
                <a:ea typeface="Calibri" pitchFamily="34" charset="-122"/>
                <a:cs typeface="Calibri" pitchFamily="34" charset="-120"/>
              </a:rPr>
              <a:t>Recording</a:t>
            </a:r>
            <a:endParaRPr lang="en-US" sz="1600" dirty="0"/>
          </a:p>
        </p:txBody>
      </p:sp>
      <p:sp>
        <p:nvSpPr>
          <p:cNvPr id="5" name="Shape 3"/>
          <p:cNvSpPr/>
          <p:nvPr/>
        </p:nvSpPr>
        <p:spPr>
          <a:xfrm>
            <a:off x="548640" y="2148840"/>
            <a:ext cx="2121408" cy="640080"/>
          </a:xfrm>
          <a:prstGeom prst="rect">
            <a:avLst/>
          </a:prstGeom>
          <a:solidFill>
            <a:srgbClr val="E6DFED"/>
          </a:solidFill>
          <a:ln w="12700">
            <a:solidFill>
              <a:srgbClr val="BDA2DA"/>
            </a:solidFill>
            <a:prstDash val="solid"/>
          </a:ln>
        </p:spPr>
      </p:sp>
      <p:sp>
        <p:nvSpPr>
          <p:cNvPr id="6" name="Text 4"/>
          <p:cNvSpPr/>
          <p:nvPr/>
        </p:nvSpPr>
        <p:spPr>
          <a:xfrm>
            <a:off x="685800" y="2148840"/>
            <a:ext cx="1847088" cy="640080"/>
          </a:xfrm>
          <a:prstGeom prst="rect">
            <a:avLst/>
          </a:prstGeom>
          <a:noFill/>
          <a:ln/>
        </p:spPr>
        <p:txBody>
          <a:bodyPr wrap="square" lIns="0" tIns="0" rIns="0" bIns="0" rtlCol="0" anchor="ctr"/>
          <a:lstStyle/>
          <a:p>
            <a:pPr indent="0" marL="0">
              <a:buNone/>
            </a:pPr>
            <a:r>
              <a:rPr lang="en-US" sz="1100" dirty="0">
                <a:solidFill>
                  <a:srgbClr val="2A1A3A"/>
                </a:solidFill>
                <a:latin typeface="Calibri" pitchFamily="34" charset="0"/>
                <a:ea typeface="Calibri" pitchFamily="34" charset="-122"/>
                <a:cs typeface="Calibri" pitchFamily="34" charset="-120"/>
              </a:rPr>
              <a:t>1. Mic captures Float32 PCM</a:t>
            </a:r>
            <a:endParaRPr lang="en-US" sz="1100" dirty="0"/>
          </a:p>
        </p:txBody>
      </p:sp>
      <p:sp>
        <p:nvSpPr>
          <p:cNvPr id="7" name="Shape 5"/>
          <p:cNvSpPr/>
          <p:nvPr/>
        </p:nvSpPr>
        <p:spPr>
          <a:xfrm>
            <a:off x="2761488" y="2148840"/>
            <a:ext cx="2121408" cy="640080"/>
          </a:xfrm>
          <a:prstGeom prst="rect">
            <a:avLst/>
          </a:prstGeom>
          <a:solidFill>
            <a:srgbClr val="E6DFED"/>
          </a:solidFill>
          <a:ln w="12700">
            <a:solidFill>
              <a:srgbClr val="BDA2DA"/>
            </a:solidFill>
            <a:prstDash val="solid"/>
          </a:ln>
        </p:spPr>
      </p:sp>
      <p:sp>
        <p:nvSpPr>
          <p:cNvPr id="8" name="Text 6"/>
          <p:cNvSpPr/>
          <p:nvPr/>
        </p:nvSpPr>
        <p:spPr>
          <a:xfrm>
            <a:off x="2898648" y="2148840"/>
            <a:ext cx="1847088" cy="640080"/>
          </a:xfrm>
          <a:prstGeom prst="rect">
            <a:avLst/>
          </a:prstGeom>
          <a:noFill/>
          <a:ln/>
        </p:spPr>
        <p:txBody>
          <a:bodyPr wrap="square" lIns="0" tIns="0" rIns="0" bIns="0" rtlCol="0" anchor="ctr"/>
          <a:lstStyle/>
          <a:p>
            <a:pPr indent="0" marL="0">
              <a:buNone/>
            </a:pPr>
            <a:r>
              <a:rPr lang="en-US" sz="1100" dirty="0">
                <a:solidFill>
                  <a:srgbClr val="2A1A3A"/>
                </a:solidFill>
                <a:latin typeface="Calibri" pitchFamily="34" charset="0"/>
                <a:ea typeface="Calibri" pitchFamily="34" charset="-122"/>
                <a:cs typeface="Calibri" pitchFamily="34" charset="-120"/>
              </a:rPr>
              <a:t>2. Downsample to 16 kHz</a:t>
            </a:r>
            <a:endParaRPr lang="en-US" sz="1100" dirty="0"/>
          </a:p>
        </p:txBody>
      </p:sp>
      <p:sp>
        <p:nvSpPr>
          <p:cNvPr id="9" name="Shape 7"/>
          <p:cNvSpPr/>
          <p:nvPr/>
        </p:nvSpPr>
        <p:spPr>
          <a:xfrm>
            <a:off x="4974336" y="2148840"/>
            <a:ext cx="2121408" cy="640080"/>
          </a:xfrm>
          <a:prstGeom prst="rect">
            <a:avLst/>
          </a:prstGeom>
          <a:solidFill>
            <a:srgbClr val="E6DFED"/>
          </a:solidFill>
          <a:ln w="12700">
            <a:solidFill>
              <a:srgbClr val="BDA2DA"/>
            </a:solidFill>
            <a:prstDash val="solid"/>
          </a:ln>
        </p:spPr>
      </p:sp>
      <p:sp>
        <p:nvSpPr>
          <p:cNvPr id="10" name="Text 8"/>
          <p:cNvSpPr/>
          <p:nvPr/>
        </p:nvSpPr>
        <p:spPr>
          <a:xfrm>
            <a:off x="5111496" y="2148840"/>
            <a:ext cx="1847088" cy="640080"/>
          </a:xfrm>
          <a:prstGeom prst="rect">
            <a:avLst/>
          </a:prstGeom>
          <a:noFill/>
          <a:ln/>
        </p:spPr>
        <p:txBody>
          <a:bodyPr wrap="square" lIns="0" tIns="0" rIns="0" bIns="0" rtlCol="0" anchor="ctr"/>
          <a:lstStyle/>
          <a:p>
            <a:pPr indent="0" marL="0">
              <a:buNone/>
            </a:pPr>
            <a:r>
              <a:rPr lang="en-US" sz="1100" dirty="0">
                <a:solidFill>
                  <a:srgbClr val="2A1A3A"/>
                </a:solidFill>
                <a:latin typeface="Calibri" pitchFamily="34" charset="0"/>
                <a:ea typeface="Calibri" pitchFamily="34" charset="-122"/>
                <a:cs typeface="Calibri" pitchFamily="34" charset="-120"/>
              </a:rPr>
              <a:t>3. WebSocket → Cloud Run</a:t>
            </a:r>
            <a:endParaRPr lang="en-US" sz="1100" dirty="0"/>
          </a:p>
        </p:txBody>
      </p:sp>
      <p:sp>
        <p:nvSpPr>
          <p:cNvPr id="11" name="Shape 9"/>
          <p:cNvSpPr/>
          <p:nvPr/>
        </p:nvSpPr>
        <p:spPr>
          <a:xfrm>
            <a:off x="7187184" y="2148840"/>
            <a:ext cx="2121408" cy="640080"/>
          </a:xfrm>
          <a:prstGeom prst="rect">
            <a:avLst/>
          </a:prstGeom>
          <a:solidFill>
            <a:srgbClr val="E6DFED"/>
          </a:solidFill>
          <a:ln w="12700">
            <a:solidFill>
              <a:srgbClr val="BDA2DA"/>
            </a:solidFill>
            <a:prstDash val="solid"/>
          </a:ln>
        </p:spPr>
      </p:sp>
      <p:sp>
        <p:nvSpPr>
          <p:cNvPr id="12" name="Text 10"/>
          <p:cNvSpPr/>
          <p:nvPr/>
        </p:nvSpPr>
        <p:spPr>
          <a:xfrm>
            <a:off x="7324344" y="2148840"/>
            <a:ext cx="1847088" cy="640080"/>
          </a:xfrm>
          <a:prstGeom prst="rect">
            <a:avLst/>
          </a:prstGeom>
          <a:noFill/>
          <a:ln/>
        </p:spPr>
        <p:txBody>
          <a:bodyPr wrap="square" lIns="0" tIns="0" rIns="0" bIns="0" rtlCol="0" anchor="ctr"/>
          <a:lstStyle/>
          <a:p>
            <a:pPr indent="0" marL="0">
              <a:buNone/>
            </a:pPr>
            <a:r>
              <a:rPr lang="en-US" sz="1100" dirty="0">
                <a:solidFill>
                  <a:srgbClr val="2A1A3A"/>
                </a:solidFill>
                <a:latin typeface="Calibri" pitchFamily="34" charset="0"/>
                <a:ea typeface="Calibri" pitchFamily="34" charset="-122"/>
                <a:cs typeface="Calibri" pitchFamily="34" charset="-120"/>
              </a:rPr>
              <a:t>4. Deepgram returns JSON</a:t>
            </a:r>
            <a:endParaRPr lang="en-US" sz="1100" dirty="0"/>
          </a:p>
        </p:txBody>
      </p:sp>
      <p:sp>
        <p:nvSpPr>
          <p:cNvPr id="13" name="Shape 11"/>
          <p:cNvSpPr/>
          <p:nvPr/>
        </p:nvSpPr>
        <p:spPr>
          <a:xfrm>
            <a:off x="9400032" y="2148840"/>
            <a:ext cx="2121408" cy="640080"/>
          </a:xfrm>
          <a:prstGeom prst="rect">
            <a:avLst/>
          </a:prstGeom>
          <a:solidFill>
            <a:srgbClr val="E6DFED"/>
          </a:solidFill>
          <a:ln w="12700">
            <a:solidFill>
              <a:srgbClr val="BDA2DA"/>
            </a:solidFill>
            <a:prstDash val="solid"/>
          </a:ln>
        </p:spPr>
      </p:sp>
      <p:sp>
        <p:nvSpPr>
          <p:cNvPr id="14" name="Text 12"/>
          <p:cNvSpPr/>
          <p:nvPr/>
        </p:nvSpPr>
        <p:spPr>
          <a:xfrm>
            <a:off x="9537192" y="2148840"/>
            <a:ext cx="1847088" cy="640080"/>
          </a:xfrm>
          <a:prstGeom prst="rect">
            <a:avLst/>
          </a:prstGeom>
          <a:noFill/>
          <a:ln/>
        </p:spPr>
        <p:txBody>
          <a:bodyPr wrap="square" lIns="0" tIns="0" rIns="0" bIns="0" rtlCol="0" anchor="ctr"/>
          <a:lstStyle/>
          <a:p>
            <a:pPr indent="0" marL="0">
              <a:buNone/>
            </a:pPr>
            <a:r>
              <a:rPr lang="en-US" sz="1100" dirty="0">
                <a:solidFill>
                  <a:srgbClr val="2A1A3A"/>
                </a:solidFill>
                <a:latin typeface="Calibri" pitchFamily="34" charset="0"/>
                <a:ea typeface="Calibri" pitchFamily="34" charset="-122"/>
                <a:cs typeface="Calibri" pitchFamily="34" charset="-120"/>
              </a:rPr>
              <a:t>5. Final fragments → Firestore</a:t>
            </a:r>
            <a:endParaRPr lang="en-US" sz="1100" dirty="0"/>
          </a:p>
        </p:txBody>
      </p:sp>
      <p:sp>
        <p:nvSpPr>
          <p:cNvPr id="15" name="Text 13"/>
          <p:cNvSpPr/>
          <p:nvPr/>
        </p:nvSpPr>
        <p:spPr>
          <a:xfrm>
            <a:off x="548640" y="3291840"/>
            <a:ext cx="2286000" cy="365760"/>
          </a:xfrm>
          <a:prstGeom prst="rect">
            <a:avLst/>
          </a:prstGeom>
          <a:noFill/>
          <a:ln/>
        </p:spPr>
        <p:txBody>
          <a:bodyPr wrap="square" lIns="0" tIns="0" rIns="0" bIns="0" rtlCol="0" anchor="ctr"/>
          <a:lstStyle/>
          <a:p>
            <a:pPr indent="0" marL="0">
              <a:buNone/>
            </a:pPr>
            <a:r>
              <a:rPr lang="en-US" sz="1600" b="1" spc="400" kern="0" dirty="0">
                <a:solidFill>
                  <a:srgbClr val="4A2070"/>
                </a:solidFill>
                <a:latin typeface="Calibri" pitchFamily="34" charset="0"/>
                <a:ea typeface="Calibri" pitchFamily="34" charset="-122"/>
                <a:cs typeface="Calibri" pitchFamily="34" charset="-120"/>
              </a:rPr>
              <a:t>AI Chat</a:t>
            </a:r>
            <a:endParaRPr lang="en-US" sz="1600" dirty="0"/>
          </a:p>
        </p:txBody>
      </p:sp>
      <p:sp>
        <p:nvSpPr>
          <p:cNvPr id="16" name="Shape 14"/>
          <p:cNvSpPr/>
          <p:nvPr/>
        </p:nvSpPr>
        <p:spPr>
          <a:xfrm>
            <a:off x="548640" y="3749040"/>
            <a:ext cx="2121408" cy="640080"/>
          </a:xfrm>
          <a:prstGeom prst="rect">
            <a:avLst/>
          </a:prstGeom>
          <a:solidFill>
            <a:srgbClr val="4A2070"/>
          </a:solidFill>
          <a:ln/>
        </p:spPr>
      </p:sp>
      <p:sp>
        <p:nvSpPr>
          <p:cNvPr id="17" name="Text 15"/>
          <p:cNvSpPr/>
          <p:nvPr/>
        </p:nvSpPr>
        <p:spPr>
          <a:xfrm>
            <a:off x="685800" y="3749040"/>
            <a:ext cx="1847088" cy="64008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1. User asks question</a:t>
            </a:r>
            <a:endParaRPr lang="en-US" sz="1100" dirty="0"/>
          </a:p>
        </p:txBody>
      </p:sp>
      <p:sp>
        <p:nvSpPr>
          <p:cNvPr id="18" name="Shape 16"/>
          <p:cNvSpPr/>
          <p:nvPr/>
        </p:nvSpPr>
        <p:spPr>
          <a:xfrm>
            <a:off x="2761488" y="3749040"/>
            <a:ext cx="2121408" cy="640080"/>
          </a:xfrm>
          <a:prstGeom prst="rect">
            <a:avLst/>
          </a:prstGeom>
          <a:solidFill>
            <a:srgbClr val="4A2070"/>
          </a:solidFill>
          <a:ln/>
        </p:spPr>
      </p:sp>
      <p:sp>
        <p:nvSpPr>
          <p:cNvPr id="19" name="Text 17"/>
          <p:cNvSpPr/>
          <p:nvPr/>
        </p:nvSpPr>
        <p:spPr>
          <a:xfrm>
            <a:off x="2898648" y="3749040"/>
            <a:ext cx="1847088" cy="64008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 aiChat Cloud Function</a:t>
            </a:r>
            <a:endParaRPr lang="en-US" sz="1100" dirty="0"/>
          </a:p>
        </p:txBody>
      </p:sp>
      <p:sp>
        <p:nvSpPr>
          <p:cNvPr id="20" name="Shape 18"/>
          <p:cNvSpPr/>
          <p:nvPr/>
        </p:nvSpPr>
        <p:spPr>
          <a:xfrm>
            <a:off x="4974336" y="3749040"/>
            <a:ext cx="2121408" cy="640080"/>
          </a:xfrm>
          <a:prstGeom prst="rect">
            <a:avLst/>
          </a:prstGeom>
          <a:solidFill>
            <a:srgbClr val="4A2070"/>
          </a:solidFill>
          <a:ln/>
        </p:spPr>
      </p:sp>
      <p:sp>
        <p:nvSpPr>
          <p:cNvPr id="21" name="Text 19"/>
          <p:cNvSpPr/>
          <p:nvPr/>
        </p:nvSpPr>
        <p:spPr>
          <a:xfrm>
            <a:off x="5111496" y="3749040"/>
            <a:ext cx="1847088" cy="64008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3. Load transcript context</a:t>
            </a:r>
            <a:endParaRPr lang="en-US" sz="1100" dirty="0"/>
          </a:p>
        </p:txBody>
      </p:sp>
      <p:sp>
        <p:nvSpPr>
          <p:cNvPr id="22" name="Shape 20"/>
          <p:cNvSpPr/>
          <p:nvPr/>
        </p:nvSpPr>
        <p:spPr>
          <a:xfrm>
            <a:off x="7187184" y="3749040"/>
            <a:ext cx="2121408" cy="640080"/>
          </a:xfrm>
          <a:prstGeom prst="rect">
            <a:avLst/>
          </a:prstGeom>
          <a:solidFill>
            <a:srgbClr val="4A2070"/>
          </a:solidFill>
          <a:ln/>
        </p:spPr>
      </p:sp>
      <p:sp>
        <p:nvSpPr>
          <p:cNvPr id="23" name="Text 21"/>
          <p:cNvSpPr/>
          <p:nvPr/>
        </p:nvSpPr>
        <p:spPr>
          <a:xfrm>
            <a:off x="7324344" y="3749040"/>
            <a:ext cx="1847088" cy="64008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4. Router → Flash or Pro</a:t>
            </a:r>
            <a:endParaRPr lang="en-US" sz="1100" dirty="0"/>
          </a:p>
        </p:txBody>
      </p:sp>
      <p:sp>
        <p:nvSpPr>
          <p:cNvPr id="24" name="Shape 22"/>
          <p:cNvSpPr/>
          <p:nvPr/>
        </p:nvSpPr>
        <p:spPr>
          <a:xfrm>
            <a:off x="9400032" y="3749040"/>
            <a:ext cx="2121408" cy="640080"/>
          </a:xfrm>
          <a:prstGeom prst="rect">
            <a:avLst/>
          </a:prstGeom>
          <a:solidFill>
            <a:srgbClr val="4A2070"/>
          </a:solidFill>
          <a:ln/>
        </p:spPr>
      </p:sp>
      <p:sp>
        <p:nvSpPr>
          <p:cNvPr id="25" name="Text 23"/>
          <p:cNvSpPr/>
          <p:nvPr/>
        </p:nvSpPr>
        <p:spPr>
          <a:xfrm>
            <a:off x="9537192" y="3749040"/>
            <a:ext cx="1847088" cy="64008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5. Gemini answer + cite [MM:SS]</a:t>
            </a:r>
            <a:endParaRPr lang="en-US" sz="1100" dirty="0"/>
          </a:p>
        </p:txBody>
      </p:sp>
      <p:sp>
        <p:nvSpPr>
          <p:cNvPr id="26" name="Shape 24"/>
          <p:cNvSpPr/>
          <p:nvPr/>
        </p:nvSpPr>
        <p:spPr>
          <a:xfrm>
            <a:off x="548640" y="5029200"/>
            <a:ext cx="11064240" cy="1188720"/>
          </a:xfrm>
          <a:prstGeom prst="rect">
            <a:avLst/>
          </a:prstGeom>
          <a:solidFill>
            <a:srgbClr val="F2EDF7"/>
          </a:solidFill>
          <a:ln w="12700">
            <a:solidFill>
              <a:srgbClr val="BDA2DA"/>
            </a:solidFill>
            <a:prstDash val="solid"/>
          </a:ln>
        </p:spPr>
      </p:sp>
      <p:sp>
        <p:nvSpPr>
          <p:cNvPr id="27" name="Text 25"/>
          <p:cNvSpPr/>
          <p:nvPr/>
        </p:nvSpPr>
        <p:spPr>
          <a:xfrm>
            <a:off x="822960" y="5120640"/>
            <a:ext cx="10515600" cy="1005840"/>
          </a:xfrm>
          <a:prstGeom prst="rect">
            <a:avLst/>
          </a:prstGeom>
          <a:noFill/>
          <a:ln/>
        </p:spPr>
        <p:txBody>
          <a:bodyPr wrap="square" lIns="0" tIns="0" rIns="0" bIns="0" rtlCol="0" anchor="ctr"/>
          <a:lstStyle/>
          <a:p>
            <a:pPr indent="0" marL="0">
              <a:spcAft>
                <a:spcPts val="400"/>
              </a:spcAft>
              <a:buNone/>
            </a:pPr>
            <a:r>
              <a:rPr lang="en-US" sz="1300" i="1" dirty="0">
                <a:solidFill>
                  <a:srgbClr val="2A1A3A"/>
                </a:solidFill>
                <a:latin typeface="Calibri" pitchFamily="34" charset="0"/>
                <a:ea typeface="Calibri" pitchFamily="34" charset="-122"/>
                <a:cs typeface="Calibri" pitchFamily="34" charset="-120"/>
              </a:rPr>
              <a:t>Audio buffer is encoded to WAV at stop and saved to IndexedDB on the device — never uploaded.</a:t>
            </a:r>
            <a:endParaRPr lang="en-US" sz="1300" dirty="0"/>
          </a:p>
          <a:p>
            <a:pPr indent="0" marL="0">
              <a:spcAft>
                <a:spcPts val="400"/>
              </a:spcAft>
              <a:buNone/>
            </a:pPr>
            <a:r>
              <a:rPr lang="en-US" sz="1300" i="1" dirty="0">
                <a:solidFill>
                  <a:srgbClr val="2A1A3A"/>
                </a:solidFill>
                <a:latin typeface="Calibri" pitchFamily="34" charset="0"/>
                <a:ea typeface="Calibri" pitchFamily="34" charset="-122"/>
                <a:cs typeface="Calibri" pitchFamily="34" charset="-120"/>
              </a:rPr>
              <a:t>Firestore Security Rules restrict every collection to the authenticated owner. The tier field is server-only.</a:t>
            </a:r>
            <a:endParaRPr lang="en-US" sz="1300" dirty="0"/>
          </a:p>
        </p:txBody>
      </p:sp>
      <p:sp>
        <p:nvSpPr>
          <p:cNvPr id="28" name="Text 26"/>
          <p:cNvSpPr/>
          <p:nvPr/>
        </p:nvSpPr>
        <p:spPr>
          <a:xfrm>
            <a:off x="365760" y="6492240"/>
            <a:ext cx="1828800" cy="274320"/>
          </a:xfrm>
          <a:prstGeom prst="rect">
            <a:avLst/>
          </a:prstGeom>
          <a:noFill/>
          <a:ln/>
        </p:spPr>
        <p:txBody>
          <a:bodyPr wrap="square" rtlCol="0" anchor="ctr"/>
          <a:lstStyle/>
          <a:p>
            <a:pPr indent="0" marL="0">
              <a:buNone/>
            </a:pPr>
            <a:r>
              <a:rPr lang="en-US" sz="1000" b="1" dirty="0">
                <a:solidFill>
                  <a:srgbClr val="666666"/>
                </a:solidFill>
                <a:latin typeface="Calibri" pitchFamily="34" charset="0"/>
                <a:ea typeface="Calibri" pitchFamily="34" charset="-122"/>
                <a:cs typeface="Calibri" pitchFamily="34" charset="-120"/>
              </a:rPr>
              <a:t>Sheen AI</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4A2070"/>
        </a:solidFill>
      </p:bgPr>
    </p:bg>
    <p:spTree>
      <p:nvGrpSpPr>
        <p:cNvPr id="1" name=""/>
        <p:cNvGrpSpPr/>
        <p:nvPr/>
      </p:nvGrpSpPr>
      <p:grpSpPr>
        <a:xfrm>
          <a:off x="0" y="0"/>
          <a:ext cx="0" cy="0"/>
          <a:chOff x="0" y="0"/>
          <a:chExt cx="0" cy="0"/>
        </a:xfrm>
      </p:grpSpPr>
      <p:sp>
        <p:nvSpPr>
          <p:cNvPr id="2" name="Shape 0"/>
          <p:cNvSpPr/>
          <p:nvPr/>
        </p:nvSpPr>
        <p:spPr>
          <a:xfrm>
            <a:off x="11996928" y="0"/>
            <a:ext cx="164592" cy="6858000"/>
          </a:xfrm>
          <a:prstGeom prst="rect">
            <a:avLst/>
          </a:prstGeom>
          <a:solidFill>
            <a:srgbClr val="BDA2DA"/>
          </a:solidFill>
          <a:ln/>
        </p:spPr>
      </p:sp>
      <p:sp>
        <p:nvSpPr>
          <p:cNvPr id="3" name="Text 1"/>
          <p:cNvSpPr/>
          <p:nvPr/>
        </p:nvSpPr>
        <p:spPr>
          <a:xfrm>
            <a:off x="914400" y="2560320"/>
            <a:ext cx="10332720" cy="457200"/>
          </a:xfrm>
          <a:prstGeom prst="rect">
            <a:avLst/>
          </a:prstGeom>
          <a:noFill/>
          <a:ln/>
        </p:spPr>
        <p:txBody>
          <a:bodyPr wrap="square" lIns="0" tIns="0" rIns="0" bIns="0" rtlCol="0" anchor="ctr"/>
          <a:lstStyle/>
          <a:p>
            <a:pPr algn="ctr" indent="0" marL="0">
              <a:buNone/>
            </a:pPr>
            <a:r>
              <a:rPr lang="en-US" sz="1800" b="1" spc="600" kern="0" dirty="0">
                <a:solidFill>
                  <a:srgbClr val="BDA2DA"/>
                </a:solidFill>
                <a:latin typeface="Calibri" pitchFamily="34" charset="0"/>
                <a:ea typeface="Calibri" pitchFamily="34" charset="-122"/>
                <a:cs typeface="Calibri" pitchFamily="34" charset="-120"/>
              </a:rPr>
              <a:t>SECTION 02</a:t>
            </a:r>
            <a:endParaRPr lang="en-US" sz="1800" dirty="0"/>
          </a:p>
        </p:txBody>
      </p:sp>
      <p:sp>
        <p:nvSpPr>
          <p:cNvPr id="4" name="Text 2"/>
          <p:cNvSpPr/>
          <p:nvPr/>
        </p:nvSpPr>
        <p:spPr>
          <a:xfrm>
            <a:off x="914400" y="3108960"/>
            <a:ext cx="10332720" cy="1280160"/>
          </a:xfrm>
          <a:prstGeom prst="rect">
            <a:avLst/>
          </a:prstGeom>
          <a:noFill/>
          <a:ln/>
        </p:spPr>
        <p:txBody>
          <a:bodyPr wrap="square" lIns="0" tIns="0" rIns="0" bIns="0" rtlCol="0" anchor="ctr"/>
          <a:lstStyle/>
          <a:p>
            <a:pPr algn="ctr" indent="0" marL="0">
              <a:buNone/>
            </a:pPr>
            <a:r>
              <a:rPr lang="en-US" sz="6400" b="1" dirty="0">
                <a:solidFill>
                  <a:srgbClr val="FFFFFF"/>
                </a:solidFill>
                <a:latin typeface="Calibri" pitchFamily="34" charset="0"/>
                <a:ea typeface="Calibri" pitchFamily="34" charset="-122"/>
                <a:cs typeface="Calibri" pitchFamily="34" charset="-120"/>
              </a:rPr>
              <a:t>Pricing &amp; Unit Economics</a:t>
            </a:r>
            <a:endParaRPr lang="en-US" sz="6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EDF7"/>
        </a:solidFill>
      </p:bgPr>
    </p:bg>
    <p:spTree>
      <p:nvGrpSpPr>
        <p:cNvPr id="1" name=""/>
        <p:cNvGrpSpPr/>
        <p:nvPr/>
      </p:nvGrpSpPr>
      <p:grpSpPr>
        <a:xfrm>
          <a:off x="0" y="0"/>
          <a:ext cx="0" cy="0"/>
          <a:chOff x="0" y="0"/>
          <a:chExt cx="0" cy="0"/>
        </a:xfrm>
      </p:grpSpPr>
      <p:sp>
        <p:nvSpPr>
          <p:cNvPr id="2" name="Text 0"/>
          <p:cNvSpPr/>
          <p:nvPr/>
        </p:nvSpPr>
        <p:spPr>
          <a:xfrm>
            <a:off x="548640" y="502920"/>
            <a:ext cx="11064240" cy="320040"/>
          </a:xfrm>
          <a:prstGeom prst="rect">
            <a:avLst/>
          </a:prstGeom>
          <a:noFill/>
          <a:ln/>
        </p:spPr>
        <p:txBody>
          <a:bodyPr wrap="square" rtlCol="0" anchor="ctr"/>
          <a:lstStyle/>
          <a:p>
            <a:pPr indent="0" marL="0">
              <a:buNone/>
            </a:pPr>
            <a:r>
              <a:rPr lang="en-US" sz="1300" b="1" spc="400" kern="0" dirty="0">
                <a:solidFill>
                  <a:srgbClr val="8163A3"/>
                </a:solidFill>
                <a:latin typeface="Calibri" pitchFamily="34" charset="0"/>
                <a:ea typeface="Calibri" pitchFamily="34" charset="-122"/>
                <a:cs typeface="Calibri" pitchFamily="34" charset="-120"/>
              </a:rPr>
              <a:t>PRICING</a:t>
            </a:r>
            <a:endParaRPr lang="en-US" sz="1300" dirty="0"/>
          </a:p>
        </p:txBody>
      </p:sp>
      <p:sp>
        <p:nvSpPr>
          <p:cNvPr id="3" name="Text 1"/>
          <p:cNvSpPr/>
          <p:nvPr/>
        </p:nvSpPr>
        <p:spPr>
          <a:xfrm>
            <a:off x="548640" y="868680"/>
            <a:ext cx="11064240" cy="777240"/>
          </a:xfrm>
          <a:prstGeom prst="rect">
            <a:avLst/>
          </a:prstGeom>
          <a:noFill/>
          <a:ln/>
        </p:spPr>
        <p:txBody>
          <a:bodyPr wrap="square" lIns="0" tIns="0" rIns="0" bIns="0" rtlCol="0" anchor="ctr"/>
          <a:lstStyle/>
          <a:p>
            <a:pPr indent="0" marL="0">
              <a:buNone/>
            </a:pPr>
            <a:r>
              <a:rPr lang="en-US" sz="3200" b="1" dirty="0">
                <a:solidFill>
                  <a:srgbClr val="4A2070"/>
                </a:solidFill>
                <a:latin typeface="Calibri" pitchFamily="34" charset="0"/>
                <a:ea typeface="Calibri" pitchFamily="34" charset="-122"/>
                <a:cs typeface="Calibri" pitchFamily="34" charset="-120"/>
              </a:rPr>
              <a:t>Four Tiers, Clear Upgrade Path</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1554480"/>
                <a:gridCol w="1463040"/>
                <a:gridCol w="2011680"/>
                <a:gridCol w="2377440"/>
                <a:gridCol w="3657600"/>
              </a:tblGrid>
              <a:tr h="54864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Tier</a:t>
                      </a:r>
                      <a:endParaRPr lang="en-US" sz="13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4A2070"/>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Monthly</a:t>
                      </a:r>
                      <a:endParaRPr lang="en-US" sz="13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4A2070"/>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Recording</a:t>
                      </a:r>
                      <a:endParaRPr lang="en-US" sz="13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4A2070"/>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AI Quota</a:t>
                      </a:r>
                      <a:endParaRPr lang="en-US" sz="13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4A2070"/>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Models</a:t>
                      </a:r>
                      <a:endParaRPr lang="en-US" sz="13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4A2070"/>
                    </a:solidFill>
                  </a:tcPr>
                </a:tc>
              </a:tr>
              <a:tr h="548640">
                <a:tc>
                  <a:txBody>
                    <a:bodyPr/>
                    <a:lstStyle/>
                    <a:p>
                      <a:pPr algn="l" indent="0" marL="0">
                        <a:buNone/>
                      </a:pPr>
                      <a:r>
                        <a:rPr lang="en-US" sz="1200" b="1" dirty="0">
                          <a:solidFill>
                            <a:srgbClr val="2A1A3A"/>
                          </a:solidFill>
                          <a:latin typeface="Calibri" pitchFamily="34" charset="0"/>
                          <a:ea typeface="Calibri" pitchFamily="34" charset="-122"/>
                          <a:cs typeface="Calibri" pitchFamily="34" charset="-120"/>
                        </a:rPr>
                        <a:t>Free</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1 hour</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Locked (visible CTA)</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r>
              <a:tr h="548640">
                <a:tc>
                  <a:txBody>
                    <a:bodyPr/>
                    <a:lstStyle/>
                    <a:p>
                      <a:pPr algn="l" indent="0" marL="0">
                        <a:buNone/>
                      </a:pPr>
                      <a:r>
                        <a:rPr lang="en-US" sz="1200" b="1" dirty="0">
                          <a:solidFill>
                            <a:srgbClr val="2A1A3A"/>
                          </a:solidFill>
                          <a:latin typeface="Calibri" pitchFamily="34" charset="0"/>
                          <a:ea typeface="Calibri" pitchFamily="34" charset="-122"/>
                          <a:cs typeface="Calibri" pitchFamily="34" charset="-120"/>
                        </a:rPr>
                        <a:t>Advance</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$9.99</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6 hours</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50 queries</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Gemini Flash</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r>
              <a:tr h="548640">
                <a:tc>
                  <a:txBody>
                    <a:bodyPr/>
                    <a:lstStyle/>
                    <a:p>
                      <a:pPr algn="l" indent="0" marL="0">
                        <a:buNone/>
                      </a:pPr>
                      <a:r>
                        <a:rPr lang="en-US" sz="1200" b="1" dirty="0">
                          <a:solidFill>
                            <a:srgbClr val="2A1A3A"/>
                          </a:solidFill>
                          <a:latin typeface="Calibri" pitchFamily="34" charset="0"/>
                          <a:ea typeface="Calibri" pitchFamily="34" charset="-122"/>
                          <a:cs typeface="Calibri" pitchFamily="34" charset="-120"/>
                        </a:rPr>
                        <a:t>Premium</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$19.99</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20 hours</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200 queries</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Flash + Pro auto-route</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r>
              <a:tr h="548640">
                <a:tc>
                  <a:txBody>
                    <a:bodyPr/>
                    <a:lstStyle/>
                    <a:p>
                      <a:pPr algn="l" indent="0" marL="0">
                        <a:buNone/>
                      </a:pPr>
                      <a:r>
                        <a:rPr lang="en-US" sz="1200" b="1" dirty="0">
                          <a:solidFill>
                            <a:srgbClr val="2A1A3A"/>
                          </a:solidFill>
                          <a:latin typeface="Calibri" pitchFamily="34" charset="0"/>
                          <a:ea typeface="Calibri" pitchFamily="34" charset="-122"/>
                          <a:cs typeface="Calibri" pitchFamily="34" charset="-120"/>
                        </a:rPr>
                        <a:t>Professional</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$49.99</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80 hours</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800 queries</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Flash + Pro priority</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212080"/>
            <a:ext cx="11064240" cy="1097280"/>
          </a:xfrm>
          <a:prstGeom prst="rect">
            <a:avLst/>
          </a:prstGeom>
          <a:solidFill>
            <a:srgbClr val="4A2070"/>
          </a:solidFill>
          <a:ln/>
        </p:spPr>
      </p:sp>
      <p:sp>
        <p:nvSpPr>
          <p:cNvPr id="6" name="Text 3"/>
          <p:cNvSpPr/>
          <p:nvPr/>
        </p:nvSpPr>
        <p:spPr>
          <a:xfrm>
            <a:off x="914400" y="5212080"/>
            <a:ext cx="10332720" cy="1097280"/>
          </a:xfrm>
          <a:prstGeom prst="rect">
            <a:avLst/>
          </a:prstGeom>
          <a:noFill/>
          <a:ln/>
        </p:spPr>
        <p:txBody>
          <a:bodyPr wrap="square" lIns="0" tIns="0" rIns="0" bIns="0" rtlCol="0" anchor="ctr"/>
          <a:lstStyle/>
          <a:p>
            <a:pPr algn="ctr" indent="0" marL="0">
              <a:buNone/>
            </a:pPr>
            <a:r>
              <a:rPr lang="en-US" sz="1400" i="1" dirty="0">
                <a:solidFill>
                  <a:srgbClr val="FFFFFF"/>
                </a:solidFill>
                <a:latin typeface="Calibri" pitchFamily="34" charset="0"/>
                <a:ea typeface="Calibri" pitchFamily="34" charset="-122"/>
                <a:cs typeface="Calibri" pitchFamily="34" charset="-120"/>
              </a:rPr>
              <a:t>Otter $16.99 / Notta $14.99 / Fireflies $10 — we undercut at every tier while shipping live translation built-in.</a:t>
            </a:r>
            <a:endParaRPr lang="en-US" sz="1400" dirty="0"/>
          </a:p>
        </p:txBody>
      </p:sp>
      <p:sp>
        <p:nvSpPr>
          <p:cNvPr id="7" name="Text 4"/>
          <p:cNvSpPr/>
          <p:nvPr/>
        </p:nvSpPr>
        <p:spPr>
          <a:xfrm>
            <a:off x="365760" y="6492240"/>
            <a:ext cx="1828800" cy="274320"/>
          </a:xfrm>
          <a:prstGeom prst="rect">
            <a:avLst/>
          </a:prstGeom>
          <a:noFill/>
          <a:ln/>
        </p:spPr>
        <p:txBody>
          <a:bodyPr wrap="square" rtlCol="0" anchor="ctr"/>
          <a:lstStyle/>
          <a:p>
            <a:pPr indent="0" marL="0">
              <a:buNone/>
            </a:pPr>
            <a:r>
              <a:rPr lang="en-US" sz="1000" b="1" dirty="0">
                <a:solidFill>
                  <a:srgbClr val="666666"/>
                </a:solidFill>
                <a:latin typeface="Calibri" pitchFamily="34" charset="0"/>
                <a:ea typeface="Calibri" pitchFamily="34" charset="-122"/>
                <a:cs typeface="Calibri" pitchFamily="34" charset="-120"/>
              </a:rPr>
              <a:t>Sheen AI</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EDF7"/>
        </a:solidFill>
      </p:bgPr>
    </p:bg>
    <p:spTree>
      <p:nvGrpSpPr>
        <p:cNvPr id="1" name=""/>
        <p:cNvGrpSpPr/>
        <p:nvPr/>
      </p:nvGrpSpPr>
      <p:grpSpPr>
        <a:xfrm>
          <a:off x="0" y="0"/>
          <a:ext cx="0" cy="0"/>
          <a:chOff x="0" y="0"/>
          <a:chExt cx="0" cy="0"/>
        </a:xfrm>
      </p:grpSpPr>
      <p:sp>
        <p:nvSpPr>
          <p:cNvPr id="2" name="Text 0"/>
          <p:cNvSpPr/>
          <p:nvPr/>
        </p:nvSpPr>
        <p:spPr>
          <a:xfrm>
            <a:off x="548640" y="502920"/>
            <a:ext cx="11064240" cy="320040"/>
          </a:xfrm>
          <a:prstGeom prst="rect">
            <a:avLst/>
          </a:prstGeom>
          <a:noFill/>
          <a:ln/>
        </p:spPr>
        <p:txBody>
          <a:bodyPr wrap="square" rtlCol="0" anchor="ctr"/>
          <a:lstStyle/>
          <a:p>
            <a:pPr indent="0" marL="0">
              <a:buNone/>
            </a:pPr>
            <a:r>
              <a:rPr lang="en-US" sz="1300" b="1" spc="400" kern="0" dirty="0">
                <a:solidFill>
                  <a:srgbClr val="8163A3"/>
                </a:solidFill>
                <a:latin typeface="Calibri" pitchFamily="34" charset="0"/>
                <a:ea typeface="Calibri" pitchFamily="34" charset="-122"/>
                <a:cs typeface="Calibri" pitchFamily="34" charset="-120"/>
              </a:rPr>
              <a:t>PRICING</a:t>
            </a:r>
            <a:endParaRPr lang="en-US" sz="1300" dirty="0"/>
          </a:p>
        </p:txBody>
      </p:sp>
      <p:sp>
        <p:nvSpPr>
          <p:cNvPr id="3" name="Text 1"/>
          <p:cNvSpPr/>
          <p:nvPr/>
        </p:nvSpPr>
        <p:spPr>
          <a:xfrm>
            <a:off x="548640" y="868680"/>
            <a:ext cx="11064240" cy="777240"/>
          </a:xfrm>
          <a:prstGeom prst="rect">
            <a:avLst/>
          </a:prstGeom>
          <a:noFill/>
          <a:ln/>
        </p:spPr>
        <p:txBody>
          <a:bodyPr wrap="square" lIns="0" tIns="0" rIns="0" bIns="0" rtlCol="0" anchor="ctr"/>
          <a:lstStyle/>
          <a:p>
            <a:pPr indent="0" marL="0">
              <a:buNone/>
            </a:pPr>
            <a:r>
              <a:rPr lang="en-US" sz="3200" b="1" dirty="0">
                <a:solidFill>
                  <a:srgbClr val="4A2070"/>
                </a:solidFill>
                <a:latin typeface="Calibri" pitchFamily="34" charset="0"/>
                <a:ea typeface="Calibri" pitchFamily="34" charset="-122"/>
                <a:cs typeface="Calibri" pitchFamily="34" charset="-120"/>
              </a:rPr>
              <a:t>Top-Up Packs — Tier-Priced Relief Valve</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2194560"/>
                <a:gridCol w="2240280"/>
                <a:gridCol w="2240280"/>
                <a:gridCol w="2240280"/>
                <a:gridCol w="2240280"/>
              </a:tblGrid>
              <a:tr h="50292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Pack</a:t>
                      </a:r>
                      <a:endParaRPr lang="en-US" sz="13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4A2070"/>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Free</a:t>
                      </a:r>
                      <a:endParaRPr lang="en-US" sz="13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4A2070"/>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Advance</a:t>
                      </a:r>
                      <a:endParaRPr lang="en-US" sz="13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4A2070"/>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Premium</a:t>
                      </a:r>
                      <a:endParaRPr lang="en-US" sz="13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4A2070"/>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Professional</a:t>
                      </a:r>
                      <a:endParaRPr lang="en-US" sz="13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4A2070"/>
                    </a:solidFill>
                  </a:tcPr>
                </a:tc>
              </a:tr>
              <a:tr h="502920">
                <a:tc>
                  <a:txBody>
                    <a:bodyPr/>
                    <a:lstStyle/>
                    <a:p>
                      <a:pPr algn="l" indent="0" marL="0">
                        <a:buNone/>
                      </a:pPr>
                      <a:r>
                        <a:rPr lang="en-US" sz="1200" b="1" dirty="0">
                          <a:solidFill>
                            <a:srgbClr val="2A1A3A"/>
                          </a:solidFill>
                          <a:latin typeface="Calibri" pitchFamily="34" charset="0"/>
                          <a:ea typeface="Calibri" pitchFamily="34" charset="-122"/>
                          <a:cs typeface="Calibri" pitchFamily="34" charset="-120"/>
                        </a:rPr>
                        <a:t>+2 hours</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$7.99</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$4.99</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$3.99</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$2.99</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r>
              <a:tr h="502920">
                <a:tc>
                  <a:txBody>
                    <a:bodyPr/>
                    <a:lstStyle/>
                    <a:p>
                      <a:pPr algn="l" indent="0" marL="0">
                        <a:buNone/>
                      </a:pPr>
                      <a:r>
                        <a:rPr lang="en-US" sz="1200" b="1" dirty="0">
                          <a:solidFill>
                            <a:srgbClr val="2A1A3A"/>
                          </a:solidFill>
                          <a:latin typeface="Calibri" pitchFamily="34" charset="0"/>
                          <a:ea typeface="Calibri" pitchFamily="34" charset="-122"/>
                          <a:cs typeface="Calibri" pitchFamily="34" charset="-120"/>
                        </a:rPr>
                        <a:t>+5 hours</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$14.99</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$9.99</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$7.99</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$4.99</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r>
              <a:tr h="502920">
                <a:tc>
                  <a:txBody>
                    <a:bodyPr/>
                    <a:lstStyle/>
                    <a:p>
                      <a:pPr algn="l" indent="0" marL="0">
                        <a:buNone/>
                      </a:pPr>
                      <a:r>
                        <a:rPr lang="en-US" sz="1200" b="1" dirty="0">
                          <a:solidFill>
                            <a:srgbClr val="2A1A3A"/>
                          </a:solidFill>
                          <a:latin typeface="Calibri" pitchFamily="34" charset="0"/>
                          <a:ea typeface="Calibri" pitchFamily="34" charset="-122"/>
                          <a:cs typeface="Calibri" pitchFamily="34" charset="-120"/>
                        </a:rPr>
                        <a:t>+15 hours</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$34.99</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$22.99</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$17.99</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$11.99</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r>
            </a:tbl>
          </a:graphicData>
        </a:graphic>
      </p:graphicFrame>
      <p:sp>
        <p:nvSpPr>
          <p:cNvPr id="5" name="Text 2"/>
          <p:cNvSpPr/>
          <p:nvPr/>
        </p:nvSpPr>
        <p:spPr>
          <a:xfrm>
            <a:off x="548640" y="4206240"/>
            <a:ext cx="11064240" cy="457200"/>
          </a:xfrm>
          <a:prstGeom prst="rect">
            <a:avLst/>
          </a:prstGeom>
          <a:noFill/>
          <a:ln/>
        </p:spPr>
        <p:txBody>
          <a:bodyPr wrap="square" lIns="0" tIns="0" rIns="0" bIns="0" rtlCol="0" anchor="ctr"/>
          <a:lstStyle/>
          <a:p>
            <a:pPr algn="ctr" indent="0" marL="0">
              <a:buNone/>
            </a:pPr>
            <a:r>
              <a:rPr lang="en-US" sz="1300" i="1" dirty="0">
                <a:solidFill>
                  <a:srgbClr val="2A1A3A"/>
                </a:solidFill>
                <a:latin typeface="Calibri" pitchFamily="34" charset="0"/>
                <a:ea typeface="Calibri" pitchFamily="34" charset="-122"/>
                <a:cs typeface="Calibri" pitchFamily="34" charset="-120"/>
              </a:rPr>
              <a:t>The bigger the pack, the cheaper the per-hour rate — but subscription always wins for repeat users (next slide).</a:t>
            </a:r>
            <a:endParaRPr lang="en-US" sz="1300" dirty="0"/>
          </a:p>
        </p:txBody>
      </p:sp>
      <p:sp>
        <p:nvSpPr>
          <p:cNvPr id="6" name="Text 3"/>
          <p:cNvSpPr/>
          <p:nvPr/>
        </p:nvSpPr>
        <p:spPr>
          <a:xfrm>
            <a:off x="365760" y="6492240"/>
            <a:ext cx="1828800" cy="274320"/>
          </a:xfrm>
          <a:prstGeom prst="rect">
            <a:avLst/>
          </a:prstGeom>
          <a:noFill/>
          <a:ln/>
        </p:spPr>
        <p:txBody>
          <a:bodyPr wrap="square" rtlCol="0" anchor="ctr"/>
          <a:lstStyle/>
          <a:p>
            <a:pPr indent="0" marL="0">
              <a:buNone/>
            </a:pPr>
            <a:r>
              <a:rPr lang="en-US" sz="1000" b="1" dirty="0">
                <a:solidFill>
                  <a:srgbClr val="666666"/>
                </a:solidFill>
                <a:latin typeface="Calibri" pitchFamily="34" charset="0"/>
                <a:ea typeface="Calibri" pitchFamily="34" charset="-122"/>
                <a:cs typeface="Calibri" pitchFamily="34" charset="-120"/>
              </a:rPr>
              <a:t>Sheen AI</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EDF7"/>
        </a:solidFill>
      </p:bgPr>
    </p:bg>
    <p:spTree>
      <p:nvGrpSpPr>
        <p:cNvPr id="1" name=""/>
        <p:cNvGrpSpPr/>
        <p:nvPr/>
      </p:nvGrpSpPr>
      <p:grpSpPr>
        <a:xfrm>
          <a:off x="0" y="0"/>
          <a:ext cx="0" cy="0"/>
          <a:chOff x="0" y="0"/>
          <a:chExt cx="0" cy="0"/>
        </a:xfrm>
      </p:grpSpPr>
      <p:sp>
        <p:nvSpPr>
          <p:cNvPr id="2" name="Text 0"/>
          <p:cNvSpPr/>
          <p:nvPr/>
        </p:nvSpPr>
        <p:spPr>
          <a:xfrm>
            <a:off x="548640" y="502920"/>
            <a:ext cx="11064240" cy="320040"/>
          </a:xfrm>
          <a:prstGeom prst="rect">
            <a:avLst/>
          </a:prstGeom>
          <a:noFill/>
          <a:ln/>
        </p:spPr>
        <p:txBody>
          <a:bodyPr wrap="square" rtlCol="0" anchor="ctr"/>
          <a:lstStyle/>
          <a:p>
            <a:pPr indent="0" marL="0">
              <a:buNone/>
            </a:pPr>
            <a:r>
              <a:rPr lang="en-US" sz="1300" b="1" spc="400" kern="0" dirty="0">
                <a:solidFill>
                  <a:srgbClr val="8163A3"/>
                </a:solidFill>
                <a:latin typeface="Calibri" pitchFamily="34" charset="0"/>
                <a:ea typeface="Calibri" pitchFamily="34" charset="-122"/>
                <a:cs typeface="Calibri" pitchFamily="34" charset="-120"/>
              </a:rPr>
              <a:t>PRICING</a:t>
            </a:r>
            <a:endParaRPr lang="en-US" sz="1300" dirty="0"/>
          </a:p>
        </p:txBody>
      </p:sp>
      <p:sp>
        <p:nvSpPr>
          <p:cNvPr id="3" name="Text 1"/>
          <p:cNvSpPr/>
          <p:nvPr/>
        </p:nvSpPr>
        <p:spPr>
          <a:xfrm>
            <a:off x="548640" y="868680"/>
            <a:ext cx="11064240" cy="777240"/>
          </a:xfrm>
          <a:prstGeom prst="rect">
            <a:avLst/>
          </a:prstGeom>
          <a:noFill/>
          <a:ln/>
        </p:spPr>
        <p:txBody>
          <a:bodyPr wrap="square" lIns="0" tIns="0" rIns="0" bIns="0" rtlCol="0" anchor="ctr"/>
          <a:lstStyle/>
          <a:p>
            <a:pPr indent="0" marL="0">
              <a:buNone/>
            </a:pPr>
            <a:r>
              <a:rPr lang="en-US" sz="3200" b="1" dirty="0">
                <a:solidFill>
                  <a:srgbClr val="4A2070"/>
                </a:solidFill>
                <a:latin typeface="Calibri" pitchFamily="34" charset="0"/>
                <a:ea typeface="Calibri" pitchFamily="34" charset="-122"/>
                <a:cs typeface="Calibri" pitchFamily="34" charset="-120"/>
              </a:rPr>
              <a:t>Subscription Always Wins on $/hr</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2286000"/>
                <a:gridCol w="2743200"/>
                <a:gridCol w="3200400"/>
                <a:gridCol w="2834640"/>
              </a:tblGrid>
              <a:tr h="54864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Tier</a:t>
                      </a:r>
                      <a:endParaRPr lang="en-US" sz="13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4A2070"/>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Subscription $/hr</a:t>
                      </a:r>
                      <a:endParaRPr lang="en-US" sz="13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4A2070"/>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Cheapest Top-Up $/hr (15 hr)</a:t>
                      </a:r>
                      <a:endParaRPr lang="en-US" sz="13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4A2070"/>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Verdict</a:t>
                      </a:r>
                      <a:endParaRPr lang="en-US" sz="13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4A2070"/>
                    </a:solidFill>
                  </a:tcPr>
                </a:tc>
              </a:tr>
              <a:tr h="548640">
                <a:tc>
                  <a:txBody>
                    <a:bodyPr/>
                    <a:lstStyle/>
                    <a:p>
                      <a:pPr algn="l" indent="0" marL="0">
                        <a:buNone/>
                      </a:pPr>
                      <a:r>
                        <a:rPr lang="en-US" sz="1200" b="1" dirty="0">
                          <a:solidFill>
                            <a:srgbClr val="2A1A3A"/>
                          </a:solidFill>
                          <a:latin typeface="Calibri" pitchFamily="34" charset="0"/>
                          <a:ea typeface="Calibri" pitchFamily="34" charset="-122"/>
                          <a:cs typeface="Calibri" pitchFamily="34" charset="-120"/>
                        </a:rPr>
                        <a:t>Advance</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$1.66</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$1.53</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Top-up edge case for one-off bursts only</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r>
              <a:tr h="548640">
                <a:tc>
                  <a:txBody>
                    <a:bodyPr/>
                    <a:lstStyle/>
                    <a:p>
                      <a:pPr algn="l" indent="0" marL="0">
                        <a:buNone/>
                      </a:pPr>
                      <a:r>
                        <a:rPr lang="en-US" sz="1200" b="1" dirty="0">
                          <a:solidFill>
                            <a:srgbClr val="2A1A3A"/>
                          </a:solidFill>
                          <a:latin typeface="Calibri" pitchFamily="34" charset="0"/>
                          <a:ea typeface="Calibri" pitchFamily="34" charset="-122"/>
                          <a:cs typeface="Calibri" pitchFamily="34" charset="-120"/>
                        </a:rPr>
                        <a:t>Premium</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$1.20</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Subscription 17% cheaper</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r>
              <a:tr h="548640">
                <a:tc>
                  <a:txBody>
                    <a:bodyPr/>
                    <a:lstStyle/>
                    <a:p>
                      <a:pPr algn="l" indent="0" marL="0">
                        <a:buNone/>
                      </a:pPr>
                      <a:r>
                        <a:rPr lang="en-US" sz="1200" b="1" dirty="0">
                          <a:solidFill>
                            <a:srgbClr val="2A1A3A"/>
                          </a:solidFill>
                          <a:latin typeface="Calibri" pitchFamily="34" charset="0"/>
                          <a:ea typeface="Calibri" pitchFamily="34" charset="-122"/>
                          <a:cs typeface="Calibri" pitchFamily="34" charset="-120"/>
                        </a:rPr>
                        <a:t>Professional</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$0.62</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$0.80</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Subscription 22% cheaper</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r>
            </a:tbl>
          </a:graphicData>
        </a:graphic>
      </p:graphicFrame>
      <p:sp>
        <p:nvSpPr>
          <p:cNvPr id="5" name="Shape 2"/>
          <p:cNvSpPr/>
          <p:nvPr/>
        </p:nvSpPr>
        <p:spPr>
          <a:xfrm>
            <a:off x="548640" y="4114800"/>
            <a:ext cx="11064240" cy="1371600"/>
          </a:xfrm>
          <a:prstGeom prst="rect">
            <a:avLst/>
          </a:prstGeom>
          <a:solidFill>
            <a:srgbClr val="4A2070"/>
          </a:solidFill>
          <a:ln/>
        </p:spPr>
      </p:sp>
      <p:sp>
        <p:nvSpPr>
          <p:cNvPr id="6" name="Text 3"/>
          <p:cNvSpPr/>
          <p:nvPr/>
        </p:nvSpPr>
        <p:spPr>
          <a:xfrm>
            <a:off x="914400" y="4114800"/>
            <a:ext cx="10332720" cy="1371600"/>
          </a:xfrm>
          <a:prstGeom prst="rect">
            <a:avLst/>
          </a:prstGeom>
          <a:noFill/>
          <a:ln/>
        </p:spPr>
        <p:txBody>
          <a:bodyPr wrap="square" lIns="0" tIns="0" rIns="0" bIns="0" rtlCol="0" anchor="ctr"/>
          <a:lstStyle/>
          <a:p>
            <a:pPr algn="ctr" indent="0" marL="0">
              <a:buNone/>
            </a:pPr>
            <a:r>
              <a:rPr lang="en-US" sz="1500" i="1" dirty="0">
                <a:solidFill>
                  <a:srgbClr val="FFFFFF"/>
                </a:solidFill>
                <a:latin typeface="Calibri" pitchFamily="34" charset="0"/>
                <a:ea typeface="Calibri" pitchFamily="34" charset="-122"/>
                <a:cs typeface="Calibri" pitchFamily="34" charset="-120"/>
              </a:rPr>
              <a:t>Top-ups exist as a relief valve for occasional overages — never as a strictly cheaper alternative to subscribing. The pricing ladder enforces this without any explicit upsell prompt.</a:t>
            </a:r>
            <a:endParaRPr lang="en-US" sz="1500" dirty="0"/>
          </a:p>
        </p:txBody>
      </p:sp>
      <p:sp>
        <p:nvSpPr>
          <p:cNvPr id="7" name="Text 4"/>
          <p:cNvSpPr/>
          <p:nvPr/>
        </p:nvSpPr>
        <p:spPr>
          <a:xfrm>
            <a:off x="365760" y="6492240"/>
            <a:ext cx="1828800" cy="274320"/>
          </a:xfrm>
          <a:prstGeom prst="rect">
            <a:avLst/>
          </a:prstGeom>
          <a:noFill/>
          <a:ln/>
        </p:spPr>
        <p:txBody>
          <a:bodyPr wrap="square" rtlCol="0" anchor="ctr"/>
          <a:lstStyle/>
          <a:p>
            <a:pPr indent="0" marL="0">
              <a:buNone/>
            </a:pPr>
            <a:r>
              <a:rPr lang="en-US" sz="1000" b="1" dirty="0">
                <a:solidFill>
                  <a:srgbClr val="666666"/>
                </a:solidFill>
                <a:latin typeface="Calibri" pitchFamily="34" charset="0"/>
                <a:ea typeface="Calibri" pitchFamily="34" charset="-122"/>
                <a:cs typeface="Calibri" pitchFamily="34" charset="-120"/>
              </a:rPr>
              <a:t>Sheen AI</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EDF7"/>
        </a:solidFill>
      </p:bgPr>
    </p:bg>
    <p:spTree>
      <p:nvGrpSpPr>
        <p:cNvPr id="1" name=""/>
        <p:cNvGrpSpPr/>
        <p:nvPr/>
      </p:nvGrpSpPr>
      <p:grpSpPr>
        <a:xfrm>
          <a:off x="0" y="0"/>
          <a:ext cx="0" cy="0"/>
          <a:chOff x="0" y="0"/>
          <a:chExt cx="0" cy="0"/>
        </a:xfrm>
      </p:grpSpPr>
      <p:sp>
        <p:nvSpPr>
          <p:cNvPr id="2" name="Text 0"/>
          <p:cNvSpPr/>
          <p:nvPr/>
        </p:nvSpPr>
        <p:spPr>
          <a:xfrm>
            <a:off x="548640" y="502920"/>
            <a:ext cx="11064240" cy="320040"/>
          </a:xfrm>
          <a:prstGeom prst="rect">
            <a:avLst/>
          </a:prstGeom>
          <a:noFill/>
          <a:ln/>
        </p:spPr>
        <p:txBody>
          <a:bodyPr wrap="square" rtlCol="0" anchor="ctr"/>
          <a:lstStyle/>
          <a:p>
            <a:pPr indent="0" marL="0">
              <a:buNone/>
            </a:pPr>
            <a:r>
              <a:rPr lang="en-US" sz="1300" b="1" spc="400" kern="0" dirty="0">
                <a:solidFill>
                  <a:srgbClr val="8163A3"/>
                </a:solidFill>
                <a:latin typeface="Calibri" pitchFamily="34" charset="0"/>
                <a:ea typeface="Calibri" pitchFamily="34" charset="-122"/>
                <a:cs typeface="Calibri" pitchFamily="34" charset="-120"/>
              </a:rPr>
              <a:t>UNIT ECONOMICS</a:t>
            </a:r>
            <a:endParaRPr lang="en-US" sz="1300" dirty="0"/>
          </a:p>
        </p:txBody>
      </p:sp>
      <p:sp>
        <p:nvSpPr>
          <p:cNvPr id="3" name="Text 1"/>
          <p:cNvSpPr/>
          <p:nvPr/>
        </p:nvSpPr>
        <p:spPr>
          <a:xfrm>
            <a:off x="548640" y="868680"/>
            <a:ext cx="11064240" cy="777240"/>
          </a:xfrm>
          <a:prstGeom prst="rect">
            <a:avLst/>
          </a:prstGeom>
          <a:noFill/>
          <a:ln/>
        </p:spPr>
        <p:txBody>
          <a:bodyPr wrap="square" lIns="0" tIns="0" rIns="0" bIns="0" rtlCol="0" anchor="ctr"/>
          <a:lstStyle/>
          <a:p>
            <a:pPr indent="0" marL="0">
              <a:buNone/>
            </a:pPr>
            <a:r>
              <a:rPr lang="en-US" sz="3200" b="1" dirty="0">
                <a:solidFill>
                  <a:srgbClr val="4A2070"/>
                </a:solidFill>
                <a:latin typeface="Calibri" pitchFamily="34" charset="0"/>
                <a:ea typeface="Calibri" pitchFamily="34" charset="-122"/>
                <a:cs typeface="Calibri" pitchFamily="34" charset="-120"/>
              </a:rPr>
              <a:t>Per-User Variable Cost — Average Usage</a:t>
            </a:r>
            <a:endParaRPr lang="en-US" sz="3200" dirty="0"/>
          </a:p>
        </p:txBody>
      </p:sp>
      <p:graphicFrame>
        <p:nvGraphicFramePr>
          <p:cNvPr id="4" name="Chart 0" descr=""/>
          <p:cNvGraphicFramePr/>
          <p:nvPr/>
        </p:nvGraphicFramePr>
        <p:xfrm>
          <a:off x="548640" y="1737360"/>
          <a:ext cx="731520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046720" y="1737360"/>
            <a:ext cx="3566160" cy="4206240"/>
          </a:xfrm>
          <a:prstGeom prst="rect">
            <a:avLst/>
          </a:prstGeom>
          <a:solidFill>
            <a:srgbClr val="FFFFFF"/>
          </a:solidFill>
          <a:ln w="12700">
            <a:solidFill>
              <a:srgbClr val="BDA2DA"/>
            </a:solidFill>
            <a:prstDash val="solid"/>
          </a:ln>
        </p:spPr>
      </p:sp>
      <p:sp>
        <p:nvSpPr>
          <p:cNvPr id="6" name="Text 3"/>
          <p:cNvSpPr/>
          <p:nvPr/>
        </p:nvSpPr>
        <p:spPr>
          <a:xfrm>
            <a:off x="8183880" y="1874520"/>
            <a:ext cx="3291840" cy="365760"/>
          </a:xfrm>
          <a:prstGeom prst="rect">
            <a:avLst/>
          </a:prstGeom>
          <a:noFill/>
          <a:ln/>
        </p:spPr>
        <p:txBody>
          <a:bodyPr wrap="square" lIns="0" tIns="0" rIns="0" bIns="0" rtlCol="0" anchor="ctr"/>
          <a:lstStyle/>
          <a:p>
            <a:pPr algn="ctr" indent="0" marL="0">
              <a:buNone/>
            </a:pPr>
            <a:r>
              <a:rPr lang="en-US" sz="1300" b="1" spc="400" kern="0" dirty="0">
                <a:solidFill>
                  <a:srgbClr val="8163A3"/>
                </a:solidFill>
                <a:latin typeface="Calibri" pitchFamily="34" charset="0"/>
                <a:ea typeface="Calibri" pitchFamily="34" charset="-122"/>
                <a:cs typeface="Calibri" pitchFamily="34" charset="-120"/>
              </a:rPr>
              <a:t>AVERAGE GROSS MARGIN</a:t>
            </a:r>
            <a:endParaRPr lang="en-US" sz="1300" dirty="0"/>
          </a:p>
        </p:txBody>
      </p:sp>
      <p:sp>
        <p:nvSpPr>
          <p:cNvPr id="7" name="Text 4"/>
          <p:cNvSpPr/>
          <p:nvPr/>
        </p:nvSpPr>
        <p:spPr>
          <a:xfrm>
            <a:off x="8183880" y="2286000"/>
            <a:ext cx="3291840" cy="1463040"/>
          </a:xfrm>
          <a:prstGeom prst="rect">
            <a:avLst/>
          </a:prstGeom>
          <a:noFill/>
          <a:ln/>
        </p:spPr>
        <p:txBody>
          <a:bodyPr wrap="square" lIns="0" tIns="0" rIns="0" bIns="0" rtlCol="0" anchor="ctr"/>
          <a:lstStyle/>
          <a:p>
            <a:pPr algn="ctr" indent="0" marL="0">
              <a:buNone/>
            </a:pPr>
            <a:r>
              <a:rPr lang="en-US" sz="9600" b="1" dirty="0">
                <a:solidFill>
                  <a:srgbClr val="4A2070"/>
                </a:solidFill>
                <a:latin typeface="Calibri" pitchFamily="34" charset="0"/>
                <a:ea typeface="Calibri" pitchFamily="34" charset="-122"/>
                <a:cs typeface="Calibri" pitchFamily="34" charset="-120"/>
              </a:rPr>
              <a:t>71%</a:t>
            </a:r>
            <a:endParaRPr lang="en-US" sz="9600" dirty="0"/>
          </a:p>
        </p:txBody>
      </p:sp>
      <p:sp>
        <p:nvSpPr>
          <p:cNvPr id="8" name="Text 5"/>
          <p:cNvSpPr/>
          <p:nvPr/>
        </p:nvSpPr>
        <p:spPr>
          <a:xfrm>
            <a:off x="8183880" y="3840480"/>
            <a:ext cx="3291840" cy="457200"/>
          </a:xfrm>
          <a:prstGeom prst="rect">
            <a:avLst/>
          </a:prstGeom>
          <a:noFill/>
          <a:ln/>
        </p:spPr>
        <p:txBody>
          <a:bodyPr wrap="square" lIns="0" tIns="0" rIns="0" bIns="0" rtlCol="0" anchor="ctr"/>
          <a:lstStyle/>
          <a:p>
            <a:pPr algn="ctr" indent="0" marL="0">
              <a:buNone/>
            </a:pPr>
            <a:r>
              <a:rPr lang="en-US" sz="1400" i="1" dirty="0">
                <a:solidFill>
                  <a:srgbClr val="2A1A3A"/>
                </a:solidFill>
                <a:latin typeface="Calibri" pitchFamily="34" charset="0"/>
                <a:ea typeface="Calibri" pitchFamily="34" charset="-122"/>
                <a:cs typeface="Calibri" pitchFamily="34" charset="-120"/>
              </a:rPr>
              <a:t>across paid tiers</a:t>
            </a:r>
            <a:endParaRPr lang="en-US" sz="1400" dirty="0"/>
          </a:p>
        </p:txBody>
      </p:sp>
      <p:sp>
        <p:nvSpPr>
          <p:cNvPr id="9" name="Text 6"/>
          <p:cNvSpPr/>
          <p:nvPr/>
        </p:nvSpPr>
        <p:spPr>
          <a:xfrm>
            <a:off x="8183880" y="4434840"/>
            <a:ext cx="3291840" cy="1371600"/>
          </a:xfrm>
          <a:prstGeom prst="rect">
            <a:avLst/>
          </a:prstGeom>
          <a:noFill/>
          <a:ln/>
        </p:spPr>
        <p:txBody>
          <a:bodyPr wrap="square" lIns="0" tIns="0" rIns="0" bIns="0" rtlCol="0" anchor="ctr"/>
          <a:lstStyle/>
          <a:p>
            <a:pPr algn="ctr" indent="0" marL="0">
              <a:spcAft>
                <a:spcPts val="400"/>
              </a:spcAft>
              <a:buNone/>
            </a:pPr>
            <a:r>
              <a:rPr lang="en-US" sz="1200" dirty="0">
                <a:solidFill>
                  <a:srgbClr val="666666"/>
                </a:solidFill>
                <a:latin typeface="Calibri" pitchFamily="34" charset="0"/>
                <a:ea typeface="Calibri" pitchFamily="34" charset="-122"/>
                <a:cs typeface="Calibri" pitchFamily="34" charset="-120"/>
              </a:rPr>
              <a:t>Power users at hard cap still profitable</a:t>
            </a:r>
            <a:endParaRPr lang="en-US" sz="1200" dirty="0"/>
          </a:p>
          <a:p>
            <a:pPr algn="ctr" indent="0" marL="0">
              <a:spcAft>
                <a:spcPts val="400"/>
              </a:spcAft>
              <a:buNone/>
            </a:pPr>
            <a:r>
              <a:rPr lang="en-US" sz="1200" dirty="0">
                <a:solidFill>
                  <a:srgbClr val="666666"/>
                </a:solidFill>
                <a:latin typeface="Calibri" pitchFamily="34" charset="0"/>
                <a:ea typeface="Calibri" pitchFamily="34" charset="-122"/>
                <a:cs typeface="Calibri" pitchFamily="34" charset="-120"/>
              </a:rPr>
              <a:t>(Advance 71% · Premium 50% · Pro 19%)</a:t>
            </a:r>
            <a:endParaRPr lang="en-US" sz="1200" dirty="0"/>
          </a:p>
        </p:txBody>
      </p:sp>
      <p:sp>
        <p:nvSpPr>
          <p:cNvPr id="10" name="Text 7"/>
          <p:cNvSpPr/>
          <p:nvPr/>
        </p:nvSpPr>
        <p:spPr>
          <a:xfrm>
            <a:off x="365760" y="6492240"/>
            <a:ext cx="1828800" cy="274320"/>
          </a:xfrm>
          <a:prstGeom prst="rect">
            <a:avLst/>
          </a:prstGeom>
          <a:noFill/>
          <a:ln/>
        </p:spPr>
        <p:txBody>
          <a:bodyPr wrap="square" rtlCol="0" anchor="ctr"/>
          <a:lstStyle/>
          <a:p>
            <a:pPr indent="0" marL="0">
              <a:buNone/>
            </a:pPr>
            <a:r>
              <a:rPr lang="en-US" sz="1000" b="1" dirty="0">
                <a:solidFill>
                  <a:srgbClr val="666666"/>
                </a:solidFill>
                <a:latin typeface="Calibri" pitchFamily="34" charset="0"/>
                <a:ea typeface="Calibri" pitchFamily="34" charset="-122"/>
                <a:cs typeface="Calibri" pitchFamily="34" charset="-120"/>
              </a:rPr>
              <a:t>Sheen AI</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EDF7"/>
        </a:solidFill>
      </p:bgPr>
    </p:bg>
    <p:spTree>
      <p:nvGrpSpPr>
        <p:cNvPr id="1" name=""/>
        <p:cNvGrpSpPr/>
        <p:nvPr/>
      </p:nvGrpSpPr>
      <p:grpSpPr>
        <a:xfrm>
          <a:off x="0" y="0"/>
          <a:ext cx="0" cy="0"/>
          <a:chOff x="0" y="0"/>
          <a:chExt cx="0" cy="0"/>
        </a:xfrm>
      </p:grpSpPr>
      <p:sp>
        <p:nvSpPr>
          <p:cNvPr id="2" name="Text 0"/>
          <p:cNvSpPr/>
          <p:nvPr/>
        </p:nvSpPr>
        <p:spPr>
          <a:xfrm>
            <a:off x="548640" y="502920"/>
            <a:ext cx="11064240" cy="320040"/>
          </a:xfrm>
          <a:prstGeom prst="rect">
            <a:avLst/>
          </a:prstGeom>
          <a:noFill/>
          <a:ln/>
        </p:spPr>
        <p:txBody>
          <a:bodyPr wrap="square" rtlCol="0" anchor="ctr"/>
          <a:lstStyle/>
          <a:p>
            <a:pPr indent="0" marL="0">
              <a:buNone/>
            </a:pPr>
            <a:r>
              <a:rPr lang="en-US" sz="1300" b="1" spc="400" kern="0" dirty="0">
                <a:solidFill>
                  <a:srgbClr val="8163A3"/>
                </a:solidFill>
                <a:latin typeface="Calibri" pitchFamily="34" charset="0"/>
                <a:ea typeface="Calibri" pitchFamily="34" charset="-122"/>
                <a:cs typeface="Calibri" pitchFamily="34" charset="-120"/>
              </a:rPr>
              <a:t>UNIT ECONOMICS</a:t>
            </a:r>
            <a:endParaRPr lang="en-US" sz="1300" dirty="0"/>
          </a:p>
        </p:txBody>
      </p:sp>
      <p:sp>
        <p:nvSpPr>
          <p:cNvPr id="3" name="Text 1"/>
          <p:cNvSpPr/>
          <p:nvPr/>
        </p:nvSpPr>
        <p:spPr>
          <a:xfrm>
            <a:off x="548640" y="868680"/>
            <a:ext cx="11064240" cy="777240"/>
          </a:xfrm>
          <a:prstGeom prst="rect">
            <a:avLst/>
          </a:prstGeom>
          <a:noFill/>
          <a:ln/>
        </p:spPr>
        <p:txBody>
          <a:bodyPr wrap="square" lIns="0" tIns="0" rIns="0" bIns="0" rtlCol="0" anchor="ctr"/>
          <a:lstStyle/>
          <a:p>
            <a:pPr indent="0" marL="0">
              <a:buNone/>
            </a:pPr>
            <a:r>
              <a:rPr lang="en-US" sz="3200" b="1" dirty="0">
                <a:solidFill>
                  <a:srgbClr val="4A2070"/>
                </a:solidFill>
                <a:latin typeface="Calibri" pitchFamily="34" charset="0"/>
                <a:ea typeface="Calibri" pitchFamily="34" charset="-122"/>
                <a:cs typeface="Calibri" pitchFamily="34" charset="-120"/>
              </a:rPr>
              <a:t>Worst Case Still Profitable</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1828800"/>
                <a:gridCol w="1828800"/>
                <a:gridCol w="2560320"/>
                <a:gridCol w="1645920"/>
                <a:gridCol w="1463040"/>
                <a:gridCol w="1737360"/>
              </a:tblGrid>
              <a:tr h="54864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Tier</a:t>
                      </a:r>
                      <a:endParaRPr lang="en-US" sz="13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4A2070"/>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Cap recording</a:t>
                      </a:r>
                      <a:endParaRPr lang="en-US" sz="13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4A2070"/>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Cap AI</a:t>
                      </a:r>
                      <a:endParaRPr lang="en-US" sz="13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4A2070"/>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Total cost</a:t>
                      </a:r>
                      <a:endParaRPr lang="en-US" sz="13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4A2070"/>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Price</a:t>
                      </a:r>
                      <a:endParaRPr lang="en-US" sz="13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4A2070"/>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Margin</a:t>
                      </a:r>
                      <a:endParaRPr lang="en-US" sz="13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4A2070"/>
                    </a:solidFill>
                  </a:tcPr>
                </a:tc>
              </a:tr>
              <a:tr h="548640">
                <a:tc>
                  <a:txBody>
                    <a:bodyPr/>
                    <a:lstStyle/>
                    <a:p>
                      <a:pPr algn="l" indent="0" marL="0">
                        <a:buNone/>
                      </a:pPr>
                      <a:r>
                        <a:rPr lang="en-US" sz="1200" b="1" dirty="0">
                          <a:solidFill>
                            <a:srgbClr val="2A1A3A"/>
                          </a:solidFill>
                          <a:latin typeface="Calibri" pitchFamily="34" charset="0"/>
                          <a:ea typeface="Calibri" pitchFamily="34" charset="-122"/>
                          <a:cs typeface="Calibri" pitchFamily="34" charset="-120"/>
                        </a:rPr>
                        <a:t>Advance</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6 hours</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50 queries</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$2.91</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$9.99</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71%</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r>
              <a:tr h="548640">
                <a:tc>
                  <a:txBody>
                    <a:bodyPr/>
                    <a:lstStyle/>
                    <a:p>
                      <a:pPr algn="l" indent="0" marL="0">
                        <a:buNone/>
                      </a:pPr>
                      <a:r>
                        <a:rPr lang="en-US" sz="1200" b="1" dirty="0">
                          <a:solidFill>
                            <a:srgbClr val="2A1A3A"/>
                          </a:solidFill>
                          <a:latin typeface="Calibri" pitchFamily="34" charset="0"/>
                          <a:ea typeface="Calibri" pitchFamily="34" charset="-122"/>
                          <a:cs typeface="Calibri" pitchFamily="34" charset="-120"/>
                        </a:rPr>
                        <a:t>Premium</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20 hours</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160 Flash + 40 Pro</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$9.95</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$19.99</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r>
              <a:tr h="548640">
                <a:tc>
                  <a:txBody>
                    <a:bodyPr/>
                    <a:lstStyle/>
                    <a:p>
                      <a:pPr algn="l" indent="0" marL="0">
                        <a:buNone/>
                      </a:pPr>
                      <a:r>
                        <a:rPr lang="en-US" sz="1200" b="1" dirty="0">
                          <a:solidFill>
                            <a:srgbClr val="2A1A3A"/>
                          </a:solidFill>
                          <a:latin typeface="Calibri" pitchFamily="34" charset="0"/>
                          <a:ea typeface="Calibri" pitchFamily="34" charset="-122"/>
                          <a:cs typeface="Calibri" pitchFamily="34" charset="-120"/>
                        </a:rPr>
                        <a:t>Professional</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80 hours</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640 Flash + 160 Pro</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$40.56</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$49.99</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19%</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r>
            </a:tbl>
          </a:graphicData>
        </a:graphic>
      </p:graphicFrame>
      <p:sp>
        <p:nvSpPr>
          <p:cNvPr id="5" name="Text 2"/>
          <p:cNvSpPr/>
          <p:nvPr/>
        </p:nvSpPr>
        <p:spPr>
          <a:xfrm>
            <a:off x="548640" y="4114800"/>
            <a:ext cx="11064240" cy="1097280"/>
          </a:xfrm>
          <a:prstGeom prst="rect">
            <a:avLst/>
          </a:prstGeom>
          <a:noFill/>
          <a:ln/>
        </p:spPr>
        <p:txBody>
          <a:bodyPr wrap="square" lIns="0" tIns="0" rIns="0" bIns="0" rtlCol="0" anchor="ctr"/>
          <a:lstStyle/>
          <a:p>
            <a:pPr indent="0" marL="0">
              <a:spcAft>
                <a:spcPts val="400"/>
              </a:spcAft>
              <a:buNone/>
            </a:pPr>
            <a:r>
              <a:rPr lang="en-US" sz="1400" i="1" dirty="0">
                <a:solidFill>
                  <a:srgbClr val="2A1A3A"/>
                </a:solidFill>
                <a:latin typeface="Calibri" pitchFamily="34" charset="0"/>
                <a:ea typeface="Calibri" pitchFamily="34" charset="-122"/>
                <a:cs typeface="Calibri" pitchFamily="34" charset="-120"/>
              </a:rPr>
              <a:t>Even at 100% cap utilisation every paid tier remains profitable. The thin Professional margin only matters for the ~3% of the user base that hits cap — average usage on that tier is ~40 hours, leaving 73% margin.</a:t>
            </a:r>
            <a:endParaRPr lang="en-US" sz="1400" dirty="0"/>
          </a:p>
        </p:txBody>
      </p:sp>
      <p:sp>
        <p:nvSpPr>
          <p:cNvPr id="6" name="Text 3"/>
          <p:cNvSpPr/>
          <p:nvPr/>
        </p:nvSpPr>
        <p:spPr>
          <a:xfrm>
            <a:off x="365760" y="6492240"/>
            <a:ext cx="1828800" cy="274320"/>
          </a:xfrm>
          <a:prstGeom prst="rect">
            <a:avLst/>
          </a:prstGeom>
          <a:noFill/>
          <a:ln/>
        </p:spPr>
        <p:txBody>
          <a:bodyPr wrap="square" rtlCol="0" anchor="ctr"/>
          <a:lstStyle/>
          <a:p>
            <a:pPr indent="0" marL="0">
              <a:buNone/>
            </a:pPr>
            <a:r>
              <a:rPr lang="en-US" sz="1000" b="1" dirty="0">
                <a:solidFill>
                  <a:srgbClr val="666666"/>
                </a:solidFill>
                <a:latin typeface="Calibri" pitchFamily="34" charset="0"/>
                <a:ea typeface="Calibri" pitchFamily="34" charset="-122"/>
                <a:cs typeface="Calibri" pitchFamily="34" charset="-120"/>
              </a:rPr>
              <a:t>Sheen AI</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4A2070"/>
        </a:solidFill>
      </p:bgPr>
    </p:bg>
    <p:spTree>
      <p:nvGrpSpPr>
        <p:cNvPr id="1" name=""/>
        <p:cNvGrpSpPr/>
        <p:nvPr/>
      </p:nvGrpSpPr>
      <p:grpSpPr>
        <a:xfrm>
          <a:off x="0" y="0"/>
          <a:ext cx="0" cy="0"/>
          <a:chOff x="0" y="0"/>
          <a:chExt cx="0" cy="0"/>
        </a:xfrm>
      </p:grpSpPr>
      <p:sp>
        <p:nvSpPr>
          <p:cNvPr id="2" name="Shape 0"/>
          <p:cNvSpPr/>
          <p:nvPr/>
        </p:nvSpPr>
        <p:spPr>
          <a:xfrm>
            <a:off x="11996928" y="0"/>
            <a:ext cx="164592" cy="6858000"/>
          </a:xfrm>
          <a:prstGeom prst="rect">
            <a:avLst/>
          </a:prstGeom>
          <a:solidFill>
            <a:srgbClr val="BDA2DA"/>
          </a:solidFill>
          <a:ln/>
        </p:spPr>
      </p:sp>
      <p:sp>
        <p:nvSpPr>
          <p:cNvPr id="3" name="Text 1"/>
          <p:cNvSpPr/>
          <p:nvPr/>
        </p:nvSpPr>
        <p:spPr>
          <a:xfrm>
            <a:off x="914400" y="2560320"/>
            <a:ext cx="10332720" cy="457200"/>
          </a:xfrm>
          <a:prstGeom prst="rect">
            <a:avLst/>
          </a:prstGeom>
          <a:noFill/>
          <a:ln/>
        </p:spPr>
        <p:txBody>
          <a:bodyPr wrap="square" lIns="0" tIns="0" rIns="0" bIns="0" rtlCol="0" anchor="ctr"/>
          <a:lstStyle/>
          <a:p>
            <a:pPr algn="ctr" indent="0" marL="0">
              <a:buNone/>
            </a:pPr>
            <a:r>
              <a:rPr lang="en-US" sz="1800" b="1" spc="600" kern="0" dirty="0">
                <a:solidFill>
                  <a:srgbClr val="BDA2DA"/>
                </a:solidFill>
                <a:latin typeface="Calibri" pitchFamily="34" charset="0"/>
                <a:ea typeface="Calibri" pitchFamily="34" charset="-122"/>
                <a:cs typeface="Calibri" pitchFamily="34" charset="-120"/>
              </a:rPr>
              <a:t>SECTION 03</a:t>
            </a:r>
            <a:endParaRPr lang="en-US" sz="1800" dirty="0"/>
          </a:p>
        </p:txBody>
      </p:sp>
      <p:sp>
        <p:nvSpPr>
          <p:cNvPr id="4" name="Text 2"/>
          <p:cNvSpPr/>
          <p:nvPr/>
        </p:nvSpPr>
        <p:spPr>
          <a:xfrm>
            <a:off x="914400" y="3108960"/>
            <a:ext cx="10332720" cy="1280160"/>
          </a:xfrm>
          <a:prstGeom prst="rect">
            <a:avLst/>
          </a:prstGeom>
          <a:noFill/>
          <a:ln/>
        </p:spPr>
        <p:txBody>
          <a:bodyPr wrap="square" lIns="0" tIns="0" rIns="0" bIns="0" rtlCol="0" anchor="ctr"/>
          <a:lstStyle/>
          <a:p>
            <a:pPr algn="ctr" indent="0" marL="0">
              <a:buNone/>
            </a:pPr>
            <a:r>
              <a:rPr lang="en-US" sz="6400" b="1" dirty="0">
                <a:solidFill>
                  <a:srgbClr val="FFFFFF"/>
                </a:solidFill>
                <a:latin typeface="Calibri" pitchFamily="34" charset="0"/>
                <a:ea typeface="Calibri" pitchFamily="34" charset="-122"/>
                <a:cs typeface="Calibri" pitchFamily="34" charset="-120"/>
              </a:rPr>
              <a:t>Revenue &amp; Profit</a:t>
            </a:r>
            <a:endParaRPr lang="en-US" sz="6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64240" cy="320040"/>
          </a:xfrm>
          <a:prstGeom prst="rect">
            <a:avLst/>
          </a:prstGeom>
          <a:noFill/>
          <a:ln/>
        </p:spPr>
        <p:txBody>
          <a:bodyPr wrap="square" rtlCol="0" anchor="ctr"/>
          <a:lstStyle/>
          <a:p>
            <a:pPr indent="0" marL="0">
              <a:buNone/>
            </a:pPr>
            <a:r>
              <a:rPr lang="en-US" sz="1300" b="1" spc="400" kern="0" dirty="0">
                <a:solidFill>
                  <a:srgbClr val="8163A3"/>
                </a:solidFill>
                <a:latin typeface="Calibri" pitchFamily="34" charset="0"/>
                <a:ea typeface="Calibri" pitchFamily="34" charset="-122"/>
                <a:cs typeface="Calibri" pitchFamily="34" charset="-120"/>
              </a:rPr>
              <a:t>PROFIT</a:t>
            </a:r>
            <a:endParaRPr lang="en-US" sz="1300" dirty="0"/>
          </a:p>
        </p:txBody>
      </p:sp>
      <p:sp>
        <p:nvSpPr>
          <p:cNvPr id="3" name="Text 1"/>
          <p:cNvSpPr/>
          <p:nvPr/>
        </p:nvSpPr>
        <p:spPr>
          <a:xfrm>
            <a:off x="548640" y="868680"/>
            <a:ext cx="11064240" cy="777240"/>
          </a:xfrm>
          <a:prstGeom prst="rect">
            <a:avLst/>
          </a:prstGeom>
          <a:noFill/>
          <a:ln/>
        </p:spPr>
        <p:txBody>
          <a:bodyPr wrap="square" lIns="0" tIns="0" rIns="0" bIns="0" rtlCol="0" anchor="ctr"/>
          <a:lstStyle/>
          <a:p>
            <a:pPr indent="0" marL="0">
              <a:buNone/>
            </a:pPr>
            <a:r>
              <a:rPr lang="en-US" sz="3200" b="1" dirty="0">
                <a:solidFill>
                  <a:srgbClr val="4A2070"/>
                </a:solidFill>
                <a:latin typeface="Calibri" pitchFamily="34" charset="0"/>
                <a:ea typeface="Calibri" pitchFamily="34" charset="-122"/>
                <a:cs typeface="Calibri" pitchFamily="34" charset="-120"/>
              </a:rPr>
              <a:t>10,000 Users — Monthly P&amp;L</a:t>
            </a:r>
            <a:endParaRPr lang="en-US" sz="3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914400"/>
        </p:xfrm>
        <a:graphic>
          <a:graphicData uri="http://schemas.openxmlformats.org/drawingml/2006/table">
            <a:tbl>
              <a:tblPr/>
              <a:tblGrid>
                <a:gridCol w="5943600"/>
                <a:gridCol w="2331720"/>
                <a:gridCol w="2331720"/>
              </a:tblGrid>
              <a:tr h="36576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Line item</a:t>
                      </a:r>
                      <a:endParaRPr lang="en-US" sz="13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4A2070"/>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Subtotal</a:t>
                      </a:r>
                      <a:endParaRPr lang="en-US" sz="13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4A2070"/>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Running total</a:t>
                      </a:r>
                      <a:endParaRPr lang="en-US" sz="13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4A2070"/>
                    </a:solidFill>
                  </a:tcPr>
                </a:tc>
              </a:tr>
              <a:tr h="365760">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Subscription · Advance (540 users)</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$5,395</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$5,395</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r>
              <a:tr h="365760">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Subscription · Premium (270 users)</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$5,397</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$10,792</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Subscription · Professional (90)</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$4,499</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$15,291</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r>
              <a:tr h="365760">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Top-ups · paid users</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$675</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$15,966</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Top-ups · free users</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$503</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$16,469</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r>
              <a:tr h="365760">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REVENUE</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c>
                  <a:txBody>
                    <a:bodyPr/>
                    <a:lstStyle/>
                    <a:p>
                      <a:pPr algn="l" indent="0" marL="0">
                        <a:buNone/>
                      </a:pP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$16,469</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Variable cost · all tiers</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($4,532)</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$11,937</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r>
              <a:tr h="365760">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Top-up COGS</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($176)</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$11,761</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GROSS PROFIT</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$11,761</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r>
              <a:tr h="365760">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Fixed (servers, monitoring)</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($2,500)</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$9,261</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NET PROFIT</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$9,261</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r>
            </a:tbl>
          </a:graphicData>
        </a:graphic>
      </p:graphicFrame>
      <p:sp>
        <p:nvSpPr>
          <p:cNvPr id="5" name="Text 2"/>
          <p:cNvSpPr/>
          <p:nvPr/>
        </p:nvSpPr>
        <p:spPr>
          <a:xfrm>
            <a:off x="365760" y="6492240"/>
            <a:ext cx="1828800" cy="274320"/>
          </a:xfrm>
          <a:prstGeom prst="rect">
            <a:avLst/>
          </a:prstGeom>
          <a:noFill/>
          <a:ln/>
        </p:spPr>
        <p:txBody>
          <a:bodyPr wrap="square" rtlCol="0" anchor="ctr"/>
          <a:lstStyle/>
          <a:p>
            <a:pPr indent="0" marL="0">
              <a:buNone/>
            </a:pPr>
            <a:r>
              <a:rPr lang="en-US" sz="1000" b="1" dirty="0">
                <a:solidFill>
                  <a:srgbClr val="666666"/>
                </a:solidFill>
                <a:latin typeface="Calibri" pitchFamily="34" charset="0"/>
                <a:ea typeface="Calibri" pitchFamily="34" charset="-122"/>
                <a:cs typeface="Calibri" pitchFamily="34" charset="-120"/>
              </a:rPr>
              <a:t>Sheen AI</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64240" cy="320040"/>
          </a:xfrm>
          <a:prstGeom prst="rect">
            <a:avLst/>
          </a:prstGeom>
          <a:noFill/>
          <a:ln/>
        </p:spPr>
        <p:txBody>
          <a:bodyPr wrap="square" rtlCol="0" anchor="ctr"/>
          <a:lstStyle/>
          <a:p>
            <a:pPr indent="0" marL="0">
              <a:buNone/>
            </a:pPr>
            <a:r>
              <a:rPr lang="en-US" sz="1300" b="1" spc="400" kern="0" dirty="0">
                <a:solidFill>
                  <a:srgbClr val="8163A3"/>
                </a:solidFill>
                <a:latin typeface="Calibri" pitchFamily="34" charset="0"/>
                <a:ea typeface="Calibri" pitchFamily="34" charset="-122"/>
                <a:cs typeface="Calibri" pitchFamily="34" charset="-120"/>
              </a:rPr>
              <a:t>PROFIT</a:t>
            </a:r>
            <a:endParaRPr lang="en-US" sz="1300" dirty="0"/>
          </a:p>
        </p:txBody>
      </p:sp>
      <p:sp>
        <p:nvSpPr>
          <p:cNvPr id="3" name="Text 1"/>
          <p:cNvSpPr/>
          <p:nvPr/>
        </p:nvSpPr>
        <p:spPr>
          <a:xfrm>
            <a:off x="548640" y="868680"/>
            <a:ext cx="11064240" cy="777240"/>
          </a:xfrm>
          <a:prstGeom prst="rect">
            <a:avLst/>
          </a:prstGeom>
          <a:noFill/>
          <a:ln/>
        </p:spPr>
        <p:txBody>
          <a:bodyPr wrap="square" lIns="0" tIns="0" rIns="0" bIns="0" rtlCol="0" anchor="ctr"/>
          <a:lstStyle/>
          <a:p>
            <a:pPr indent="0" marL="0">
              <a:buNone/>
            </a:pPr>
            <a:r>
              <a:rPr lang="en-US" sz="3200" b="1" dirty="0">
                <a:solidFill>
                  <a:srgbClr val="4A2070"/>
                </a:solidFill>
                <a:latin typeface="Calibri" pitchFamily="34" charset="0"/>
                <a:ea typeface="Calibri" pitchFamily="34" charset="-122"/>
                <a:cs typeface="Calibri" pitchFamily="34" charset="-120"/>
              </a:rPr>
              <a:t>How the Curve Scales</a:t>
            </a:r>
            <a:endParaRPr lang="en-US" sz="3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914400"/>
        </p:xfrm>
        <a:graphic>
          <a:graphicData uri="http://schemas.openxmlformats.org/drawingml/2006/table">
            <a:tbl>
              <a:tblPr/>
              <a:tblGrid>
                <a:gridCol w="1828800"/>
                <a:gridCol w="1371600"/>
                <a:gridCol w="2194560"/>
                <a:gridCol w="1645920"/>
                <a:gridCol w="1828800"/>
                <a:gridCol w="2194560"/>
              </a:tblGrid>
              <a:tr h="50292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Total users</a:t>
                      </a:r>
                      <a:endParaRPr lang="en-US" sz="13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4A2070"/>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MAU</a:t>
                      </a:r>
                      <a:endParaRPr lang="en-US" sz="13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4A2070"/>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Variable profit</a:t>
                      </a:r>
                      <a:endParaRPr lang="en-US" sz="13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4A2070"/>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Fixed cost</a:t>
                      </a:r>
                      <a:endParaRPr lang="en-US" sz="13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4A2070"/>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Net / month</a:t>
                      </a:r>
                      <a:endParaRPr lang="en-US" sz="13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4A2070"/>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Net / year</a:t>
                      </a:r>
                      <a:endParaRPr lang="en-US" sz="13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4A2070"/>
                    </a:solidFill>
                  </a:tcPr>
                </a:tc>
              </a:tr>
              <a:tr h="502920">
                <a:tc>
                  <a:txBody>
                    <a:bodyPr/>
                    <a:lstStyle/>
                    <a:p>
                      <a:pPr algn="l" indent="0" marL="0">
                        <a:buNone/>
                      </a:pPr>
                      <a:r>
                        <a:rPr lang="en-US" sz="1200" b="1" dirty="0">
                          <a:solidFill>
                            <a:srgbClr val="2A1A3A"/>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300</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$1,176</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$1,500</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($324)</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($3,888)</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r>
              <a:tr h="502920">
                <a:tc>
                  <a:txBody>
                    <a:bodyPr/>
                    <a:lstStyle/>
                    <a:p>
                      <a:pPr algn="l" indent="0" marL="0">
                        <a:buNone/>
                      </a:pPr>
                      <a:r>
                        <a:rPr lang="en-US" sz="1200" b="1" dirty="0">
                          <a:solidFill>
                            <a:srgbClr val="2A1A3A"/>
                          </a:solidFill>
                          <a:latin typeface="Calibri" pitchFamily="34" charset="0"/>
                          <a:ea typeface="Calibri" pitchFamily="34" charset="-122"/>
                          <a:cs typeface="Calibri" pitchFamily="34" charset="-120"/>
                        </a:rPr>
                        <a:t>10,000</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3,000</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$11,761</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$2,500</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$9,261</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$111,000</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r>
              <a:tr h="502920">
                <a:tc>
                  <a:txBody>
                    <a:bodyPr/>
                    <a:lstStyle/>
                    <a:p>
                      <a:pPr algn="l" indent="0" marL="0">
                        <a:buNone/>
                      </a:pPr>
                      <a:r>
                        <a:rPr lang="en-US" sz="1200" b="1" dirty="0">
                          <a:solidFill>
                            <a:srgbClr val="2A1A3A"/>
                          </a:solidFill>
                          <a:latin typeface="Calibri" pitchFamily="34" charset="0"/>
                          <a:ea typeface="Calibri" pitchFamily="34" charset="-122"/>
                          <a:cs typeface="Calibri" pitchFamily="34" charset="-120"/>
                        </a:rPr>
                        <a:t>50,000</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15,000</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$58,805</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$4,000</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$54,805</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$657,660</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r>
              <a:tr h="502920">
                <a:tc>
                  <a:txBody>
                    <a:bodyPr/>
                    <a:lstStyle/>
                    <a:p>
                      <a:pPr algn="l" indent="0" marL="0">
                        <a:buNone/>
                      </a:pPr>
                      <a:r>
                        <a:rPr lang="en-US" sz="1200" b="1" dirty="0">
                          <a:solidFill>
                            <a:srgbClr val="2A1A3A"/>
                          </a:solidFill>
                          <a:latin typeface="Calibri" pitchFamily="34" charset="0"/>
                          <a:ea typeface="Calibri" pitchFamily="34" charset="-122"/>
                          <a:cs typeface="Calibri" pitchFamily="34" charset="-120"/>
                        </a:rPr>
                        <a:t>100,000</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30,000</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$117,610</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$6,500</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$111,110</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$1,333,320</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FFFFFF"/>
                    </a:solidFill>
                  </a:tcPr>
                </a:tc>
              </a:tr>
              <a:tr h="502920">
                <a:tc>
                  <a:txBody>
                    <a:bodyPr/>
                    <a:lstStyle/>
                    <a:p>
                      <a:pPr algn="l" indent="0" marL="0">
                        <a:buNone/>
                      </a:pPr>
                      <a:r>
                        <a:rPr lang="en-US" sz="1200" b="1" dirty="0">
                          <a:solidFill>
                            <a:srgbClr val="2A1A3A"/>
                          </a:solidFill>
                          <a:latin typeface="Calibri" pitchFamily="34" charset="0"/>
                          <a:ea typeface="Calibri" pitchFamily="34" charset="-122"/>
                          <a:cs typeface="Calibri" pitchFamily="34" charset="-120"/>
                        </a:rPr>
                        <a:t>250,000</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75,000</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$294,025</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$12,000</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$282,025</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c>
                  <a:txBody>
                    <a:bodyPr/>
                    <a:lstStyle/>
                    <a:p>
                      <a:pPr algn="l" indent="0" marL="0">
                        <a:buNone/>
                      </a:pPr>
                      <a:r>
                        <a:rPr lang="en-US" sz="1200" dirty="0">
                          <a:solidFill>
                            <a:srgbClr val="2A1A3A"/>
                          </a:solidFill>
                          <a:latin typeface="Calibri" pitchFamily="34" charset="0"/>
                          <a:ea typeface="Calibri" pitchFamily="34" charset="-122"/>
                          <a:cs typeface="Calibri" pitchFamily="34" charset="-120"/>
                        </a:rPr>
                        <a:t>$3,384,300</a:t>
                      </a:r>
                      <a:endParaRPr lang="en-US" sz="1200" dirty="0">
                        <a:latin typeface="Calibri" charset="0"/>
                        <a:ea typeface="Calibri" charset="0"/>
                        <a:cs typeface="Calibri" charset="0"/>
                      </a:endParaRPr>
                    </a:p>
                  </a:txBody>
                  <a:tcPr marL="91440" marR="91440" marT="45720" marB="45720" anchor="ctr">
                    <a:lnL w="6350" cap="flat" cmpd="sng" algn="ctr">
                      <a:solidFill>
                        <a:srgbClr val="BDA2DA"/>
                      </a:solidFill>
                      <a:prstDash val="solid"/>
                      <a:round/>
                      <a:headEnd type="none" w="med" len="med"/>
                      <a:tailEnd type="none" w="med" len="med"/>
                    </a:lnL>
                    <a:lnR w="6350" cap="flat" cmpd="sng" algn="ctr">
                      <a:solidFill>
                        <a:srgbClr val="BDA2DA"/>
                      </a:solidFill>
                      <a:prstDash val="solid"/>
                      <a:round/>
                      <a:headEnd type="none" w="med" len="med"/>
                      <a:tailEnd type="none" w="med" len="med"/>
                    </a:lnR>
                    <a:lnT w="6350" cap="flat" cmpd="sng" algn="ctr">
                      <a:solidFill>
                        <a:srgbClr val="BDA2DA"/>
                      </a:solidFill>
                      <a:prstDash val="solid"/>
                      <a:round/>
                      <a:headEnd type="none" w="med" len="med"/>
                      <a:tailEnd type="none" w="med" len="med"/>
                    </a:lnT>
                    <a:lnB w="6350" cap="flat" cmpd="sng" algn="ctr">
                      <a:solidFill>
                        <a:srgbClr val="BDA2DA"/>
                      </a:solidFill>
                      <a:prstDash val="solid"/>
                      <a:round/>
                      <a:headEnd type="none" w="med" len="med"/>
                      <a:tailEnd type="none" w="med" len="med"/>
                    </a:lnB>
                    <a:solidFill>
                      <a:srgbClr val="E6DFED"/>
                    </a:solidFill>
                  </a:tcPr>
                </a:tc>
              </a:tr>
            </a:tbl>
          </a:graphicData>
        </a:graphic>
      </p:graphicFrame>
      <p:sp>
        <p:nvSpPr>
          <p:cNvPr id="5" name="Text 2"/>
          <p:cNvSpPr/>
          <p:nvPr/>
        </p:nvSpPr>
        <p:spPr>
          <a:xfrm>
            <a:off x="548640" y="5120640"/>
            <a:ext cx="11064240" cy="365760"/>
          </a:xfrm>
          <a:prstGeom prst="rect">
            <a:avLst/>
          </a:prstGeom>
          <a:noFill/>
          <a:ln/>
        </p:spPr>
        <p:txBody>
          <a:bodyPr wrap="square" lIns="0" tIns="0" rIns="0" bIns="0" rtlCol="0" anchor="ctr"/>
          <a:lstStyle/>
          <a:p>
            <a:pPr algn="ctr" indent="0" marL="0">
              <a:buNone/>
            </a:pPr>
            <a:r>
              <a:rPr lang="en-US" sz="1300" i="1" spc="200" kern="0" dirty="0">
                <a:solidFill>
                  <a:srgbClr val="8163A3"/>
                </a:solidFill>
                <a:latin typeface="Calibri" pitchFamily="34" charset="0"/>
                <a:ea typeface="Calibri" pitchFamily="34" charset="-122"/>
                <a:cs typeface="Calibri" pitchFamily="34" charset="-120"/>
              </a:rPr>
              <a:t>Sublinear fixed-cost growth · Vendor pricing scales per-unit, no step-cost cliffs</a:t>
            </a:r>
            <a:endParaRPr lang="en-US" sz="1300" dirty="0"/>
          </a:p>
        </p:txBody>
      </p:sp>
      <p:sp>
        <p:nvSpPr>
          <p:cNvPr id="6" name="Text 3"/>
          <p:cNvSpPr/>
          <p:nvPr/>
        </p:nvSpPr>
        <p:spPr>
          <a:xfrm>
            <a:off x="365760" y="6492240"/>
            <a:ext cx="1828800" cy="274320"/>
          </a:xfrm>
          <a:prstGeom prst="rect">
            <a:avLst/>
          </a:prstGeom>
          <a:noFill/>
          <a:ln/>
        </p:spPr>
        <p:txBody>
          <a:bodyPr wrap="square" rtlCol="0" anchor="ctr"/>
          <a:lstStyle/>
          <a:p>
            <a:pPr indent="0" marL="0">
              <a:buNone/>
            </a:pPr>
            <a:r>
              <a:rPr lang="en-US" sz="1000" b="1" dirty="0">
                <a:solidFill>
                  <a:srgbClr val="666666"/>
                </a:solidFill>
                <a:latin typeface="Calibri" pitchFamily="34" charset="0"/>
                <a:ea typeface="Calibri" pitchFamily="34" charset="-122"/>
                <a:cs typeface="Calibri" pitchFamily="34" charset="-120"/>
              </a:rPr>
              <a:t>Sheen AI</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4A2070"/>
        </a:solidFill>
      </p:bgPr>
    </p:bg>
    <p:spTree>
      <p:nvGrpSpPr>
        <p:cNvPr id="1" name=""/>
        <p:cNvGrpSpPr/>
        <p:nvPr/>
      </p:nvGrpSpPr>
      <p:grpSpPr>
        <a:xfrm>
          <a:off x="0" y="0"/>
          <a:ext cx="0" cy="0"/>
          <a:chOff x="0" y="0"/>
          <a:chExt cx="0" cy="0"/>
        </a:xfrm>
      </p:grpSpPr>
      <p:sp>
        <p:nvSpPr>
          <p:cNvPr id="2" name="Shape 0"/>
          <p:cNvSpPr/>
          <p:nvPr/>
        </p:nvSpPr>
        <p:spPr>
          <a:xfrm>
            <a:off x="11996928" y="0"/>
            <a:ext cx="164592" cy="6858000"/>
          </a:xfrm>
          <a:prstGeom prst="rect">
            <a:avLst/>
          </a:prstGeom>
          <a:solidFill>
            <a:srgbClr val="BDA2DA"/>
          </a:solidFill>
          <a:ln/>
        </p:spPr>
      </p:sp>
      <p:sp>
        <p:nvSpPr>
          <p:cNvPr id="3" name="Text 1"/>
          <p:cNvSpPr/>
          <p:nvPr/>
        </p:nvSpPr>
        <p:spPr>
          <a:xfrm>
            <a:off x="548640" y="822960"/>
            <a:ext cx="11064240" cy="457200"/>
          </a:xfrm>
          <a:prstGeom prst="rect">
            <a:avLst/>
          </a:prstGeom>
          <a:noFill/>
          <a:ln/>
        </p:spPr>
        <p:txBody>
          <a:bodyPr wrap="square" lIns="0" tIns="0" rIns="0" bIns="0" rtlCol="0" anchor="ctr"/>
          <a:lstStyle/>
          <a:p>
            <a:pPr algn="ctr" indent="0" marL="0">
              <a:buNone/>
            </a:pPr>
            <a:r>
              <a:rPr lang="en-US" sz="1600" b="1" spc="600" kern="0" dirty="0">
                <a:solidFill>
                  <a:srgbClr val="BDA2DA"/>
                </a:solidFill>
                <a:latin typeface="Calibri" pitchFamily="34" charset="0"/>
                <a:ea typeface="Calibri" pitchFamily="34" charset="-122"/>
                <a:cs typeface="Calibri" pitchFamily="34" charset="-120"/>
              </a:rPr>
              <a:t>ANNUAL NET PROFIT</a:t>
            </a:r>
            <a:endParaRPr lang="en-US" sz="1600" dirty="0"/>
          </a:p>
        </p:txBody>
      </p:sp>
      <p:sp>
        <p:nvSpPr>
          <p:cNvPr id="4" name="Text 2"/>
          <p:cNvSpPr/>
          <p:nvPr/>
        </p:nvSpPr>
        <p:spPr>
          <a:xfrm>
            <a:off x="548640" y="1280160"/>
            <a:ext cx="11064240" cy="54864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Where the model takes us</a:t>
            </a:r>
            <a:endParaRPr lang="en-US" sz="2800" dirty="0"/>
          </a:p>
        </p:txBody>
      </p:sp>
      <p:sp>
        <p:nvSpPr>
          <p:cNvPr id="5" name="Text 3"/>
          <p:cNvSpPr/>
          <p:nvPr/>
        </p:nvSpPr>
        <p:spPr>
          <a:xfrm>
            <a:off x="685800" y="3200400"/>
            <a:ext cx="2011680" cy="1280160"/>
          </a:xfrm>
          <a:prstGeom prst="rect">
            <a:avLst/>
          </a:prstGeom>
          <a:noFill/>
          <a:ln/>
        </p:spPr>
        <p:txBody>
          <a:bodyPr wrap="square" lIns="0" tIns="0" rIns="0" bIns="0" rtlCol="0" anchor="ctr"/>
          <a:lstStyle/>
          <a:p>
            <a:pPr algn="ctr" indent="0" marL="0">
              <a:buNone/>
            </a:pPr>
            <a:r>
              <a:rPr lang="en-US" sz="4400" b="1" dirty="0">
                <a:solidFill>
                  <a:srgbClr val="E0BFC9"/>
                </a:solidFill>
                <a:latin typeface="Calibri" pitchFamily="34" charset="0"/>
                <a:ea typeface="Calibri" pitchFamily="34" charset="-122"/>
                <a:cs typeface="Calibri" pitchFamily="34" charset="-120"/>
              </a:rPr>
              <a:t>($3.9K)</a:t>
            </a:r>
            <a:endParaRPr lang="en-US" sz="4400" dirty="0"/>
          </a:p>
        </p:txBody>
      </p:sp>
      <p:sp>
        <p:nvSpPr>
          <p:cNvPr id="6" name="Text 4"/>
          <p:cNvSpPr/>
          <p:nvPr/>
        </p:nvSpPr>
        <p:spPr>
          <a:xfrm>
            <a:off x="685800" y="4480560"/>
            <a:ext cx="2011680" cy="457200"/>
          </a:xfrm>
          <a:prstGeom prst="rect">
            <a:avLst/>
          </a:prstGeom>
          <a:noFill/>
          <a:ln/>
        </p:spPr>
        <p:txBody>
          <a:bodyPr wrap="square" lIns="0" tIns="0" rIns="0" bIns="0" rtlCol="0" anchor="ctr"/>
          <a:lstStyle/>
          <a:p>
            <a:pPr algn="ctr" indent="0" marL="0">
              <a:buNone/>
            </a:pPr>
            <a:r>
              <a:rPr lang="en-US" sz="1300" dirty="0">
                <a:solidFill>
                  <a:srgbClr val="BDA2DA"/>
                </a:solidFill>
                <a:latin typeface="Calibri" pitchFamily="34" charset="0"/>
                <a:ea typeface="Calibri" pitchFamily="34" charset="-122"/>
                <a:cs typeface="Calibri" pitchFamily="34" charset="-120"/>
              </a:rPr>
              <a:t>1K users (loss)</a:t>
            </a:r>
            <a:endParaRPr lang="en-US" sz="1300" dirty="0"/>
          </a:p>
        </p:txBody>
      </p:sp>
      <p:sp>
        <p:nvSpPr>
          <p:cNvPr id="7" name="Text 5"/>
          <p:cNvSpPr/>
          <p:nvPr/>
        </p:nvSpPr>
        <p:spPr>
          <a:xfrm>
            <a:off x="2880360" y="3200400"/>
            <a:ext cx="2011680" cy="1280160"/>
          </a:xfrm>
          <a:prstGeom prst="rect">
            <a:avLst/>
          </a:prstGeom>
          <a:noFill/>
          <a:ln/>
        </p:spPr>
        <p:txBody>
          <a:bodyPr wrap="square" lIns="0" tIns="0" rIns="0" bIns="0" rtlCol="0" anchor="ctr"/>
          <a:lstStyle/>
          <a:p>
            <a:pPr algn="ctr" indent="0" marL="0">
              <a:buNone/>
            </a:pPr>
            <a:r>
              <a:rPr lang="en-US" sz="4400" b="1" dirty="0">
                <a:solidFill>
                  <a:srgbClr val="FFFFFF"/>
                </a:solidFill>
                <a:latin typeface="Calibri" pitchFamily="34" charset="0"/>
                <a:ea typeface="Calibri" pitchFamily="34" charset="-122"/>
                <a:cs typeface="Calibri" pitchFamily="34" charset="-120"/>
              </a:rPr>
              <a:t>$111K</a:t>
            </a:r>
            <a:endParaRPr lang="en-US" sz="4400" dirty="0"/>
          </a:p>
        </p:txBody>
      </p:sp>
      <p:sp>
        <p:nvSpPr>
          <p:cNvPr id="8" name="Text 6"/>
          <p:cNvSpPr/>
          <p:nvPr/>
        </p:nvSpPr>
        <p:spPr>
          <a:xfrm>
            <a:off x="2880360" y="4480560"/>
            <a:ext cx="2011680" cy="457200"/>
          </a:xfrm>
          <a:prstGeom prst="rect">
            <a:avLst/>
          </a:prstGeom>
          <a:noFill/>
          <a:ln/>
        </p:spPr>
        <p:txBody>
          <a:bodyPr wrap="square" lIns="0" tIns="0" rIns="0" bIns="0" rtlCol="0" anchor="ctr"/>
          <a:lstStyle/>
          <a:p>
            <a:pPr algn="ctr" indent="0" marL="0">
              <a:buNone/>
            </a:pPr>
            <a:r>
              <a:rPr lang="en-US" sz="1300" dirty="0">
                <a:solidFill>
                  <a:srgbClr val="BDA2DA"/>
                </a:solidFill>
                <a:latin typeface="Calibri" pitchFamily="34" charset="0"/>
                <a:ea typeface="Calibri" pitchFamily="34" charset="-122"/>
                <a:cs typeface="Calibri" pitchFamily="34" charset="-120"/>
              </a:rPr>
              <a:t>10K users</a:t>
            </a:r>
            <a:endParaRPr lang="en-US" sz="1300" dirty="0"/>
          </a:p>
        </p:txBody>
      </p:sp>
      <p:sp>
        <p:nvSpPr>
          <p:cNvPr id="9" name="Text 7"/>
          <p:cNvSpPr/>
          <p:nvPr/>
        </p:nvSpPr>
        <p:spPr>
          <a:xfrm>
            <a:off x="5074920" y="3200400"/>
            <a:ext cx="2011680" cy="1280160"/>
          </a:xfrm>
          <a:prstGeom prst="rect">
            <a:avLst/>
          </a:prstGeom>
          <a:noFill/>
          <a:ln/>
        </p:spPr>
        <p:txBody>
          <a:bodyPr wrap="square" lIns="0" tIns="0" rIns="0" bIns="0" rtlCol="0" anchor="ctr"/>
          <a:lstStyle/>
          <a:p>
            <a:pPr algn="ctr" indent="0" marL="0">
              <a:buNone/>
            </a:pPr>
            <a:r>
              <a:rPr lang="en-US" sz="4400" b="1" dirty="0">
                <a:solidFill>
                  <a:srgbClr val="FFFFFF"/>
                </a:solidFill>
                <a:latin typeface="Calibri" pitchFamily="34" charset="0"/>
                <a:ea typeface="Calibri" pitchFamily="34" charset="-122"/>
                <a:cs typeface="Calibri" pitchFamily="34" charset="-120"/>
              </a:rPr>
              <a:t>$657K</a:t>
            </a:r>
            <a:endParaRPr lang="en-US" sz="4400" dirty="0"/>
          </a:p>
        </p:txBody>
      </p:sp>
      <p:sp>
        <p:nvSpPr>
          <p:cNvPr id="10" name="Text 8"/>
          <p:cNvSpPr/>
          <p:nvPr/>
        </p:nvSpPr>
        <p:spPr>
          <a:xfrm>
            <a:off x="5074920" y="4480560"/>
            <a:ext cx="2011680" cy="457200"/>
          </a:xfrm>
          <a:prstGeom prst="rect">
            <a:avLst/>
          </a:prstGeom>
          <a:noFill/>
          <a:ln/>
        </p:spPr>
        <p:txBody>
          <a:bodyPr wrap="square" lIns="0" tIns="0" rIns="0" bIns="0" rtlCol="0" anchor="ctr"/>
          <a:lstStyle/>
          <a:p>
            <a:pPr algn="ctr" indent="0" marL="0">
              <a:buNone/>
            </a:pPr>
            <a:r>
              <a:rPr lang="en-US" sz="1300" dirty="0">
                <a:solidFill>
                  <a:srgbClr val="BDA2DA"/>
                </a:solidFill>
                <a:latin typeface="Calibri" pitchFamily="34" charset="0"/>
                <a:ea typeface="Calibri" pitchFamily="34" charset="-122"/>
                <a:cs typeface="Calibri" pitchFamily="34" charset="-120"/>
              </a:rPr>
              <a:t>50K users</a:t>
            </a:r>
            <a:endParaRPr lang="en-US" sz="1300" dirty="0"/>
          </a:p>
        </p:txBody>
      </p:sp>
      <p:sp>
        <p:nvSpPr>
          <p:cNvPr id="11" name="Text 9"/>
          <p:cNvSpPr/>
          <p:nvPr/>
        </p:nvSpPr>
        <p:spPr>
          <a:xfrm>
            <a:off x="7269480" y="3200400"/>
            <a:ext cx="2011680" cy="1280160"/>
          </a:xfrm>
          <a:prstGeom prst="rect">
            <a:avLst/>
          </a:prstGeom>
          <a:noFill/>
          <a:ln/>
        </p:spPr>
        <p:txBody>
          <a:bodyPr wrap="square" lIns="0" tIns="0" rIns="0" bIns="0" rtlCol="0" anchor="ctr"/>
          <a:lstStyle/>
          <a:p>
            <a:pPr algn="ctr" indent="0" marL="0">
              <a:buNone/>
            </a:pPr>
            <a:r>
              <a:rPr lang="en-US" sz="4400" b="1" dirty="0">
                <a:solidFill>
                  <a:srgbClr val="D4A24C"/>
                </a:solidFill>
                <a:latin typeface="Calibri" pitchFamily="34" charset="0"/>
                <a:ea typeface="Calibri" pitchFamily="34" charset="-122"/>
                <a:cs typeface="Calibri" pitchFamily="34" charset="-120"/>
              </a:rPr>
              <a:t>$1.33M</a:t>
            </a:r>
            <a:endParaRPr lang="en-US" sz="4400" dirty="0"/>
          </a:p>
        </p:txBody>
      </p:sp>
      <p:sp>
        <p:nvSpPr>
          <p:cNvPr id="12" name="Text 10"/>
          <p:cNvSpPr/>
          <p:nvPr/>
        </p:nvSpPr>
        <p:spPr>
          <a:xfrm>
            <a:off x="7269480" y="4480560"/>
            <a:ext cx="2011680" cy="457200"/>
          </a:xfrm>
          <a:prstGeom prst="rect">
            <a:avLst/>
          </a:prstGeom>
          <a:noFill/>
          <a:ln/>
        </p:spPr>
        <p:txBody>
          <a:bodyPr wrap="square" lIns="0" tIns="0" rIns="0" bIns="0" rtlCol="0" anchor="ctr"/>
          <a:lstStyle/>
          <a:p>
            <a:pPr algn="ctr" indent="0" marL="0">
              <a:buNone/>
            </a:pPr>
            <a:r>
              <a:rPr lang="en-US" sz="1300" dirty="0">
                <a:solidFill>
                  <a:srgbClr val="BDA2DA"/>
                </a:solidFill>
                <a:latin typeface="Calibri" pitchFamily="34" charset="0"/>
                <a:ea typeface="Calibri" pitchFamily="34" charset="-122"/>
                <a:cs typeface="Calibri" pitchFamily="34" charset="-120"/>
              </a:rPr>
              <a:t>100K users</a:t>
            </a:r>
            <a:endParaRPr lang="en-US" sz="1300" dirty="0"/>
          </a:p>
        </p:txBody>
      </p:sp>
      <p:sp>
        <p:nvSpPr>
          <p:cNvPr id="13" name="Text 11"/>
          <p:cNvSpPr/>
          <p:nvPr/>
        </p:nvSpPr>
        <p:spPr>
          <a:xfrm>
            <a:off x="9464040" y="3200400"/>
            <a:ext cx="2011680" cy="1280160"/>
          </a:xfrm>
          <a:prstGeom prst="rect">
            <a:avLst/>
          </a:prstGeom>
          <a:noFill/>
          <a:ln/>
        </p:spPr>
        <p:txBody>
          <a:bodyPr wrap="square" lIns="0" tIns="0" rIns="0" bIns="0" rtlCol="0" anchor="ctr"/>
          <a:lstStyle/>
          <a:p>
            <a:pPr algn="ctr" indent="0" marL="0">
              <a:buNone/>
            </a:pPr>
            <a:r>
              <a:rPr lang="en-US" sz="4400" b="1" dirty="0">
                <a:solidFill>
                  <a:srgbClr val="D4A24C"/>
                </a:solidFill>
                <a:latin typeface="Calibri" pitchFamily="34" charset="0"/>
                <a:ea typeface="Calibri" pitchFamily="34" charset="-122"/>
                <a:cs typeface="Calibri" pitchFamily="34" charset="-120"/>
              </a:rPr>
              <a:t>$3.38M</a:t>
            </a:r>
            <a:endParaRPr lang="en-US" sz="4400" dirty="0"/>
          </a:p>
        </p:txBody>
      </p:sp>
      <p:sp>
        <p:nvSpPr>
          <p:cNvPr id="14" name="Text 12"/>
          <p:cNvSpPr/>
          <p:nvPr/>
        </p:nvSpPr>
        <p:spPr>
          <a:xfrm>
            <a:off x="9464040" y="4480560"/>
            <a:ext cx="2011680" cy="457200"/>
          </a:xfrm>
          <a:prstGeom prst="rect">
            <a:avLst/>
          </a:prstGeom>
          <a:noFill/>
          <a:ln/>
        </p:spPr>
        <p:txBody>
          <a:bodyPr wrap="square" lIns="0" tIns="0" rIns="0" bIns="0" rtlCol="0" anchor="ctr"/>
          <a:lstStyle/>
          <a:p>
            <a:pPr algn="ctr" indent="0" marL="0">
              <a:buNone/>
            </a:pPr>
            <a:r>
              <a:rPr lang="en-US" sz="1300" dirty="0">
                <a:solidFill>
                  <a:srgbClr val="BDA2DA"/>
                </a:solidFill>
                <a:latin typeface="Calibri" pitchFamily="34" charset="0"/>
                <a:ea typeface="Calibri" pitchFamily="34" charset="-122"/>
                <a:cs typeface="Calibri" pitchFamily="34" charset="-120"/>
              </a:rPr>
              <a:t>250K users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64240" cy="320040"/>
          </a:xfrm>
          <a:prstGeom prst="rect">
            <a:avLst/>
          </a:prstGeom>
          <a:noFill/>
          <a:ln/>
        </p:spPr>
        <p:txBody>
          <a:bodyPr wrap="square" rtlCol="0" anchor="ctr"/>
          <a:lstStyle/>
          <a:p>
            <a:pPr indent="0" marL="0">
              <a:buNone/>
            </a:pPr>
            <a:r>
              <a:rPr lang="en-US" sz="1300" b="1" spc="400" kern="0" dirty="0">
                <a:solidFill>
                  <a:srgbClr val="8163A3"/>
                </a:solidFill>
                <a:latin typeface="Calibri" pitchFamily="34" charset="0"/>
                <a:ea typeface="Calibri" pitchFamily="34" charset="-122"/>
                <a:cs typeface="Calibri" pitchFamily="34" charset="-120"/>
              </a:rPr>
              <a:t>PROFIT</a:t>
            </a:r>
            <a:endParaRPr lang="en-US" sz="1300" dirty="0"/>
          </a:p>
        </p:txBody>
      </p:sp>
      <p:sp>
        <p:nvSpPr>
          <p:cNvPr id="3" name="Text 1"/>
          <p:cNvSpPr/>
          <p:nvPr/>
        </p:nvSpPr>
        <p:spPr>
          <a:xfrm>
            <a:off x="548640" y="868680"/>
            <a:ext cx="11064240" cy="777240"/>
          </a:xfrm>
          <a:prstGeom prst="rect">
            <a:avLst/>
          </a:prstGeom>
          <a:noFill/>
          <a:ln/>
        </p:spPr>
        <p:txBody>
          <a:bodyPr wrap="square" lIns="0" tIns="0" rIns="0" bIns="0" rtlCol="0" anchor="ctr"/>
          <a:lstStyle/>
          <a:p>
            <a:pPr indent="0" marL="0">
              <a:buNone/>
            </a:pPr>
            <a:r>
              <a:rPr lang="en-US" sz="3200" b="1" dirty="0">
                <a:solidFill>
                  <a:srgbClr val="4A2070"/>
                </a:solidFill>
                <a:latin typeface="Calibri" pitchFamily="34" charset="0"/>
                <a:ea typeface="Calibri" pitchFamily="34" charset="-122"/>
                <a:cs typeface="Calibri" pitchFamily="34" charset="-120"/>
              </a:rPr>
              <a:t>Break-Even at ~3,500 Users</a:t>
            </a:r>
            <a:endParaRPr lang="en-US" sz="3200" dirty="0"/>
          </a:p>
        </p:txBody>
      </p:sp>
      <p:sp>
        <p:nvSpPr>
          <p:cNvPr id="4" name="Text 2"/>
          <p:cNvSpPr/>
          <p:nvPr/>
        </p:nvSpPr>
        <p:spPr>
          <a:xfrm>
            <a:off x="1371600" y="2194560"/>
            <a:ext cx="4114800" cy="914400"/>
          </a:xfrm>
          <a:prstGeom prst="rect">
            <a:avLst/>
          </a:prstGeom>
          <a:noFill/>
          <a:ln/>
        </p:spPr>
        <p:txBody>
          <a:bodyPr wrap="square" lIns="0" tIns="0" rIns="0" bIns="0" rtlCol="0" anchor="ctr"/>
          <a:lstStyle/>
          <a:p>
            <a:pPr algn="ctr" indent="0" marL="0">
              <a:buNone/>
            </a:pPr>
            <a:r>
              <a:rPr lang="en-US" sz="5200" b="1" dirty="0">
                <a:solidFill>
                  <a:srgbClr val="4A2070"/>
                </a:solidFill>
                <a:latin typeface="Calibri" pitchFamily="34" charset="0"/>
                <a:ea typeface="Calibri" pitchFamily="34" charset="-122"/>
                <a:cs typeface="Calibri" pitchFamily="34" charset="-120"/>
              </a:rPr>
              <a:t>~3,500</a:t>
            </a:r>
            <a:endParaRPr lang="en-US" sz="5200" dirty="0"/>
          </a:p>
        </p:txBody>
      </p:sp>
      <p:sp>
        <p:nvSpPr>
          <p:cNvPr id="5" name="Text 3"/>
          <p:cNvSpPr/>
          <p:nvPr/>
        </p:nvSpPr>
        <p:spPr>
          <a:xfrm>
            <a:off x="1371600" y="3108960"/>
            <a:ext cx="4114800" cy="365760"/>
          </a:xfrm>
          <a:prstGeom prst="rect">
            <a:avLst/>
          </a:prstGeom>
          <a:noFill/>
          <a:ln/>
        </p:spPr>
        <p:txBody>
          <a:bodyPr wrap="square" lIns="0" tIns="0" rIns="0" bIns="0" rtlCol="0" anchor="ctr"/>
          <a:lstStyle/>
          <a:p>
            <a:pPr algn="ctr" indent="0" marL="0">
              <a:buNone/>
            </a:pPr>
            <a:r>
              <a:rPr lang="en-US" sz="1300" dirty="0">
                <a:solidFill>
                  <a:srgbClr val="666666"/>
                </a:solidFill>
                <a:latin typeface="Calibri" pitchFamily="34" charset="0"/>
                <a:ea typeface="Calibri" pitchFamily="34" charset="-122"/>
                <a:cs typeface="Calibri" pitchFamily="34" charset="-120"/>
              </a:rPr>
              <a:t>Total registered users</a:t>
            </a:r>
            <a:endParaRPr lang="en-US" sz="1300" dirty="0"/>
          </a:p>
        </p:txBody>
      </p:sp>
      <p:sp>
        <p:nvSpPr>
          <p:cNvPr id="6" name="Text 4"/>
          <p:cNvSpPr/>
          <p:nvPr/>
        </p:nvSpPr>
        <p:spPr>
          <a:xfrm>
            <a:off x="6675120" y="2194560"/>
            <a:ext cx="4114800" cy="914400"/>
          </a:xfrm>
          <a:prstGeom prst="rect">
            <a:avLst/>
          </a:prstGeom>
          <a:noFill/>
          <a:ln/>
        </p:spPr>
        <p:txBody>
          <a:bodyPr wrap="square" lIns="0" tIns="0" rIns="0" bIns="0" rtlCol="0" anchor="ctr"/>
          <a:lstStyle/>
          <a:p>
            <a:pPr algn="ctr" indent="0" marL="0">
              <a:buNone/>
            </a:pPr>
            <a:r>
              <a:rPr lang="en-US" sz="5200" b="1" dirty="0">
                <a:solidFill>
                  <a:srgbClr val="4A2070"/>
                </a:solidFill>
                <a:latin typeface="Calibri" pitchFamily="34" charset="0"/>
                <a:ea typeface="Calibri" pitchFamily="34" charset="-122"/>
                <a:cs typeface="Calibri" pitchFamily="34" charset="-120"/>
              </a:rPr>
              <a:t>~1,050</a:t>
            </a:r>
            <a:endParaRPr lang="en-US" sz="5200" dirty="0"/>
          </a:p>
        </p:txBody>
      </p:sp>
      <p:sp>
        <p:nvSpPr>
          <p:cNvPr id="7" name="Text 5"/>
          <p:cNvSpPr/>
          <p:nvPr/>
        </p:nvSpPr>
        <p:spPr>
          <a:xfrm>
            <a:off x="6675120" y="3108960"/>
            <a:ext cx="4114800" cy="365760"/>
          </a:xfrm>
          <a:prstGeom prst="rect">
            <a:avLst/>
          </a:prstGeom>
          <a:noFill/>
          <a:ln/>
        </p:spPr>
        <p:txBody>
          <a:bodyPr wrap="square" lIns="0" tIns="0" rIns="0" bIns="0" rtlCol="0" anchor="ctr"/>
          <a:lstStyle/>
          <a:p>
            <a:pPr algn="ctr" indent="0" marL="0">
              <a:buNone/>
            </a:pPr>
            <a:r>
              <a:rPr lang="en-US" sz="1300" dirty="0">
                <a:solidFill>
                  <a:srgbClr val="666666"/>
                </a:solidFill>
                <a:latin typeface="Calibri" pitchFamily="34" charset="0"/>
                <a:ea typeface="Calibri" pitchFamily="34" charset="-122"/>
                <a:cs typeface="Calibri" pitchFamily="34" charset="-120"/>
              </a:rPr>
              <a:t>Monthly active users (MAU)</a:t>
            </a:r>
            <a:endParaRPr lang="en-US" sz="1300" dirty="0"/>
          </a:p>
        </p:txBody>
      </p:sp>
      <p:sp>
        <p:nvSpPr>
          <p:cNvPr id="8" name="Shape 6"/>
          <p:cNvSpPr/>
          <p:nvPr/>
        </p:nvSpPr>
        <p:spPr>
          <a:xfrm>
            <a:off x="548640" y="4572000"/>
            <a:ext cx="11064240" cy="1463040"/>
          </a:xfrm>
          <a:prstGeom prst="rect">
            <a:avLst/>
          </a:prstGeom>
          <a:solidFill>
            <a:srgbClr val="E6DFED"/>
          </a:solidFill>
          <a:ln w="12700">
            <a:solidFill>
              <a:srgbClr val="BDA2DA"/>
            </a:solidFill>
            <a:prstDash val="solid"/>
          </a:ln>
        </p:spPr>
      </p:sp>
      <p:sp>
        <p:nvSpPr>
          <p:cNvPr id="9" name="Text 7"/>
          <p:cNvSpPr/>
          <p:nvPr/>
        </p:nvSpPr>
        <p:spPr>
          <a:xfrm>
            <a:off x="914400" y="4617720"/>
            <a:ext cx="10332720" cy="1371600"/>
          </a:xfrm>
          <a:prstGeom prst="rect">
            <a:avLst/>
          </a:prstGeom>
          <a:noFill/>
          <a:ln/>
        </p:spPr>
        <p:txBody>
          <a:bodyPr wrap="square" lIns="0" tIns="0" rIns="0" bIns="0" rtlCol="0" anchor="ctr"/>
          <a:lstStyle/>
          <a:p>
            <a:pPr indent="0" marL="0">
              <a:spcAft>
                <a:spcPts val="400"/>
              </a:spcAft>
              <a:buNone/>
            </a:pPr>
            <a:r>
              <a:rPr lang="en-US" sz="1400" dirty="0">
                <a:solidFill>
                  <a:srgbClr val="2A1A3A"/>
                </a:solidFill>
                <a:latin typeface="Calibri" pitchFamily="34" charset="0"/>
                <a:ea typeface="Calibri" pitchFamily="34" charset="-122"/>
                <a:cs typeface="Calibri" pitchFamily="34" charset="-120"/>
              </a:rPr>
              <a:t>Below this line, fixed costs (~$1.5K-$2.5K/mo for cloud + monitoring) outweigh per-user margin. Above it, the curve scales close-to-linearly because Gemini and Deepgram price per unit. The realistic conversion-rate floor is 3% paid; the model assumes ~9% (30% MAU × 30% paid-of-MAU) — every percentage point of conversion uplift is high-leverage growth.</a:t>
            </a:r>
            <a:endParaRPr lang="en-US" sz="1400" dirty="0"/>
          </a:p>
        </p:txBody>
      </p:sp>
      <p:sp>
        <p:nvSpPr>
          <p:cNvPr id="10" name="Text 8"/>
          <p:cNvSpPr/>
          <p:nvPr/>
        </p:nvSpPr>
        <p:spPr>
          <a:xfrm>
            <a:off x="365760" y="6492240"/>
            <a:ext cx="1828800" cy="274320"/>
          </a:xfrm>
          <a:prstGeom prst="rect">
            <a:avLst/>
          </a:prstGeom>
          <a:noFill/>
          <a:ln/>
        </p:spPr>
        <p:txBody>
          <a:bodyPr wrap="square" rtlCol="0" anchor="ctr"/>
          <a:lstStyle/>
          <a:p>
            <a:pPr indent="0" marL="0">
              <a:buNone/>
            </a:pPr>
            <a:r>
              <a:rPr lang="en-US" sz="1000" b="1" dirty="0">
                <a:solidFill>
                  <a:srgbClr val="666666"/>
                </a:solidFill>
                <a:latin typeface="Calibri" pitchFamily="34" charset="0"/>
                <a:ea typeface="Calibri" pitchFamily="34" charset="-122"/>
                <a:cs typeface="Calibri" pitchFamily="34" charset="-120"/>
              </a:rPr>
              <a:t>Sheen AI</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4A2070"/>
        </a:solidFill>
      </p:bgPr>
    </p:bg>
    <p:spTree>
      <p:nvGrpSpPr>
        <p:cNvPr id="1" name=""/>
        <p:cNvGrpSpPr/>
        <p:nvPr/>
      </p:nvGrpSpPr>
      <p:grpSpPr>
        <a:xfrm>
          <a:off x="0" y="0"/>
          <a:ext cx="0" cy="0"/>
          <a:chOff x="0" y="0"/>
          <a:chExt cx="0" cy="0"/>
        </a:xfrm>
      </p:grpSpPr>
      <p:sp>
        <p:nvSpPr>
          <p:cNvPr id="2" name="Shape 0"/>
          <p:cNvSpPr/>
          <p:nvPr/>
        </p:nvSpPr>
        <p:spPr>
          <a:xfrm>
            <a:off x="11996928" y="0"/>
            <a:ext cx="164592" cy="6858000"/>
          </a:xfrm>
          <a:prstGeom prst="rect">
            <a:avLst/>
          </a:prstGeom>
          <a:solidFill>
            <a:srgbClr val="BDA2DA"/>
          </a:solidFill>
          <a:ln/>
        </p:spPr>
      </p:sp>
      <p:sp>
        <p:nvSpPr>
          <p:cNvPr id="3" name="Text 1"/>
          <p:cNvSpPr/>
          <p:nvPr/>
        </p:nvSpPr>
        <p:spPr>
          <a:xfrm>
            <a:off x="914400" y="2560320"/>
            <a:ext cx="10332720" cy="457200"/>
          </a:xfrm>
          <a:prstGeom prst="rect">
            <a:avLst/>
          </a:prstGeom>
          <a:noFill/>
          <a:ln/>
        </p:spPr>
        <p:txBody>
          <a:bodyPr wrap="square" lIns="0" tIns="0" rIns="0" bIns="0" rtlCol="0" anchor="ctr"/>
          <a:lstStyle/>
          <a:p>
            <a:pPr algn="ctr" indent="0" marL="0">
              <a:buNone/>
            </a:pPr>
            <a:r>
              <a:rPr lang="en-US" sz="1800" b="1" spc="600" kern="0" dirty="0">
                <a:solidFill>
                  <a:srgbClr val="BDA2DA"/>
                </a:solidFill>
                <a:latin typeface="Calibri" pitchFamily="34" charset="0"/>
                <a:ea typeface="Calibri" pitchFamily="34" charset="-122"/>
                <a:cs typeface="Calibri" pitchFamily="34" charset="-120"/>
              </a:rPr>
              <a:t>SECTION 04</a:t>
            </a:r>
            <a:endParaRPr lang="en-US" sz="1800" dirty="0"/>
          </a:p>
        </p:txBody>
      </p:sp>
      <p:sp>
        <p:nvSpPr>
          <p:cNvPr id="4" name="Text 2"/>
          <p:cNvSpPr/>
          <p:nvPr/>
        </p:nvSpPr>
        <p:spPr>
          <a:xfrm>
            <a:off x="914400" y="3108960"/>
            <a:ext cx="10332720" cy="1280160"/>
          </a:xfrm>
          <a:prstGeom prst="rect">
            <a:avLst/>
          </a:prstGeom>
          <a:noFill/>
          <a:ln/>
        </p:spPr>
        <p:txBody>
          <a:bodyPr wrap="square" lIns="0" tIns="0" rIns="0" bIns="0" rtlCol="0" anchor="ctr"/>
          <a:lstStyle/>
          <a:p>
            <a:pPr algn="ctr" indent="0" marL="0">
              <a:buNone/>
            </a:pPr>
            <a:r>
              <a:rPr lang="en-US" sz="6400" b="1" dirty="0">
                <a:solidFill>
                  <a:srgbClr val="FFFFFF"/>
                </a:solidFill>
                <a:latin typeface="Calibri" pitchFamily="34" charset="0"/>
                <a:ea typeface="Calibri" pitchFamily="34" charset="-122"/>
                <a:cs typeface="Calibri" pitchFamily="34" charset="-120"/>
              </a:rPr>
              <a:t>Distribution &amp; Status</a:t>
            </a:r>
            <a:endParaRPr lang="en-US" sz="6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64240" cy="320040"/>
          </a:xfrm>
          <a:prstGeom prst="rect">
            <a:avLst/>
          </a:prstGeom>
          <a:noFill/>
          <a:ln/>
        </p:spPr>
        <p:txBody>
          <a:bodyPr wrap="square" rtlCol="0" anchor="ctr"/>
          <a:lstStyle/>
          <a:p>
            <a:pPr indent="0" marL="0">
              <a:buNone/>
            </a:pPr>
            <a:r>
              <a:rPr lang="en-US" sz="1300" b="1" spc="400" kern="0" dirty="0">
                <a:solidFill>
                  <a:srgbClr val="8163A3"/>
                </a:solidFill>
                <a:latin typeface="Calibri" pitchFamily="34" charset="0"/>
                <a:ea typeface="Calibri" pitchFamily="34" charset="-122"/>
                <a:cs typeface="Calibri" pitchFamily="34" charset="-120"/>
              </a:rPr>
              <a:t>DISTRIBUTION</a:t>
            </a:r>
            <a:endParaRPr lang="en-US" sz="1300" dirty="0"/>
          </a:p>
        </p:txBody>
      </p:sp>
      <p:sp>
        <p:nvSpPr>
          <p:cNvPr id="3" name="Text 1"/>
          <p:cNvSpPr/>
          <p:nvPr/>
        </p:nvSpPr>
        <p:spPr>
          <a:xfrm>
            <a:off x="548640" y="868680"/>
            <a:ext cx="11064240" cy="777240"/>
          </a:xfrm>
          <a:prstGeom prst="rect">
            <a:avLst/>
          </a:prstGeom>
          <a:noFill/>
          <a:ln/>
        </p:spPr>
        <p:txBody>
          <a:bodyPr wrap="square" lIns="0" tIns="0" rIns="0" bIns="0" rtlCol="0" anchor="ctr"/>
          <a:lstStyle/>
          <a:p>
            <a:pPr indent="0" marL="0">
              <a:buNone/>
            </a:pPr>
            <a:r>
              <a:rPr lang="en-US" sz="3200" b="1" dirty="0">
                <a:solidFill>
                  <a:srgbClr val="4A2070"/>
                </a:solidFill>
                <a:latin typeface="Calibri" pitchFamily="34" charset="0"/>
                <a:ea typeface="Calibri" pitchFamily="34" charset="-122"/>
                <a:cs typeface="Calibri" pitchFamily="34" charset="-120"/>
              </a:rPr>
              <a:t>Three Channels, One Codebase</a:t>
            </a:r>
            <a:endParaRPr lang="en-US" sz="3200" dirty="0"/>
          </a:p>
        </p:txBody>
      </p:sp>
      <p:sp>
        <p:nvSpPr>
          <p:cNvPr id="4" name="Shape 2"/>
          <p:cNvSpPr/>
          <p:nvPr/>
        </p:nvSpPr>
        <p:spPr>
          <a:xfrm>
            <a:off x="228600" y="1737360"/>
            <a:ext cx="3657600" cy="822960"/>
          </a:xfrm>
          <a:prstGeom prst="rect">
            <a:avLst/>
          </a:prstGeom>
          <a:solidFill>
            <a:srgbClr val="4A2070"/>
          </a:solidFill>
          <a:ln/>
        </p:spPr>
      </p:sp>
      <p:sp>
        <p:nvSpPr>
          <p:cNvPr id="5" name="Text 3"/>
          <p:cNvSpPr/>
          <p:nvPr/>
        </p:nvSpPr>
        <p:spPr>
          <a:xfrm>
            <a:off x="228600" y="1737360"/>
            <a:ext cx="3657600" cy="82296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iOS</a:t>
            </a:r>
            <a:endParaRPr lang="en-US" sz="2800" dirty="0"/>
          </a:p>
        </p:txBody>
      </p:sp>
      <p:sp>
        <p:nvSpPr>
          <p:cNvPr id="6" name="Shape 4"/>
          <p:cNvSpPr/>
          <p:nvPr/>
        </p:nvSpPr>
        <p:spPr>
          <a:xfrm>
            <a:off x="228600" y="2560320"/>
            <a:ext cx="3657600" cy="3200400"/>
          </a:xfrm>
          <a:prstGeom prst="rect">
            <a:avLst/>
          </a:prstGeom>
          <a:solidFill>
            <a:srgbClr val="FFFFFF"/>
          </a:solidFill>
          <a:ln w="12700">
            <a:solidFill>
              <a:srgbClr val="BDA2DA"/>
            </a:solidFill>
            <a:prstDash val="solid"/>
          </a:ln>
        </p:spPr>
      </p:sp>
      <p:sp>
        <p:nvSpPr>
          <p:cNvPr id="7" name="Text 5"/>
          <p:cNvSpPr/>
          <p:nvPr/>
        </p:nvSpPr>
        <p:spPr>
          <a:xfrm>
            <a:off x="502920" y="2743200"/>
            <a:ext cx="3108960" cy="274320"/>
          </a:xfrm>
          <a:prstGeom prst="rect">
            <a:avLst/>
          </a:prstGeom>
          <a:noFill/>
          <a:ln/>
        </p:spPr>
        <p:txBody>
          <a:bodyPr wrap="square" lIns="0" tIns="0" rIns="0" bIns="0" rtlCol="0" anchor="ctr"/>
          <a:lstStyle/>
          <a:p>
            <a:pPr indent="0" marL="0">
              <a:buNone/>
            </a:pPr>
            <a:r>
              <a:rPr lang="en-US" sz="1100" b="1" spc="300" kern="0" dirty="0">
                <a:solidFill>
                  <a:srgbClr val="8163A3"/>
                </a:solidFill>
                <a:latin typeface="Calibri" pitchFamily="34" charset="0"/>
                <a:ea typeface="Calibri" pitchFamily="34" charset="-122"/>
                <a:cs typeface="Calibri" pitchFamily="34" charset="-120"/>
              </a:rPr>
              <a:t>Distribution</a:t>
            </a:r>
            <a:endParaRPr lang="en-US" sz="1100" dirty="0"/>
          </a:p>
        </p:txBody>
      </p:sp>
      <p:sp>
        <p:nvSpPr>
          <p:cNvPr id="8" name="Text 6"/>
          <p:cNvSpPr/>
          <p:nvPr/>
        </p:nvSpPr>
        <p:spPr>
          <a:xfrm>
            <a:off x="502920" y="3017520"/>
            <a:ext cx="3108960" cy="365760"/>
          </a:xfrm>
          <a:prstGeom prst="rect">
            <a:avLst/>
          </a:prstGeom>
          <a:noFill/>
          <a:ln/>
        </p:spPr>
        <p:txBody>
          <a:bodyPr wrap="square" lIns="0" tIns="0" rIns="0" bIns="0" rtlCol="0" anchor="ctr"/>
          <a:lstStyle/>
          <a:p>
            <a:pPr indent="0" marL="0">
              <a:buNone/>
            </a:pPr>
            <a:r>
              <a:rPr lang="en-US" sz="1400" dirty="0">
                <a:solidFill>
                  <a:srgbClr val="2A1A3A"/>
                </a:solidFill>
                <a:latin typeface="Calibri" pitchFamily="34" charset="0"/>
                <a:ea typeface="Calibri" pitchFamily="34" charset="-122"/>
                <a:cs typeface="Calibri" pitchFamily="34" charset="-120"/>
              </a:rPr>
              <a:t>App Store via TestFlight</a:t>
            </a:r>
            <a:endParaRPr lang="en-US" sz="1400" dirty="0"/>
          </a:p>
        </p:txBody>
      </p:sp>
      <p:sp>
        <p:nvSpPr>
          <p:cNvPr id="9" name="Text 7"/>
          <p:cNvSpPr/>
          <p:nvPr/>
        </p:nvSpPr>
        <p:spPr>
          <a:xfrm>
            <a:off x="502920" y="3566160"/>
            <a:ext cx="3108960" cy="274320"/>
          </a:xfrm>
          <a:prstGeom prst="rect">
            <a:avLst/>
          </a:prstGeom>
          <a:noFill/>
          <a:ln/>
        </p:spPr>
        <p:txBody>
          <a:bodyPr wrap="square" lIns="0" tIns="0" rIns="0" bIns="0" rtlCol="0" anchor="ctr"/>
          <a:lstStyle/>
          <a:p>
            <a:pPr indent="0" marL="0">
              <a:buNone/>
            </a:pPr>
            <a:r>
              <a:rPr lang="en-US" sz="1100" b="1" spc="300" kern="0" dirty="0">
                <a:solidFill>
                  <a:srgbClr val="8163A3"/>
                </a:solidFill>
                <a:latin typeface="Calibri" pitchFamily="34" charset="0"/>
                <a:ea typeface="Calibri" pitchFamily="34" charset="-122"/>
                <a:cs typeface="Calibri" pitchFamily="34" charset="-120"/>
              </a:rPr>
              <a:t>Status</a:t>
            </a:r>
            <a:endParaRPr lang="en-US" sz="1100" dirty="0"/>
          </a:p>
        </p:txBody>
      </p:sp>
      <p:sp>
        <p:nvSpPr>
          <p:cNvPr id="10" name="Text 8"/>
          <p:cNvSpPr/>
          <p:nvPr/>
        </p:nvSpPr>
        <p:spPr>
          <a:xfrm>
            <a:off x="502920" y="3840480"/>
            <a:ext cx="3108960" cy="365760"/>
          </a:xfrm>
          <a:prstGeom prst="rect">
            <a:avLst/>
          </a:prstGeom>
          <a:noFill/>
          <a:ln/>
        </p:spPr>
        <p:txBody>
          <a:bodyPr wrap="square" lIns="0" tIns="0" rIns="0" bIns="0" rtlCol="0" anchor="ctr"/>
          <a:lstStyle/>
          <a:p>
            <a:pPr indent="0" marL="0">
              <a:buNone/>
            </a:pPr>
            <a:r>
              <a:rPr lang="en-US" sz="1400" dirty="0">
                <a:solidFill>
                  <a:srgbClr val="2A1A3A"/>
                </a:solidFill>
                <a:latin typeface="Calibri" pitchFamily="34" charset="0"/>
                <a:ea typeface="Calibri" pitchFamily="34" charset="-122"/>
                <a:cs typeface="Calibri" pitchFamily="34" charset="-120"/>
              </a:rPr>
              <a:t>Pending Mac access</a:t>
            </a:r>
            <a:endParaRPr lang="en-US" sz="1400" dirty="0"/>
          </a:p>
        </p:txBody>
      </p:sp>
      <p:sp>
        <p:nvSpPr>
          <p:cNvPr id="11" name="Text 9"/>
          <p:cNvSpPr/>
          <p:nvPr/>
        </p:nvSpPr>
        <p:spPr>
          <a:xfrm>
            <a:off x="502920" y="4389120"/>
            <a:ext cx="3108960" cy="274320"/>
          </a:xfrm>
          <a:prstGeom prst="rect">
            <a:avLst/>
          </a:prstGeom>
          <a:noFill/>
          <a:ln/>
        </p:spPr>
        <p:txBody>
          <a:bodyPr wrap="square" lIns="0" tIns="0" rIns="0" bIns="0" rtlCol="0" anchor="ctr"/>
          <a:lstStyle/>
          <a:p>
            <a:pPr indent="0" marL="0">
              <a:buNone/>
            </a:pPr>
            <a:r>
              <a:rPr lang="en-US" sz="1100" b="1" spc="300" kern="0" dirty="0">
                <a:solidFill>
                  <a:srgbClr val="8163A3"/>
                </a:solidFill>
                <a:latin typeface="Calibri" pitchFamily="34" charset="0"/>
                <a:ea typeface="Calibri" pitchFamily="34" charset="-122"/>
                <a:cs typeface="Calibri" pitchFamily="34" charset="-120"/>
              </a:rPr>
              <a:t>Cost</a:t>
            </a:r>
            <a:endParaRPr lang="en-US" sz="1100" dirty="0"/>
          </a:p>
        </p:txBody>
      </p:sp>
      <p:sp>
        <p:nvSpPr>
          <p:cNvPr id="12" name="Text 10"/>
          <p:cNvSpPr/>
          <p:nvPr/>
        </p:nvSpPr>
        <p:spPr>
          <a:xfrm>
            <a:off x="502920" y="4663440"/>
            <a:ext cx="3108960" cy="365760"/>
          </a:xfrm>
          <a:prstGeom prst="rect">
            <a:avLst/>
          </a:prstGeom>
          <a:noFill/>
          <a:ln/>
        </p:spPr>
        <p:txBody>
          <a:bodyPr wrap="square" lIns="0" tIns="0" rIns="0" bIns="0" rtlCol="0" anchor="ctr"/>
          <a:lstStyle/>
          <a:p>
            <a:pPr indent="0" marL="0">
              <a:buNone/>
            </a:pPr>
            <a:r>
              <a:rPr lang="en-US" sz="1400" dirty="0">
                <a:solidFill>
                  <a:srgbClr val="2A1A3A"/>
                </a:solidFill>
                <a:latin typeface="Calibri" pitchFamily="34" charset="0"/>
                <a:ea typeface="Calibri" pitchFamily="34" charset="-122"/>
                <a:cs typeface="Calibri" pitchFamily="34" charset="-120"/>
              </a:rPr>
              <a:t>$99 / yr</a:t>
            </a:r>
            <a:endParaRPr lang="en-US" sz="1400" dirty="0"/>
          </a:p>
        </p:txBody>
      </p:sp>
      <p:sp>
        <p:nvSpPr>
          <p:cNvPr id="13" name="Shape 11"/>
          <p:cNvSpPr/>
          <p:nvPr/>
        </p:nvSpPr>
        <p:spPr>
          <a:xfrm>
            <a:off x="4251960" y="1737360"/>
            <a:ext cx="3657600" cy="822960"/>
          </a:xfrm>
          <a:prstGeom prst="rect">
            <a:avLst/>
          </a:prstGeom>
          <a:solidFill>
            <a:srgbClr val="8163A3"/>
          </a:solidFill>
          <a:ln/>
        </p:spPr>
      </p:sp>
      <p:sp>
        <p:nvSpPr>
          <p:cNvPr id="14" name="Text 12"/>
          <p:cNvSpPr/>
          <p:nvPr/>
        </p:nvSpPr>
        <p:spPr>
          <a:xfrm>
            <a:off x="4251960" y="1737360"/>
            <a:ext cx="3657600" cy="82296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Android</a:t>
            </a:r>
            <a:endParaRPr lang="en-US" sz="2800" dirty="0"/>
          </a:p>
        </p:txBody>
      </p:sp>
      <p:sp>
        <p:nvSpPr>
          <p:cNvPr id="15" name="Shape 13"/>
          <p:cNvSpPr/>
          <p:nvPr/>
        </p:nvSpPr>
        <p:spPr>
          <a:xfrm>
            <a:off x="4251960" y="2560320"/>
            <a:ext cx="3657600" cy="3200400"/>
          </a:xfrm>
          <a:prstGeom prst="rect">
            <a:avLst/>
          </a:prstGeom>
          <a:solidFill>
            <a:srgbClr val="FFFFFF"/>
          </a:solidFill>
          <a:ln w="12700">
            <a:solidFill>
              <a:srgbClr val="BDA2DA"/>
            </a:solidFill>
            <a:prstDash val="solid"/>
          </a:ln>
        </p:spPr>
      </p:sp>
      <p:sp>
        <p:nvSpPr>
          <p:cNvPr id="16" name="Text 14"/>
          <p:cNvSpPr/>
          <p:nvPr/>
        </p:nvSpPr>
        <p:spPr>
          <a:xfrm>
            <a:off x="4526280" y="2743200"/>
            <a:ext cx="3108960" cy="274320"/>
          </a:xfrm>
          <a:prstGeom prst="rect">
            <a:avLst/>
          </a:prstGeom>
          <a:noFill/>
          <a:ln/>
        </p:spPr>
        <p:txBody>
          <a:bodyPr wrap="square" lIns="0" tIns="0" rIns="0" bIns="0" rtlCol="0" anchor="ctr"/>
          <a:lstStyle/>
          <a:p>
            <a:pPr indent="0" marL="0">
              <a:buNone/>
            </a:pPr>
            <a:r>
              <a:rPr lang="en-US" sz="1100" b="1" spc="300" kern="0" dirty="0">
                <a:solidFill>
                  <a:srgbClr val="8163A3"/>
                </a:solidFill>
                <a:latin typeface="Calibri" pitchFamily="34" charset="0"/>
                <a:ea typeface="Calibri" pitchFamily="34" charset="-122"/>
                <a:cs typeface="Calibri" pitchFamily="34" charset="-120"/>
              </a:rPr>
              <a:t>Distribution</a:t>
            </a:r>
            <a:endParaRPr lang="en-US" sz="1100" dirty="0"/>
          </a:p>
        </p:txBody>
      </p:sp>
      <p:sp>
        <p:nvSpPr>
          <p:cNvPr id="17" name="Text 15"/>
          <p:cNvSpPr/>
          <p:nvPr/>
        </p:nvSpPr>
        <p:spPr>
          <a:xfrm>
            <a:off x="4526280" y="3017520"/>
            <a:ext cx="3108960" cy="365760"/>
          </a:xfrm>
          <a:prstGeom prst="rect">
            <a:avLst/>
          </a:prstGeom>
          <a:noFill/>
          <a:ln/>
        </p:spPr>
        <p:txBody>
          <a:bodyPr wrap="square" lIns="0" tIns="0" rIns="0" bIns="0" rtlCol="0" anchor="ctr"/>
          <a:lstStyle/>
          <a:p>
            <a:pPr indent="0" marL="0">
              <a:buNone/>
            </a:pPr>
            <a:r>
              <a:rPr lang="en-US" sz="1400" dirty="0">
                <a:solidFill>
                  <a:srgbClr val="2A1A3A"/>
                </a:solidFill>
                <a:latin typeface="Calibri" pitchFamily="34" charset="0"/>
                <a:ea typeface="Calibri" pitchFamily="34" charset="-122"/>
                <a:cs typeface="Calibri" pitchFamily="34" charset="-120"/>
              </a:rPr>
              <a:t>Google Play Console</a:t>
            </a:r>
            <a:endParaRPr lang="en-US" sz="1400" dirty="0"/>
          </a:p>
        </p:txBody>
      </p:sp>
      <p:sp>
        <p:nvSpPr>
          <p:cNvPr id="18" name="Text 16"/>
          <p:cNvSpPr/>
          <p:nvPr/>
        </p:nvSpPr>
        <p:spPr>
          <a:xfrm>
            <a:off x="4526280" y="3566160"/>
            <a:ext cx="3108960" cy="274320"/>
          </a:xfrm>
          <a:prstGeom prst="rect">
            <a:avLst/>
          </a:prstGeom>
          <a:noFill/>
          <a:ln/>
        </p:spPr>
        <p:txBody>
          <a:bodyPr wrap="square" lIns="0" tIns="0" rIns="0" bIns="0" rtlCol="0" anchor="ctr"/>
          <a:lstStyle/>
          <a:p>
            <a:pPr indent="0" marL="0">
              <a:buNone/>
            </a:pPr>
            <a:r>
              <a:rPr lang="en-US" sz="1100" b="1" spc="300" kern="0" dirty="0">
                <a:solidFill>
                  <a:srgbClr val="8163A3"/>
                </a:solidFill>
                <a:latin typeface="Calibri" pitchFamily="34" charset="0"/>
                <a:ea typeface="Calibri" pitchFamily="34" charset="-122"/>
                <a:cs typeface="Calibri" pitchFamily="34" charset="-120"/>
              </a:rPr>
              <a:t>Status</a:t>
            </a:r>
            <a:endParaRPr lang="en-US" sz="1100" dirty="0"/>
          </a:p>
        </p:txBody>
      </p:sp>
      <p:sp>
        <p:nvSpPr>
          <p:cNvPr id="19" name="Text 17"/>
          <p:cNvSpPr/>
          <p:nvPr/>
        </p:nvSpPr>
        <p:spPr>
          <a:xfrm>
            <a:off x="4526280" y="3840480"/>
            <a:ext cx="3108960" cy="365760"/>
          </a:xfrm>
          <a:prstGeom prst="rect">
            <a:avLst/>
          </a:prstGeom>
          <a:noFill/>
          <a:ln/>
        </p:spPr>
        <p:txBody>
          <a:bodyPr wrap="square" lIns="0" tIns="0" rIns="0" bIns="0" rtlCol="0" anchor="ctr"/>
          <a:lstStyle/>
          <a:p>
            <a:pPr indent="0" marL="0">
              <a:buNone/>
            </a:pPr>
            <a:r>
              <a:rPr lang="en-US" sz="1400" dirty="0">
                <a:solidFill>
                  <a:srgbClr val="2A1A3A"/>
                </a:solidFill>
                <a:latin typeface="Calibri" pitchFamily="34" charset="0"/>
                <a:ea typeface="Calibri" pitchFamily="34" charset="-122"/>
                <a:cs typeface="Calibri" pitchFamily="34" charset="-120"/>
              </a:rPr>
              <a:t>AAB build ready</a:t>
            </a:r>
            <a:endParaRPr lang="en-US" sz="1400" dirty="0"/>
          </a:p>
        </p:txBody>
      </p:sp>
      <p:sp>
        <p:nvSpPr>
          <p:cNvPr id="20" name="Text 18"/>
          <p:cNvSpPr/>
          <p:nvPr/>
        </p:nvSpPr>
        <p:spPr>
          <a:xfrm>
            <a:off x="4526280" y="4389120"/>
            <a:ext cx="3108960" cy="274320"/>
          </a:xfrm>
          <a:prstGeom prst="rect">
            <a:avLst/>
          </a:prstGeom>
          <a:noFill/>
          <a:ln/>
        </p:spPr>
        <p:txBody>
          <a:bodyPr wrap="square" lIns="0" tIns="0" rIns="0" bIns="0" rtlCol="0" anchor="ctr"/>
          <a:lstStyle/>
          <a:p>
            <a:pPr indent="0" marL="0">
              <a:buNone/>
            </a:pPr>
            <a:r>
              <a:rPr lang="en-US" sz="1100" b="1" spc="300" kern="0" dirty="0">
                <a:solidFill>
                  <a:srgbClr val="8163A3"/>
                </a:solidFill>
                <a:latin typeface="Calibri" pitchFamily="34" charset="0"/>
                <a:ea typeface="Calibri" pitchFamily="34" charset="-122"/>
                <a:cs typeface="Calibri" pitchFamily="34" charset="-120"/>
              </a:rPr>
              <a:t>Cost</a:t>
            </a:r>
            <a:endParaRPr lang="en-US" sz="1100" dirty="0"/>
          </a:p>
        </p:txBody>
      </p:sp>
      <p:sp>
        <p:nvSpPr>
          <p:cNvPr id="21" name="Text 19"/>
          <p:cNvSpPr/>
          <p:nvPr/>
        </p:nvSpPr>
        <p:spPr>
          <a:xfrm>
            <a:off x="4526280" y="4663440"/>
            <a:ext cx="3108960" cy="365760"/>
          </a:xfrm>
          <a:prstGeom prst="rect">
            <a:avLst/>
          </a:prstGeom>
          <a:noFill/>
          <a:ln/>
        </p:spPr>
        <p:txBody>
          <a:bodyPr wrap="square" lIns="0" tIns="0" rIns="0" bIns="0" rtlCol="0" anchor="ctr"/>
          <a:lstStyle/>
          <a:p>
            <a:pPr indent="0" marL="0">
              <a:buNone/>
            </a:pPr>
            <a:r>
              <a:rPr lang="en-US" sz="1400" dirty="0">
                <a:solidFill>
                  <a:srgbClr val="2A1A3A"/>
                </a:solidFill>
                <a:latin typeface="Calibri" pitchFamily="34" charset="0"/>
                <a:ea typeface="Calibri" pitchFamily="34" charset="-122"/>
                <a:cs typeface="Calibri" pitchFamily="34" charset="-120"/>
              </a:rPr>
              <a:t>$25 once</a:t>
            </a:r>
            <a:endParaRPr lang="en-US" sz="1400" dirty="0"/>
          </a:p>
        </p:txBody>
      </p:sp>
      <p:sp>
        <p:nvSpPr>
          <p:cNvPr id="22" name="Shape 20"/>
          <p:cNvSpPr/>
          <p:nvPr/>
        </p:nvSpPr>
        <p:spPr>
          <a:xfrm>
            <a:off x="8275320" y="1737360"/>
            <a:ext cx="3657600" cy="822960"/>
          </a:xfrm>
          <a:prstGeom prst="rect">
            <a:avLst/>
          </a:prstGeom>
          <a:solidFill>
            <a:srgbClr val="BDA2DA"/>
          </a:solidFill>
          <a:ln/>
        </p:spPr>
      </p:sp>
      <p:sp>
        <p:nvSpPr>
          <p:cNvPr id="23" name="Text 21"/>
          <p:cNvSpPr/>
          <p:nvPr/>
        </p:nvSpPr>
        <p:spPr>
          <a:xfrm>
            <a:off x="8275320" y="1737360"/>
            <a:ext cx="3657600" cy="822960"/>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Web</a:t>
            </a:r>
            <a:endParaRPr lang="en-US" sz="2800" dirty="0"/>
          </a:p>
        </p:txBody>
      </p:sp>
      <p:sp>
        <p:nvSpPr>
          <p:cNvPr id="24" name="Shape 22"/>
          <p:cNvSpPr/>
          <p:nvPr/>
        </p:nvSpPr>
        <p:spPr>
          <a:xfrm>
            <a:off x="8275320" y="2560320"/>
            <a:ext cx="3657600" cy="3200400"/>
          </a:xfrm>
          <a:prstGeom prst="rect">
            <a:avLst/>
          </a:prstGeom>
          <a:solidFill>
            <a:srgbClr val="FFFFFF"/>
          </a:solidFill>
          <a:ln w="12700">
            <a:solidFill>
              <a:srgbClr val="BDA2DA"/>
            </a:solidFill>
            <a:prstDash val="solid"/>
          </a:ln>
        </p:spPr>
      </p:sp>
      <p:sp>
        <p:nvSpPr>
          <p:cNvPr id="25" name="Text 23"/>
          <p:cNvSpPr/>
          <p:nvPr/>
        </p:nvSpPr>
        <p:spPr>
          <a:xfrm>
            <a:off x="8549640" y="2743200"/>
            <a:ext cx="3108960" cy="274320"/>
          </a:xfrm>
          <a:prstGeom prst="rect">
            <a:avLst/>
          </a:prstGeom>
          <a:noFill/>
          <a:ln/>
        </p:spPr>
        <p:txBody>
          <a:bodyPr wrap="square" lIns="0" tIns="0" rIns="0" bIns="0" rtlCol="0" anchor="ctr"/>
          <a:lstStyle/>
          <a:p>
            <a:pPr indent="0" marL="0">
              <a:buNone/>
            </a:pPr>
            <a:r>
              <a:rPr lang="en-US" sz="1100" b="1" spc="300" kern="0" dirty="0">
                <a:solidFill>
                  <a:srgbClr val="8163A3"/>
                </a:solidFill>
                <a:latin typeface="Calibri" pitchFamily="34" charset="0"/>
                <a:ea typeface="Calibri" pitchFamily="34" charset="-122"/>
                <a:cs typeface="Calibri" pitchFamily="34" charset="-120"/>
              </a:rPr>
              <a:t>Distribution</a:t>
            </a:r>
            <a:endParaRPr lang="en-US" sz="1100" dirty="0"/>
          </a:p>
        </p:txBody>
      </p:sp>
      <p:sp>
        <p:nvSpPr>
          <p:cNvPr id="26" name="Text 24"/>
          <p:cNvSpPr/>
          <p:nvPr/>
        </p:nvSpPr>
        <p:spPr>
          <a:xfrm>
            <a:off x="8549640" y="3017520"/>
            <a:ext cx="3108960" cy="365760"/>
          </a:xfrm>
          <a:prstGeom prst="rect">
            <a:avLst/>
          </a:prstGeom>
          <a:noFill/>
          <a:ln/>
        </p:spPr>
        <p:txBody>
          <a:bodyPr wrap="square" lIns="0" tIns="0" rIns="0" bIns="0" rtlCol="0" anchor="ctr"/>
          <a:lstStyle/>
          <a:p>
            <a:pPr indent="0" marL="0">
              <a:buNone/>
            </a:pPr>
            <a:r>
              <a:rPr lang="en-US" sz="1400" dirty="0">
                <a:solidFill>
                  <a:srgbClr val="2A1A3A"/>
                </a:solidFill>
                <a:latin typeface="Calibri" pitchFamily="34" charset="0"/>
                <a:ea typeface="Calibri" pitchFamily="34" charset="-122"/>
                <a:cs typeface="Calibri" pitchFamily="34" charset="-120"/>
              </a:rPr>
              <a:t>Standalone HTML / Hosting</a:t>
            </a:r>
            <a:endParaRPr lang="en-US" sz="1400" dirty="0"/>
          </a:p>
        </p:txBody>
      </p:sp>
      <p:sp>
        <p:nvSpPr>
          <p:cNvPr id="27" name="Text 25"/>
          <p:cNvSpPr/>
          <p:nvPr/>
        </p:nvSpPr>
        <p:spPr>
          <a:xfrm>
            <a:off x="8549640" y="3566160"/>
            <a:ext cx="3108960" cy="274320"/>
          </a:xfrm>
          <a:prstGeom prst="rect">
            <a:avLst/>
          </a:prstGeom>
          <a:noFill/>
          <a:ln/>
        </p:spPr>
        <p:txBody>
          <a:bodyPr wrap="square" lIns="0" tIns="0" rIns="0" bIns="0" rtlCol="0" anchor="ctr"/>
          <a:lstStyle/>
          <a:p>
            <a:pPr indent="0" marL="0">
              <a:buNone/>
            </a:pPr>
            <a:r>
              <a:rPr lang="en-US" sz="1100" b="1" spc="300" kern="0" dirty="0">
                <a:solidFill>
                  <a:srgbClr val="8163A3"/>
                </a:solidFill>
                <a:latin typeface="Calibri" pitchFamily="34" charset="0"/>
                <a:ea typeface="Calibri" pitchFamily="34" charset="-122"/>
                <a:cs typeface="Calibri" pitchFamily="34" charset="-120"/>
              </a:rPr>
              <a:t>Status</a:t>
            </a:r>
            <a:endParaRPr lang="en-US" sz="1100" dirty="0"/>
          </a:p>
        </p:txBody>
      </p:sp>
      <p:sp>
        <p:nvSpPr>
          <p:cNvPr id="28" name="Text 26"/>
          <p:cNvSpPr/>
          <p:nvPr/>
        </p:nvSpPr>
        <p:spPr>
          <a:xfrm>
            <a:off x="8549640" y="3840480"/>
            <a:ext cx="3108960" cy="365760"/>
          </a:xfrm>
          <a:prstGeom prst="rect">
            <a:avLst/>
          </a:prstGeom>
          <a:noFill/>
          <a:ln/>
        </p:spPr>
        <p:txBody>
          <a:bodyPr wrap="square" lIns="0" tIns="0" rIns="0" bIns="0" rtlCol="0" anchor="ctr"/>
          <a:lstStyle/>
          <a:p>
            <a:pPr indent="0" marL="0">
              <a:buNone/>
            </a:pPr>
            <a:r>
              <a:rPr lang="en-US" sz="1400" dirty="0">
                <a:solidFill>
                  <a:srgbClr val="2A1A3A"/>
                </a:solidFill>
                <a:latin typeface="Calibri" pitchFamily="34" charset="0"/>
                <a:ea typeface="Calibri" pitchFamily="34" charset="-122"/>
                <a:cs typeface="Calibri" pitchFamily="34" charset="-120"/>
              </a:rPr>
              <a:t>Single-file ready</a:t>
            </a:r>
            <a:endParaRPr lang="en-US" sz="1400" dirty="0"/>
          </a:p>
        </p:txBody>
      </p:sp>
      <p:sp>
        <p:nvSpPr>
          <p:cNvPr id="29" name="Text 27"/>
          <p:cNvSpPr/>
          <p:nvPr/>
        </p:nvSpPr>
        <p:spPr>
          <a:xfrm>
            <a:off x="8549640" y="4389120"/>
            <a:ext cx="3108960" cy="274320"/>
          </a:xfrm>
          <a:prstGeom prst="rect">
            <a:avLst/>
          </a:prstGeom>
          <a:noFill/>
          <a:ln/>
        </p:spPr>
        <p:txBody>
          <a:bodyPr wrap="square" lIns="0" tIns="0" rIns="0" bIns="0" rtlCol="0" anchor="ctr"/>
          <a:lstStyle/>
          <a:p>
            <a:pPr indent="0" marL="0">
              <a:buNone/>
            </a:pPr>
            <a:r>
              <a:rPr lang="en-US" sz="1100" b="1" spc="300" kern="0" dirty="0">
                <a:solidFill>
                  <a:srgbClr val="8163A3"/>
                </a:solidFill>
                <a:latin typeface="Calibri" pitchFamily="34" charset="0"/>
                <a:ea typeface="Calibri" pitchFamily="34" charset="-122"/>
                <a:cs typeface="Calibri" pitchFamily="34" charset="-120"/>
              </a:rPr>
              <a:t>Cost</a:t>
            </a:r>
            <a:endParaRPr lang="en-US" sz="1100" dirty="0"/>
          </a:p>
        </p:txBody>
      </p:sp>
      <p:sp>
        <p:nvSpPr>
          <p:cNvPr id="30" name="Text 28"/>
          <p:cNvSpPr/>
          <p:nvPr/>
        </p:nvSpPr>
        <p:spPr>
          <a:xfrm>
            <a:off x="8549640" y="4663440"/>
            <a:ext cx="3108960" cy="365760"/>
          </a:xfrm>
          <a:prstGeom prst="rect">
            <a:avLst/>
          </a:prstGeom>
          <a:noFill/>
          <a:ln/>
        </p:spPr>
        <p:txBody>
          <a:bodyPr wrap="square" lIns="0" tIns="0" rIns="0" bIns="0" rtlCol="0" anchor="ctr"/>
          <a:lstStyle/>
          <a:p>
            <a:pPr indent="0" marL="0">
              <a:buNone/>
            </a:pPr>
            <a:r>
              <a:rPr lang="en-US" sz="1400" dirty="0">
                <a:solidFill>
                  <a:srgbClr val="2A1A3A"/>
                </a:solidFill>
                <a:latin typeface="Calibri" pitchFamily="34" charset="0"/>
                <a:ea typeface="Calibri" pitchFamily="34" charset="-122"/>
                <a:cs typeface="Calibri" pitchFamily="34" charset="-120"/>
              </a:rPr>
              <a:t>Negligible</a:t>
            </a:r>
            <a:endParaRPr lang="en-US" sz="1400" dirty="0"/>
          </a:p>
        </p:txBody>
      </p:sp>
      <p:sp>
        <p:nvSpPr>
          <p:cNvPr id="31" name="Text 29"/>
          <p:cNvSpPr/>
          <p:nvPr/>
        </p:nvSpPr>
        <p:spPr>
          <a:xfrm>
            <a:off x="365760" y="6492240"/>
            <a:ext cx="1828800" cy="274320"/>
          </a:xfrm>
          <a:prstGeom prst="rect">
            <a:avLst/>
          </a:prstGeom>
          <a:noFill/>
          <a:ln/>
        </p:spPr>
        <p:txBody>
          <a:bodyPr wrap="square" rtlCol="0" anchor="ctr"/>
          <a:lstStyle/>
          <a:p>
            <a:pPr indent="0" marL="0">
              <a:buNone/>
            </a:pPr>
            <a:r>
              <a:rPr lang="en-US" sz="1000" b="1" dirty="0">
                <a:solidFill>
                  <a:srgbClr val="666666"/>
                </a:solidFill>
                <a:latin typeface="Calibri" pitchFamily="34" charset="0"/>
                <a:ea typeface="Calibri" pitchFamily="34" charset="-122"/>
                <a:cs typeface="Calibri" pitchFamily="34" charset="-120"/>
              </a:rPr>
              <a:t>Sheen AI</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2EDF7"/>
        </a:solidFill>
      </p:bgPr>
    </p:bg>
    <p:spTree>
      <p:nvGrpSpPr>
        <p:cNvPr id="1" name=""/>
        <p:cNvGrpSpPr/>
        <p:nvPr/>
      </p:nvGrpSpPr>
      <p:grpSpPr>
        <a:xfrm>
          <a:off x="0" y="0"/>
          <a:ext cx="0" cy="0"/>
          <a:chOff x="0" y="0"/>
          <a:chExt cx="0" cy="0"/>
        </a:xfrm>
      </p:grpSpPr>
      <p:sp>
        <p:nvSpPr>
          <p:cNvPr id="2" name="Text 0"/>
          <p:cNvSpPr/>
          <p:nvPr/>
        </p:nvSpPr>
        <p:spPr>
          <a:xfrm>
            <a:off x="548640" y="502920"/>
            <a:ext cx="11064240" cy="320040"/>
          </a:xfrm>
          <a:prstGeom prst="rect">
            <a:avLst/>
          </a:prstGeom>
          <a:noFill/>
          <a:ln/>
        </p:spPr>
        <p:txBody>
          <a:bodyPr wrap="square" rtlCol="0" anchor="ctr"/>
          <a:lstStyle/>
          <a:p>
            <a:pPr indent="0" marL="0">
              <a:buNone/>
            </a:pPr>
            <a:r>
              <a:rPr lang="en-US" sz="1300" b="1" spc="400" kern="0" dirty="0">
                <a:solidFill>
                  <a:srgbClr val="8163A3"/>
                </a:solidFill>
                <a:latin typeface="Calibri" pitchFamily="34" charset="0"/>
                <a:ea typeface="Calibri" pitchFamily="34" charset="-122"/>
                <a:cs typeface="Calibri" pitchFamily="34" charset="-120"/>
              </a:rPr>
              <a:t>STATUS</a:t>
            </a:r>
            <a:endParaRPr lang="en-US" sz="1300" dirty="0"/>
          </a:p>
        </p:txBody>
      </p:sp>
      <p:sp>
        <p:nvSpPr>
          <p:cNvPr id="3" name="Text 1"/>
          <p:cNvSpPr/>
          <p:nvPr/>
        </p:nvSpPr>
        <p:spPr>
          <a:xfrm>
            <a:off x="548640" y="868680"/>
            <a:ext cx="11064240" cy="777240"/>
          </a:xfrm>
          <a:prstGeom prst="rect">
            <a:avLst/>
          </a:prstGeom>
          <a:noFill/>
          <a:ln/>
        </p:spPr>
        <p:txBody>
          <a:bodyPr wrap="square" lIns="0" tIns="0" rIns="0" bIns="0" rtlCol="0" anchor="ctr"/>
          <a:lstStyle/>
          <a:p>
            <a:pPr indent="0" marL="0">
              <a:buNone/>
            </a:pPr>
            <a:r>
              <a:rPr lang="en-US" sz="3200" b="1" dirty="0">
                <a:solidFill>
                  <a:srgbClr val="4A2070"/>
                </a:solidFill>
                <a:latin typeface="Calibri" pitchFamily="34" charset="0"/>
                <a:ea typeface="Calibri" pitchFamily="34" charset="-122"/>
                <a:cs typeface="Calibri" pitchFamily="34" charset="-120"/>
              </a:rPr>
              <a:t>Where We Are Today</a:t>
            </a:r>
            <a:endParaRPr lang="en-US" sz="3200" dirty="0"/>
          </a:p>
        </p:txBody>
      </p:sp>
      <p:sp>
        <p:nvSpPr>
          <p:cNvPr id="4" name="Shape 2"/>
          <p:cNvSpPr/>
          <p:nvPr/>
        </p:nvSpPr>
        <p:spPr>
          <a:xfrm>
            <a:off x="320040" y="1691640"/>
            <a:ext cx="3657600" cy="548640"/>
          </a:xfrm>
          <a:prstGeom prst="rect">
            <a:avLst/>
          </a:prstGeom>
          <a:solidFill>
            <a:srgbClr val="2E7D52"/>
          </a:solidFill>
          <a:ln/>
        </p:spPr>
      </p:sp>
      <p:sp>
        <p:nvSpPr>
          <p:cNvPr id="5" name="Text 3"/>
          <p:cNvSpPr/>
          <p:nvPr/>
        </p:nvSpPr>
        <p:spPr>
          <a:xfrm>
            <a:off x="320040" y="1691640"/>
            <a:ext cx="3657600" cy="548640"/>
          </a:xfrm>
          <a:prstGeom prst="rect">
            <a:avLst/>
          </a:prstGeom>
          <a:noFill/>
          <a:ln/>
        </p:spPr>
        <p:txBody>
          <a:bodyPr wrap="square" lIns="0" tIns="0" rIns="0" bIns="0" rtlCol="0" anchor="ctr"/>
          <a:lstStyle/>
          <a:p>
            <a:pPr algn="ctr" indent="0" marL="0">
              <a:buNone/>
            </a:pPr>
            <a:r>
              <a:rPr lang="en-US" sz="1400" b="1" spc="500" kern="0" dirty="0">
                <a:solidFill>
                  <a:srgbClr val="FFFFFF"/>
                </a:solidFill>
                <a:latin typeface="Calibri" pitchFamily="34" charset="0"/>
                <a:ea typeface="Calibri" pitchFamily="34" charset="-122"/>
                <a:cs typeface="Calibri" pitchFamily="34" charset="-120"/>
              </a:rPr>
              <a:t>COMPLETED</a:t>
            </a:r>
            <a:endParaRPr lang="en-US" sz="1400" dirty="0"/>
          </a:p>
        </p:txBody>
      </p:sp>
      <p:sp>
        <p:nvSpPr>
          <p:cNvPr id="6" name="Shape 4"/>
          <p:cNvSpPr/>
          <p:nvPr/>
        </p:nvSpPr>
        <p:spPr>
          <a:xfrm>
            <a:off x="320040" y="2240280"/>
            <a:ext cx="3657600" cy="3749040"/>
          </a:xfrm>
          <a:prstGeom prst="rect">
            <a:avLst/>
          </a:prstGeom>
          <a:solidFill>
            <a:srgbClr val="FFFFFF"/>
          </a:solidFill>
          <a:ln w="12700">
            <a:solidFill>
              <a:srgbClr val="BDA2DA"/>
            </a:solidFill>
            <a:prstDash val="solid"/>
          </a:ln>
        </p:spPr>
      </p:sp>
      <p:sp>
        <p:nvSpPr>
          <p:cNvPr id="7" name="Shape 5"/>
          <p:cNvSpPr/>
          <p:nvPr/>
        </p:nvSpPr>
        <p:spPr>
          <a:xfrm>
            <a:off x="685800" y="2560320"/>
            <a:ext cx="164592" cy="164592"/>
          </a:xfrm>
          <a:prstGeom prst="ellipse">
            <a:avLst/>
          </a:prstGeom>
          <a:solidFill>
            <a:srgbClr val="2E7D52"/>
          </a:solidFill>
          <a:ln/>
        </p:spPr>
      </p:sp>
      <p:sp>
        <p:nvSpPr>
          <p:cNvPr id="8" name="Text 6"/>
          <p:cNvSpPr/>
          <p:nvPr/>
        </p:nvSpPr>
        <p:spPr>
          <a:xfrm>
            <a:off x="960120" y="2468880"/>
            <a:ext cx="2834640" cy="365760"/>
          </a:xfrm>
          <a:prstGeom prst="rect">
            <a:avLst/>
          </a:prstGeom>
          <a:noFill/>
          <a:ln/>
        </p:spPr>
        <p:txBody>
          <a:bodyPr wrap="square" lIns="0" tIns="0" rIns="0" bIns="0" rtlCol="0" anchor="ctr"/>
          <a:lstStyle/>
          <a:p>
            <a:pPr indent="0" marL="0">
              <a:buNone/>
            </a:pPr>
            <a:r>
              <a:rPr lang="en-US" sz="1200" dirty="0">
                <a:solidFill>
                  <a:srgbClr val="2A1A3A"/>
                </a:solidFill>
                <a:latin typeface="Calibri" pitchFamily="34" charset="0"/>
                <a:ea typeface="Calibri" pitchFamily="34" charset="-122"/>
                <a:cs typeface="Calibri" pitchFamily="34" charset="-120"/>
              </a:rPr>
              <a:t>Web frontend (all screens)</a:t>
            </a:r>
            <a:endParaRPr lang="en-US" sz="1200" dirty="0"/>
          </a:p>
        </p:txBody>
      </p:sp>
      <p:sp>
        <p:nvSpPr>
          <p:cNvPr id="9" name="Shape 7"/>
          <p:cNvSpPr/>
          <p:nvPr/>
        </p:nvSpPr>
        <p:spPr>
          <a:xfrm>
            <a:off x="685800" y="3017520"/>
            <a:ext cx="164592" cy="164592"/>
          </a:xfrm>
          <a:prstGeom prst="ellipse">
            <a:avLst/>
          </a:prstGeom>
          <a:solidFill>
            <a:srgbClr val="2E7D52"/>
          </a:solidFill>
          <a:ln/>
        </p:spPr>
      </p:sp>
      <p:sp>
        <p:nvSpPr>
          <p:cNvPr id="10" name="Text 8"/>
          <p:cNvSpPr/>
          <p:nvPr/>
        </p:nvSpPr>
        <p:spPr>
          <a:xfrm>
            <a:off x="960120" y="2926080"/>
            <a:ext cx="2834640" cy="365760"/>
          </a:xfrm>
          <a:prstGeom prst="rect">
            <a:avLst/>
          </a:prstGeom>
          <a:noFill/>
          <a:ln/>
        </p:spPr>
        <p:txBody>
          <a:bodyPr wrap="square" lIns="0" tIns="0" rIns="0" bIns="0" rtlCol="0" anchor="ctr"/>
          <a:lstStyle/>
          <a:p>
            <a:pPr indent="0" marL="0">
              <a:buNone/>
            </a:pPr>
            <a:r>
              <a:rPr lang="en-US" sz="1200" dirty="0">
                <a:solidFill>
                  <a:srgbClr val="2A1A3A"/>
                </a:solidFill>
                <a:latin typeface="Calibri" pitchFamily="34" charset="0"/>
                <a:ea typeface="Calibri" pitchFamily="34" charset="-122"/>
                <a:cs typeface="Calibri" pitchFamily="34" charset="-120"/>
              </a:rPr>
              <a:t>Firestore rules + indexes</a:t>
            </a:r>
            <a:endParaRPr lang="en-US" sz="1200" dirty="0"/>
          </a:p>
        </p:txBody>
      </p:sp>
      <p:sp>
        <p:nvSpPr>
          <p:cNvPr id="11" name="Shape 9"/>
          <p:cNvSpPr/>
          <p:nvPr/>
        </p:nvSpPr>
        <p:spPr>
          <a:xfrm>
            <a:off x="685800" y="3474720"/>
            <a:ext cx="164592" cy="164592"/>
          </a:xfrm>
          <a:prstGeom prst="ellipse">
            <a:avLst/>
          </a:prstGeom>
          <a:solidFill>
            <a:srgbClr val="2E7D52"/>
          </a:solidFill>
          <a:ln/>
        </p:spPr>
      </p:sp>
      <p:sp>
        <p:nvSpPr>
          <p:cNvPr id="12" name="Text 10"/>
          <p:cNvSpPr/>
          <p:nvPr/>
        </p:nvSpPr>
        <p:spPr>
          <a:xfrm>
            <a:off x="960120" y="3383280"/>
            <a:ext cx="2834640" cy="365760"/>
          </a:xfrm>
          <a:prstGeom prst="rect">
            <a:avLst/>
          </a:prstGeom>
          <a:noFill/>
          <a:ln/>
        </p:spPr>
        <p:txBody>
          <a:bodyPr wrap="square" lIns="0" tIns="0" rIns="0" bIns="0" rtlCol="0" anchor="ctr"/>
          <a:lstStyle/>
          <a:p>
            <a:pPr indent="0" marL="0">
              <a:buNone/>
            </a:pPr>
            <a:r>
              <a:rPr lang="en-US" sz="1200" dirty="0">
                <a:solidFill>
                  <a:srgbClr val="2A1A3A"/>
                </a:solidFill>
                <a:latin typeface="Calibri" pitchFamily="34" charset="0"/>
                <a:ea typeface="Calibri" pitchFamily="34" charset="-122"/>
                <a:cs typeface="Calibri" pitchFamily="34" charset="-120"/>
              </a:rPr>
              <a:t>Cloud Functions deployed</a:t>
            </a:r>
            <a:endParaRPr lang="en-US" sz="1200" dirty="0"/>
          </a:p>
        </p:txBody>
      </p:sp>
      <p:sp>
        <p:nvSpPr>
          <p:cNvPr id="13" name="Shape 11"/>
          <p:cNvSpPr/>
          <p:nvPr/>
        </p:nvSpPr>
        <p:spPr>
          <a:xfrm>
            <a:off x="685800" y="3931920"/>
            <a:ext cx="164592" cy="164592"/>
          </a:xfrm>
          <a:prstGeom prst="ellipse">
            <a:avLst/>
          </a:prstGeom>
          <a:solidFill>
            <a:srgbClr val="2E7D52"/>
          </a:solidFill>
          <a:ln/>
        </p:spPr>
      </p:sp>
      <p:sp>
        <p:nvSpPr>
          <p:cNvPr id="14" name="Text 12"/>
          <p:cNvSpPr/>
          <p:nvPr/>
        </p:nvSpPr>
        <p:spPr>
          <a:xfrm>
            <a:off x="960120" y="3840480"/>
            <a:ext cx="2834640" cy="365760"/>
          </a:xfrm>
          <a:prstGeom prst="rect">
            <a:avLst/>
          </a:prstGeom>
          <a:noFill/>
          <a:ln/>
        </p:spPr>
        <p:txBody>
          <a:bodyPr wrap="square" lIns="0" tIns="0" rIns="0" bIns="0" rtlCol="0" anchor="ctr"/>
          <a:lstStyle/>
          <a:p>
            <a:pPr indent="0" marL="0">
              <a:buNone/>
            </a:pPr>
            <a:r>
              <a:rPr lang="en-US" sz="1200" dirty="0">
                <a:solidFill>
                  <a:srgbClr val="2A1A3A"/>
                </a:solidFill>
                <a:latin typeface="Calibri" pitchFamily="34" charset="0"/>
                <a:ea typeface="Calibri" pitchFamily="34" charset="-122"/>
                <a:cs typeface="Calibri" pitchFamily="34" charset="-120"/>
              </a:rPr>
              <a:t>Cloud Run streaming server</a:t>
            </a:r>
            <a:endParaRPr lang="en-US" sz="1200" dirty="0"/>
          </a:p>
        </p:txBody>
      </p:sp>
      <p:sp>
        <p:nvSpPr>
          <p:cNvPr id="15" name="Shape 13"/>
          <p:cNvSpPr/>
          <p:nvPr/>
        </p:nvSpPr>
        <p:spPr>
          <a:xfrm>
            <a:off x="685800" y="4389120"/>
            <a:ext cx="164592" cy="164592"/>
          </a:xfrm>
          <a:prstGeom prst="ellipse">
            <a:avLst/>
          </a:prstGeom>
          <a:solidFill>
            <a:srgbClr val="2E7D52"/>
          </a:solidFill>
          <a:ln/>
        </p:spPr>
      </p:sp>
      <p:sp>
        <p:nvSpPr>
          <p:cNvPr id="16" name="Text 14"/>
          <p:cNvSpPr/>
          <p:nvPr/>
        </p:nvSpPr>
        <p:spPr>
          <a:xfrm>
            <a:off x="960120" y="4297680"/>
            <a:ext cx="2834640" cy="365760"/>
          </a:xfrm>
          <a:prstGeom prst="rect">
            <a:avLst/>
          </a:prstGeom>
          <a:noFill/>
          <a:ln/>
        </p:spPr>
        <p:txBody>
          <a:bodyPr wrap="square" lIns="0" tIns="0" rIns="0" bIns="0" rtlCol="0" anchor="ctr"/>
          <a:lstStyle/>
          <a:p>
            <a:pPr indent="0" marL="0">
              <a:buNone/>
            </a:pPr>
            <a:r>
              <a:rPr lang="en-US" sz="1200" dirty="0">
                <a:solidFill>
                  <a:srgbClr val="2A1A3A"/>
                </a:solidFill>
                <a:latin typeface="Calibri" pitchFamily="34" charset="0"/>
                <a:ea typeface="Calibri" pitchFamily="34" charset="-122"/>
                <a:cs typeface="Calibri" pitchFamily="34" charset="-120"/>
              </a:rPr>
              <a:t>On-device IndexedDB audio</a:t>
            </a:r>
            <a:endParaRPr lang="en-US" sz="1200" dirty="0"/>
          </a:p>
        </p:txBody>
      </p:sp>
      <p:sp>
        <p:nvSpPr>
          <p:cNvPr id="17" name="Shape 15"/>
          <p:cNvSpPr/>
          <p:nvPr/>
        </p:nvSpPr>
        <p:spPr>
          <a:xfrm>
            <a:off x="685800" y="4846320"/>
            <a:ext cx="164592" cy="164592"/>
          </a:xfrm>
          <a:prstGeom prst="ellipse">
            <a:avLst/>
          </a:prstGeom>
          <a:solidFill>
            <a:srgbClr val="2E7D52"/>
          </a:solidFill>
          <a:ln/>
        </p:spPr>
      </p:sp>
      <p:sp>
        <p:nvSpPr>
          <p:cNvPr id="18" name="Text 16"/>
          <p:cNvSpPr/>
          <p:nvPr/>
        </p:nvSpPr>
        <p:spPr>
          <a:xfrm>
            <a:off x="960120" y="4754880"/>
            <a:ext cx="2834640" cy="365760"/>
          </a:xfrm>
          <a:prstGeom prst="rect">
            <a:avLst/>
          </a:prstGeom>
          <a:noFill/>
          <a:ln/>
        </p:spPr>
        <p:txBody>
          <a:bodyPr wrap="square" lIns="0" tIns="0" rIns="0" bIns="0" rtlCol="0" anchor="ctr"/>
          <a:lstStyle/>
          <a:p>
            <a:pPr indent="0" marL="0">
              <a:buNone/>
            </a:pPr>
            <a:r>
              <a:rPr lang="en-US" sz="1200" dirty="0">
                <a:solidFill>
                  <a:srgbClr val="2A1A3A"/>
                </a:solidFill>
                <a:latin typeface="Calibri" pitchFamily="34" charset="0"/>
                <a:ea typeface="Calibri" pitchFamily="34" charset="-122"/>
                <a:cs typeface="Calibri" pitchFamily="34" charset="-120"/>
              </a:rPr>
              <a:t>Capacitor Android platform</a:t>
            </a:r>
            <a:endParaRPr lang="en-US" sz="1200" dirty="0"/>
          </a:p>
        </p:txBody>
      </p:sp>
      <p:sp>
        <p:nvSpPr>
          <p:cNvPr id="19" name="Shape 17"/>
          <p:cNvSpPr/>
          <p:nvPr/>
        </p:nvSpPr>
        <p:spPr>
          <a:xfrm>
            <a:off x="685800" y="5303520"/>
            <a:ext cx="164592" cy="164592"/>
          </a:xfrm>
          <a:prstGeom prst="ellipse">
            <a:avLst/>
          </a:prstGeom>
          <a:solidFill>
            <a:srgbClr val="2E7D52"/>
          </a:solidFill>
          <a:ln/>
        </p:spPr>
      </p:sp>
      <p:sp>
        <p:nvSpPr>
          <p:cNvPr id="20" name="Text 18"/>
          <p:cNvSpPr/>
          <p:nvPr/>
        </p:nvSpPr>
        <p:spPr>
          <a:xfrm>
            <a:off x="960120" y="5212080"/>
            <a:ext cx="2834640" cy="365760"/>
          </a:xfrm>
          <a:prstGeom prst="rect">
            <a:avLst/>
          </a:prstGeom>
          <a:noFill/>
          <a:ln/>
        </p:spPr>
        <p:txBody>
          <a:bodyPr wrap="square" lIns="0" tIns="0" rIns="0" bIns="0" rtlCol="0" anchor="ctr"/>
          <a:lstStyle/>
          <a:p>
            <a:pPr indent="0" marL="0">
              <a:buNone/>
            </a:pPr>
            <a:r>
              <a:rPr lang="en-US" sz="1200" dirty="0">
                <a:solidFill>
                  <a:srgbClr val="2A1A3A"/>
                </a:solidFill>
                <a:latin typeface="Calibri" pitchFamily="34" charset="0"/>
                <a:ea typeface="Calibri" pitchFamily="34" charset="-122"/>
                <a:cs typeface="Calibri" pitchFamily="34" charset="-120"/>
              </a:rPr>
              <a:t>4-tier subscription system</a:t>
            </a:r>
            <a:endParaRPr lang="en-US" sz="1200" dirty="0"/>
          </a:p>
        </p:txBody>
      </p:sp>
      <p:sp>
        <p:nvSpPr>
          <p:cNvPr id="21" name="Shape 19"/>
          <p:cNvSpPr/>
          <p:nvPr/>
        </p:nvSpPr>
        <p:spPr>
          <a:xfrm>
            <a:off x="685800" y="5760720"/>
            <a:ext cx="164592" cy="164592"/>
          </a:xfrm>
          <a:prstGeom prst="ellipse">
            <a:avLst/>
          </a:prstGeom>
          <a:solidFill>
            <a:srgbClr val="2E7D52"/>
          </a:solidFill>
          <a:ln/>
        </p:spPr>
      </p:sp>
      <p:sp>
        <p:nvSpPr>
          <p:cNvPr id="22" name="Text 20"/>
          <p:cNvSpPr/>
          <p:nvPr/>
        </p:nvSpPr>
        <p:spPr>
          <a:xfrm>
            <a:off x="960120" y="5669280"/>
            <a:ext cx="2834640" cy="365760"/>
          </a:xfrm>
          <a:prstGeom prst="rect">
            <a:avLst/>
          </a:prstGeom>
          <a:noFill/>
          <a:ln/>
        </p:spPr>
        <p:txBody>
          <a:bodyPr wrap="square" lIns="0" tIns="0" rIns="0" bIns="0" rtlCol="0" anchor="ctr"/>
          <a:lstStyle/>
          <a:p>
            <a:pPr indent="0" marL="0">
              <a:buNone/>
            </a:pPr>
            <a:r>
              <a:rPr lang="en-US" sz="1200" dirty="0">
                <a:solidFill>
                  <a:srgbClr val="2A1A3A"/>
                </a:solidFill>
                <a:latin typeface="Calibri" pitchFamily="34" charset="0"/>
                <a:ea typeface="Calibri" pitchFamily="34" charset="-122"/>
                <a:cs typeface="Calibri" pitchFamily="34" charset="-120"/>
              </a:rPr>
              <a:t>Test accounts seeded</a:t>
            </a:r>
            <a:endParaRPr lang="en-US" sz="1200" dirty="0"/>
          </a:p>
        </p:txBody>
      </p:sp>
      <p:sp>
        <p:nvSpPr>
          <p:cNvPr id="23" name="Shape 21"/>
          <p:cNvSpPr/>
          <p:nvPr/>
        </p:nvSpPr>
        <p:spPr>
          <a:xfrm>
            <a:off x="4251960" y="1691640"/>
            <a:ext cx="3657600" cy="548640"/>
          </a:xfrm>
          <a:prstGeom prst="rect">
            <a:avLst/>
          </a:prstGeom>
          <a:solidFill>
            <a:srgbClr val="B7791F"/>
          </a:solidFill>
          <a:ln/>
        </p:spPr>
      </p:sp>
      <p:sp>
        <p:nvSpPr>
          <p:cNvPr id="24" name="Text 22"/>
          <p:cNvSpPr/>
          <p:nvPr/>
        </p:nvSpPr>
        <p:spPr>
          <a:xfrm>
            <a:off x="4251960" y="1691640"/>
            <a:ext cx="3657600" cy="548640"/>
          </a:xfrm>
          <a:prstGeom prst="rect">
            <a:avLst/>
          </a:prstGeom>
          <a:noFill/>
          <a:ln/>
        </p:spPr>
        <p:txBody>
          <a:bodyPr wrap="square" lIns="0" tIns="0" rIns="0" bIns="0" rtlCol="0" anchor="ctr"/>
          <a:lstStyle/>
          <a:p>
            <a:pPr algn="ctr" indent="0" marL="0">
              <a:buNone/>
            </a:pPr>
            <a:r>
              <a:rPr lang="en-US" sz="1400" b="1" spc="500" kern="0" dirty="0">
                <a:solidFill>
                  <a:srgbClr val="FFFFFF"/>
                </a:solidFill>
                <a:latin typeface="Calibri" pitchFamily="34" charset="0"/>
                <a:ea typeface="Calibri" pitchFamily="34" charset="-122"/>
                <a:cs typeface="Calibri" pitchFamily="34" charset="-120"/>
              </a:rPr>
              <a:t>IN PROGRESS</a:t>
            </a:r>
            <a:endParaRPr lang="en-US" sz="1400" dirty="0"/>
          </a:p>
        </p:txBody>
      </p:sp>
      <p:sp>
        <p:nvSpPr>
          <p:cNvPr id="25" name="Shape 23"/>
          <p:cNvSpPr/>
          <p:nvPr/>
        </p:nvSpPr>
        <p:spPr>
          <a:xfrm>
            <a:off x="4251960" y="2240280"/>
            <a:ext cx="3657600" cy="3749040"/>
          </a:xfrm>
          <a:prstGeom prst="rect">
            <a:avLst/>
          </a:prstGeom>
          <a:solidFill>
            <a:srgbClr val="FFFFFF"/>
          </a:solidFill>
          <a:ln w="12700">
            <a:solidFill>
              <a:srgbClr val="BDA2DA"/>
            </a:solidFill>
            <a:prstDash val="solid"/>
          </a:ln>
        </p:spPr>
      </p:sp>
      <p:sp>
        <p:nvSpPr>
          <p:cNvPr id="26" name="Shape 24"/>
          <p:cNvSpPr/>
          <p:nvPr/>
        </p:nvSpPr>
        <p:spPr>
          <a:xfrm>
            <a:off x="4617720" y="2560320"/>
            <a:ext cx="164592" cy="164592"/>
          </a:xfrm>
          <a:prstGeom prst="ellipse">
            <a:avLst/>
          </a:prstGeom>
          <a:solidFill>
            <a:srgbClr val="B7791F"/>
          </a:solidFill>
          <a:ln/>
        </p:spPr>
      </p:sp>
      <p:sp>
        <p:nvSpPr>
          <p:cNvPr id="27" name="Text 25"/>
          <p:cNvSpPr/>
          <p:nvPr/>
        </p:nvSpPr>
        <p:spPr>
          <a:xfrm>
            <a:off x="4892040" y="2468880"/>
            <a:ext cx="2834640" cy="365760"/>
          </a:xfrm>
          <a:prstGeom prst="rect">
            <a:avLst/>
          </a:prstGeom>
          <a:noFill/>
          <a:ln/>
        </p:spPr>
        <p:txBody>
          <a:bodyPr wrap="square" lIns="0" tIns="0" rIns="0" bIns="0" rtlCol="0" anchor="ctr"/>
          <a:lstStyle/>
          <a:p>
            <a:pPr indent="0" marL="0">
              <a:buNone/>
            </a:pPr>
            <a:r>
              <a:rPr lang="en-US" sz="1200" dirty="0">
                <a:solidFill>
                  <a:srgbClr val="2A1A3A"/>
                </a:solidFill>
                <a:latin typeface="Calibri" pitchFamily="34" charset="0"/>
                <a:ea typeface="Calibri" pitchFamily="34" charset="-122"/>
                <a:cs typeface="Calibri" pitchFamily="34" charset="-120"/>
              </a:rPr>
              <a:t>Android Play Console build</a:t>
            </a:r>
            <a:endParaRPr lang="en-US" sz="1200" dirty="0"/>
          </a:p>
        </p:txBody>
      </p:sp>
      <p:sp>
        <p:nvSpPr>
          <p:cNvPr id="28" name="Shape 26"/>
          <p:cNvSpPr/>
          <p:nvPr/>
        </p:nvSpPr>
        <p:spPr>
          <a:xfrm>
            <a:off x="4617720" y="3017520"/>
            <a:ext cx="164592" cy="164592"/>
          </a:xfrm>
          <a:prstGeom prst="ellipse">
            <a:avLst/>
          </a:prstGeom>
          <a:solidFill>
            <a:srgbClr val="B7791F"/>
          </a:solidFill>
          <a:ln/>
        </p:spPr>
      </p:sp>
      <p:sp>
        <p:nvSpPr>
          <p:cNvPr id="29" name="Text 27"/>
          <p:cNvSpPr/>
          <p:nvPr/>
        </p:nvSpPr>
        <p:spPr>
          <a:xfrm>
            <a:off x="4892040" y="2926080"/>
            <a:ext cx="2834640" cy="365760"/>
          </a:xfrm>
          <a:prstGeom prst="rect">
            <a:avLst/>
          </a:prstGeom>
          <a:noFill/>
          <a:ln/>
        </p:spPr>
        <p:txBody>
          <a:bodyPr wrap="square" lIns="0" tIns="0" rIns="0" bIns="0" rtlCol="0" anchor="ctr"/>
          <a:lstStyle/>
          <a:p>
            <a:pPr indent="0" marL="0">
              <a:buNone/>
            </a:pPr>
            <a:r>
              <a:rPr lang="en-US" sz="1200" dirty="0">
                <a:solidFill>
                  <a:srgbClr val="2A1A3A"/>
                </a:solidFill>
                <a:latin typeface="Calibri" pitchFamily="34" charset="0"/>
                <a:ea typeface="Calibri" pitchFamily="34" charset="-122"/>
                <a:cs typeface="Calibri" pitchFamily="34" charset="-120"/>
              </a:rPr>
              <a:t>Beta tester recruitment</a:t>
            </a:r>
            <a:endParaRPr lang="en-US" sz="1200" dirty="0"/>
          </a:p>
        </p:txBody>
      </p:sp>
      <p:sp>
        <p:nvSpPr>
          <p:cNvPr id="30" name="Shape 28"/>
          <p:cNvSpPr/>
          <p:nvPr/>
        </p:nvSpPr>
        <p:spPr>
          <a:xfrm>
            <a:off x="4617720" y="3474720"/>
            <a:ext cx="164592" cy="164592"/>
          </a:xfrm>
          <a:prstGeom prst="ellipse">
            <a:avLst/>
          </a:prstGeom>
          <a:solidFill>
            <a:srgbClr val="B7791F"/>
          </a:solidFill>
          <a:ln/>
        </p:spPr>
      </p:sp>
      <p:sp>
        <p:nvSpPr>
          <p:cNvPr id="31" name="Text 29"/>
          <p:cNvSpPr/>
          <p:nvPr/>
        </p:nvSpPr>
        <p:spPr>
          <a:xfrm>
            <a:off x="4892040" y="3383280"/>
            <a:ext cx="2834640" cy="365760"/>
          </a:xfrm>
          <a:prstGeom prst="rect">
            <a:avLst/>
          </a:prstGeom>
          <a:noFill/>
          <a:ln/>
        </p:spPr>
        <p:txBody>
          <a:bodyPr wrap="square" lIns="0" tIns="0" rIns="0" bIns="0" rtlCol="0" anchor="ctr"/>
          <a:lstStyle/>
          <a:p>
            <a:pPr indent="0" marL="0">
              <a:buNone/>
            </a:pPr>
            <a:r>
              <a:rPr lang="en-US" sz="1200" dirty="0">
                <a:solidFill>
                  <a:srgbClr val="2A1A3A"/>
                </a:solidFill>
                <a:latin typeface="Calibri" pitchFamily="34" charset="0"/>
                <a:ea typeface="Calibri" pitchFamily="34" charset="-122"/>
                <a:cs typeface="Calibri" pitchFamily="34" charset="-120"/>
              </a:rPr>
              <a:t>Privacy Policy + Terms drafting</a:t>
            </a:r>
            <a:endParaRPr lang="en-US" sz="1200" dirty="0"/>
          </a:p>
        </p:txBody>
      </p:sp>
      <p:sp>
        <p:nvSpPr>
          <p:cNvPr id="32" name="Shape 30"/>
          <p:cNvSpPr/>
          <p:nvPr/>
        </p:nvSpPr>
        <p:spPr>
          <a:xfrm>
            <a:off x="4617720" y="3931920"/>
            <a:ext cx="164592" cy="164592"/>
          </a:xfrm>
          <a:prstGeom prst="ellipse">
            <a:avLst/>
          </a:prstGeom>
          <a:solidFill>
            <a:srgbClr val="B7791F"/>
          </a:solidFill>
          <a:ln/>
        </p:spPr>
      </p:sp>
      <p:sp>
        <p:nvSpPr>
          <p:cNvPr id="33" name="Text 31"/>
          <p:cNvSpPr/>
          <p:nvPr/>
        </p:nvSpPr>
        <p:spPr>
          <a:xfrm>
            <a:off x="4892040" y="3840480"/>
            <a:ext cx="2834640" cy="365760"/>
          </a:xfrm>
          <a:prstGeom prst="rect">
            <a:avLst/>
          </a:prstGeom>
          <a:noFill/>
          <a:ln/>
        </p:spPr>
        <p:txBody>
          <a:bodyPr wrap="square" lIns="0" tIns="0" rIns="0" bIns="0" rtlCol="0" anchor="ctr"/>
          <a:lstStyle/>
          <a:p>
            <a:pPr indent="0" marL="0">
              <a:buNone/>
            </a:pPr>
            <a:r>
              <a:rPr lang="en-US" sz="1200" dirty="0">
                <a:solidFill>
                  <a:srgbClr val="2A1A3A"/>
                </a:solidFill>
                <a:latin typeface="Calibri" pitchFamily="34" charset="0"/>
                <a:ea typeface="Calibri" pitchFamily="34" charset="-122"/>
                <a:cs typeface="Calibri" pitchFamily="34" charset="-120"/>
              </a:rPr>
              <a:t>Bundle ID registration</a:t>
            </a:r>
            <a:endParaRPr lang="en-US" sz="1200" dirty="0"/>
          </a:p>
        </p:txBody>
      </p:sp>
      <p:sp>
        <p:nvSpPr>
          <p:cNvPr id="34" name="Shape 32"/>
          <p:cNvSpPr/>
          <p:nvPr/>
        </p:nvSpPr>
        <p:spPr>
          <a:xfrm>
            <a:off x="8183880" y="1691640"/>
            <a:ext cx="3657600" cy="548640"/>
          </a:xfrm>
          <a:prstGeom prst="rect">
            <a:avLst/>
          </a:prstGeom>
          <a:solidFill>
            <a:srgbClr val="8163A3"/>
          </a:solidFill>
          <a:ln/>
        </p:spPr>
      </p:sp>
      <p:sp>
        <p:nvSpPr>
          <p:cNvPr id="35" name="Text 33"/>
          <p:cNvSpPr/>
          <p:nvPr/>
        </p:nvSpPr>
        <p:spPr>
          <a:xfrm>
            <a:off x="8183880" y="1691640"/>
            <a:ext cx="3657600" cy="548640"/>
          </a:xfrm>
          <a:prstGeom prst="rect">
            <a:avLst/>
          </a:prstGeom>
          <a:noFill/>
          <a:ln/>
        </p:spPr>
        <p:txBody>
          <a:bodyPr wrap="square" lIns="0" tIns="0" rIns="0" bIns="0" rtlCol="0" anchor="ctr"/>
          <a:lstStyle/>
          <a:p>
            <a:pPr algn="ctr" indent="0" marL="0">
              <a:buNone/>
            </a:pPr>
            <a:r>
              <a:rPr lang="en-US" sz="1400" b="1" spc="500" kern="0" dirty="0">
                <a:solidFill>
                  <a:srgbClr val="FFFFFF"/>
                </a:solidFill>
                <a:latin typeface="Calibri" pitchFamily="34" charset="0"/>
                <a:ea typeface="Calibri" pitchFamily="34" charset="-122"/>
                <a:cs typeface="Calibri" pitchFamily="34" charset="-120"/>
              </a:rPr>
              <a:t>NOT STARTED</a:t>
            </a:r>
            <a:endParaRPr lang="en-US" sz="1400" dirty="0"/>
          </a:p>
        </p:txBody>
      </p:sp>
      <p:sp>
        <p:nvSpPr>
          <p:cNvPr id="36" name="Shape 34"/>
          <p:cNvSpPr/>
          <p:nvPr/>
        </p:nvSpPr>
        <p:spPr>
          <a:xfrm>
            <a:off x="8183880" y="2240280"/>
            <a:ext cx="3657600" cy="3749040"/>
          </a:xfrm>
          <a:prstGeom prst="rect">
            <a:avLst/>
          </a:prstGeom>
          <a:solidFill>
            <a:srgbClr val="FFFFFF"/>
          </a:solidFill>
          <a:ln w="12700">
            <a:solidFill>
              <a:srgbClr val="BDA2DA"/>
            </a:solidFill>
            <a:prstDash val="solid"/>
          </a:ln>
        </p:spPr>
      </p:sp>
      <p:sp>
        <p:nvSpPr>
          <p:cNvPr id="37" name="Shape 35"/>
          <p:cNvSpPr/>
          <p:nvPr/>
        </p:nvSpPr>
        <p:spPr>
          <a:xfrm>
            <a:off x="8549640" y="2560320"/>
            <a:ext cx="164592" cy="164592"/>
          </a:xfrm>
          <a:prstGeom prst="ellipse">
            <a:avLst/>
          </a:prstGeom>
          <a:solidFill>
            <a:srgbClr val="8163A3"/>
          </a:solidFill>
          <a:ln/>
        </p:spPr>
      </p:sp>
      <p:sp>
        <p:nvSpPr>
          <p:cNvPr id="38" name="Text 36"/>
          <p:cNvSpPr/>
          <p:nvPr/>
        </p:nvSpPr>
        <p:spPr>
          <a:xfrm>
            <a:off x="8823960" y="2468880"/>
            <a:ext cx="2834640" cy="365760"/>
          </a:xfrm>
          <a:prstGeom prst="rect">
            <a:avLst/>
          </a:prstGeom>
          <a:noFill/>
          <a:ln/>
        </p:spPr>
        <p:txBody>
          <a:bodyPr wrap="square" lIns="0" tIns="0" rIns="0" bIns="0" rtlCol="0" anchor="ctr"/>
          <a:lstStyle/>
          <a:p>
            <a:pPr indent="0" marL="0">
              <a:buNone/>
            </a:pPr>
            <a:r>
              <a:rPr lang="en-US" sz="1200" dirty="0">
                <a:solidFill>
                  <a:srgbClr val="2A1A3A"/>
                </a:solidFill>
                <a:latin typeface="Calibri" pitchFamily="34" charset="0"/>
                <a:ea typeface="Calibri" pitchFamily="34" charset="-122"/>
                <a:cs typeface="Calibri" pitchFamily="34" charset="-120"/>
              </a:rPr>
              <a:t>iOS scaffolding (Mac needed)</a:t>
            </a:r>
            <a:endParaRPr lang="en-US" sz="1200" dirty="0"/>
          </a:p>
        </p:txBody>
      </p:sp>
      <p:sp>
        <p:nvSpPr>
          <p:cNvPr id="39" name="Shape 37"/>
          <p:cNvSpPr/>
          <p:nvPr/>
        </p:nvSpPr>
        <p:spPr>
          <a:xfrm>
            <a:off x="8549640" y="3017520"/>
            <a:ext cx="164592" cy="164592"/>
          </a:xfrm>
          <a:prstGeom prst="ellipse">
            <a:avLst/>
          </a:prstGeom>
          <a:solidFill>
            <a:srgbClr val="8163A3"/>
          </a:solidFill>
          <a:ln/>
        </p:spPr>
      </p:sp>
      <p:sp>
        <p:nvSpPr>
          <p:cNvPr id="40" name="Text 38"/>
          <p:cNvSpPr/>
          <p:nvPr/>
        </p:nvSpPr>
        <p:spPr>
          <a:xfrm>
            <a:off x="8823960" y="2926080"/>
            <a:ext cx="2834640" cy="365760"/>
          </a:xfrm>
          <a:prstGeom prst="rect">
            <a:avLst/>
          </a:prstGeom>
          <a:noFill/>
          <a:ln/>
        </p:spPr>
        <p:txBody>
          <a:bodyPr wrap="square" lIns="0" tIns="0" rIns="0" bIns="0" rtlCol="0" anchor="ctr"/>
          <a:lstStyle/>
          <a:p>
            <a:pPr indent="0" marL="0">
              <a:buNone/>
            </a:pPr>
            <a:r>
              <a:rPr lang="en-US" sz="1200" dirty="0">
                <a:solidFill>
                  <a:srgbClr val="2A1A3A"/>
                </a:solidFill>
                <a:latin typeface="Calibri" pitchFamily="34" charset="0"/>
                <a:ea typeface="Calibri" pitchFamily="34" charset="-122"/>
                <a:cs typeface="Calibri" pitchFamily="34" charset="-120"/>
              </a:rPr>
              <a:t>TestFlight first upload</a:t>
            </a:r>
            <a:endParaRPr lang="en-US" sz="1200" dirty="0"/>
          </a:p>
        </p:txBody>
      </p:sp>
      <p:sp>
        <p:nvSpPr>
          <p:cNvPr id="41" name="Shape 39"/>
          <p:cNvSpPr/>
          <p:nvPr/>
        </p:nvSpPr>
        <p:spPr>
          <a:xfrm>
            <a:off x="8549640" y="3474720"/>
            <a:ext cx="164592" cy="164592"/>
          </a:xfrm>
          <a:prstGeom prst="ellipse">
            <a:avLst/>
          </a:prstGeom>
          <a:solidFill>
            <a:srgbClr val="8163A3"/>
          </a:solidFill>
          <a:ln/>
        </p:spPr>
      </p:sp>
      <p:sp>
        <p:nvSpPr>
          <p:cNvPr id="42" name="Text 40"/>
          <p:cNvSpPr/>
          <p:nvPr/>
        </p:nvSpPr>
        <p:spPr>
          <a:xfrm>
            <a:off x="8823960" y="3383280"/>
            <a:ext cx="2834640" cy="365760"/>
          </a:xfrm>
          <a:prstGeom prst="rect">
            <a:avLst/>
          </a:prstGeom>
          <a:noFill/>
          <a:ln/>
        </p:spPr>
        <p:txBody>
          <a:bodyPr wrap="square" lIns="0" tIns="0" rIns="0" bIns="0" rtlCol="0" anchor="ctr"/>
          <a:lstStyle/>
          <a:p>
            <a:pPr indent="0" marL="0">
              <a:buNone/>
            </a:pPr>
            <a:r>
              <a:rPr lang="en-US" sz="1200" dirty="0">
                <a:solidFill>
                  <a:srgbClr val="2A1A3A"/>
                </a:solidFill>
                <a:latin typeface="Calibri" pitchFamily="34" charset="0"/>
                <a:ea typeface="Calibri" pitchFamily="34" charset="-122"/>
                <a:cs typeface="Calibri" pitchFamily="34" charset="-120"/>
              </a:rPr>
              <a:t>Stripe / RevenueCat</a:t>
            </a:r>
            <a:endParaRPr lang="en-US" sz="1200" dirty="0"/>
          </a:p>
        </p:txBody>
      </p:sp>
      <p:sp>
        <p:nvSpPr>
          <p:cNvPr id="43" name="Shape 41"/>
          <p:cNvSpPr/>
          <p:nvPr/>
        </p:nvSpPr>
        <p:spPr>
          <a:xfrm>
            <a:off x="8549640" y="3931920"/>
            <a:ext cx="164592" cy="164592"/>
          </a:xfrm>
          <a:prstGeom prst="ellipse">
            <a:avLst/>
          </a:prstGeom>
          <a:solidFill>
            <a:srgbClr val="8163A3"/>
          </a:solidFill>
          <a:ln/>
        </p:spPr>
      </p:sp>
      <p:sp>
        <p:nvSpPr>
          <p:cNvPr id="44" name="Text 42"/>
          <p:cNvSpPr/>
          <p:nvPr/>
        </p:nvSpPr>
        <p:spPr>
          <a:xfrm>
            <a:off x="8823960" y="3840480"/>
            <a:ext cx="2834640" cy="365760"/>
          </a:xfrm>
          <a:prstGeom prst="rect">
            <a:avLst/>
          </a:prstGeom>
          <a:noFill/>
          <a:ln/>
        </p:spPr>
        <p:txBody>
          <a:bodyPr wrap="square" lIns="0" tIns="0" rIns="0" bIns="0" rtlCol="0" anchor="ctr"/>
          <a:lstStyle/>
          <a:p>
            <a:pPr indent="0" marL="0">
              <a:buNone/>
            </a:pPr>
            <a:r>
              <a:rPr lang="en-US" sz="1200" dirty="0">
                <a:solidFill>
                  <a:srgbClr val="2A1A3A"/>
                </a:solidFill>
                <a:latin typeface="Calibri" pitchFamily="34" charset="0"/>
                <a:ea typeface="Calibri" pitchFamily="34" charset="-122"/>
                <a:cs typeface="Calibri" pitchFamily="34" charset="-120"/>
              </a:rPr>
              <a:t>Native Google + Apple sign-in</a:t>
            </a:r>
            <a:endParaRPr lang="en-US" sz="1200" dirty="0"/>
          </a:p>
        </p:txBody>
      </p:sp>
      <p:sp>
        <p:nvSpPr>
          <p:cNvPr id="45" name="Shape 43"/>
          <p:cNvSpPr/>
          <p:nvPr/>
        </p:nvSpPr>
        <p:spPr>
          <a:xfrm>
            <a:off x="8549640" y="4389120"/>
            <a:ext cx="164592" cy="164592"/>
          </a:xfrm>
          <a:prstGeom prst="ellipse">
            <a:avLst/>
          </a:prstGeom>
          <a:solidFill>
            <a:srgbClr val="8163A3"/>
          </a:solidFill>
          <a:ln/>
        </p:spPr>
      </p:sp>
      <p:sp>
        <p:nvSpPr>
          <p:cNvPr id="46" name="Text 44"/>
          <p:cNvSpPr/>
          <p:nvPr/>
        </p:nvSpPr>
        <p:spPr>
          <a:xfrm>
            <a:off x="8823960" y="4297680"/>
            <a:ext cx="2834640" cy="365760"/>
          </a:xfrm>
          <a:prstGeom prst="rect">
            <a:avLst/>
          </a:prstGeom>
          <a:noFill/>
          <a:ln/>
        </p:spPr>
        <p:txBody>
          <a:bodyPr wrap="square" lIns="0" tIns="0" rIns="0" bIns="0" rtlCol="0" anchor="ctr"/>
          <a:lstStyle/>
          <a:p>
            <a:pPr indent="0" marL="0">
              <a:buNone/>
            </a:pPr>
            <a:r>
              <a:rPr lang="en-US" sz="1200" dirty="0">
                <a:solidFill>
                  <a:srgbClr val="2A1A3A"/>
                </a:solidFill>
                <a:latin typeface="Calibri" pitchFamily="34" charset="0"/>
                <a:ea typeface="Calibri" pitchFamily="34" charset="-122"/>
                <a:cs typeface="Calibri" pitchFamily="34" charset="-120"/>
              </a:rPr>
              <a:t>Server-side recording quota</a:t>
            </a:r>
            <a:endParaRPr lang="en-US" sz="1200" dirty="0"/>
          </a:p>
        </p:txBody>
      </p:sp>
      <p:sp>
        <p:nvSpPr>
          <p:cNvPr id="47" name="Shape 45"/>
          <p:cNvSpPr/>
          <p:nvPr/>
        </p:nvSpPr>
        <p:spPr>
          <a:xfrm>
            <a:off x="8549640" y="4846320"/>
            <a:ext cx="164592" cy="164592"/>
          </a:xfrm>
          <a:prstGeom prst="ellipse">
            <a:avLst/>
          </a:prstGeom>
          <a:solidFill>
            <a:srgbClr val="8163A3"/>
          </a:solidFill>
          <a:ln/>
        </p:spPr>
      </p:sp>
      <p:sp>
        <p:nvSpPr>
          <p:cNvPr id="48" name="Text 46"/>
          <p:cNvSpPr/>
          <p:nvPr/>
        </p:nvSpPr>
        <p:spPr>
          <a:xfrm>
            <a:off x="8823960" y="4754880"/>
            <a:ext cx="2834640" cy="365760"/>
          </a:xfrm>
          <a:prstGeom prst="rect">
            <a:avLst/>
          </a:prstGeom>
          <a:noFill/>
          <a:ln/>
        </p:spPr>
        <p:txBody>
          <a:bodyPr wrap="square" lIns="0" tIns="0" rIns="0" bIns="0" rtlCol="0" anchor="ctr"/>
          <a:lstStyle/>
          <a:p>
            <a:pPr indent="0" marL="0">
              <a:buNone/>
            </a:pPr>
            <a:r>
              <a:rPr lang="en-US" sz="1200" dirty="0">
                <a:solidFill>
                  <a:srgbClr val="2A1A3A"/>
                </a:solidFill>
                <a:latin typeface="Calibri" pitchFamily="34" charset="0"/>
                <a:ea typeface="Calibri" pitchFamily="34" charset="-122"/>
                <a:cs typeface="Calibri" pitchFamily="34" charset="-120"/>
              </a:rPr>
              <a:t>Marketing landing page</a:t>
            </a:r>
            <a:endParaRPr lang="en-US" sz="1200" dirty="0"/>
          </a:p>
        </p:txBody>
      </p:sp>
      <p:sp>
        <p:nvSpPr>
          <p:cNvPr id="49" name="Text 47"/>
          <p:cNvSpPr/>
          <p:nvPr/>
        </p:nvSpPr>
        <p:spPr>
          <a:xfrm>
            <a:off x="365760" y="6492240"/>
            <a:ext cx="1828800" cy="274320"/>
          </a:xfrm>
          <a:prstGeom prst="rect">
            <a:avLst/>
          </a:prstGeom>
          <a:noFill/>
          <a:ln/>
        </p:spPr>
        <p:txBody>
          <a:bodyPr wrap="square" rtlCol="0" anchor="ctr"/>
          <a:lstStyle/>
          <a:p>
            <a:pPr indent="0" marL="0">
              <a:buNone/>
            </a:pPr>
            <a:r>
              <a:rPr lang="en-US" sz="1000" b="1" dirty="0">
                <a:solidFill>
                  <a:srgbClr val="666666"/>
                </a:solidFill>
                <a:latin typeface="Calibri" pitchFamily="34" charset="0"/>
                <a:ea typeface="Calibri" pitchFamily="34" charset="-122"/>
                <a:cs typeface="Calibri" pitchFamily="34" charset="-120"/>
              </a:rPr>
              <a:t>Sheen AI</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2EDF7"/>
        </a:solidFill>
      </p:bgPr>
    </p:bg>
    <p:spTree>
      <p:nvGrpSpPr>
        <p:cNvPr id="1" name=""/>
        <p:cNvGrpSpPr/>
        <p:nvPr/>
      </p:nvGrpSpPr>
      <p:grpSpPr>
        <a:xfrm>
          <a:off x="0" y="0"/>
          <a:ext cx="0" cy="0"/>
          <a:chOff x="0" y="0"/>
          <a:chExt cx="0" cy="0"/>
        </a:xfrm>
      </p:grpSpPr>
      <p:sp>
        <p:nvSpPr>
          <p:cNvPr id="2" name="Text 0"/>
          <p:cNvSpPr/>
          <p:nvPr/>
        </p:nvSpPr>
        <p:spPr>
          <a:xfrm>
            <a:off x="548640" y="502920"/>
            <a:ext cx="11064240" cy="320040"/>
          </a:xfrm>
          <a:prstGeom prst="rect">
            <a:avLst/>
          </a:prstGeom>
          <a:noFill/>
          <a:ln/>
        </p:spPr>
        <p:txBody>
          <a:bodyPr wrap="square" rtlCol="0" anchor="ctr"/>
          <a:lstStyle/>
          <a:p>
            <a:pPr indent="0" marL="0">
              <a:buNone/>
            </a:pPr>
            <a:r>
              <a:rPr lang="en-US" sz="1300" b="1" spc="400" kern="0" dirty="0">
                <a:solidFill>
                  <a:srgbClr val="8163A3"/>
                </a:solidFill>
                <a:latin typeface="Calibri" pitchFamily="34" charset="0"/>
                <a:ea typeface="Calibri" pitchFamily="34" charset="-122"/>
                <a:cs typeface="Calibri" pitchFamily="34" charset="-120"/>
              </a:rPr>
              <a:t>WHAT COMES NEXT</a:t>
            </a:r>
            <a:endParaRPr lang="en-US" sz="1300" dirty="0"/>
          </a:p>
        </p:txBody>
      </p:sp>
      <p:sp>
        <p:nvSpPr>
          <p:cNvPr id="3" name="Text 1"/>
          <p:cNvSpPr/>
          <p:nvPr/>
        </p:nvSpPr>
        <p:spPr>
          <a:xfrm>
            <a:off x="548640" y="868680"/>
            <a:ext cx="11064240" cy="777240"/>
          </a:xfrm>
          <a:prstGeom prst="rect">
            <a:avLst/>
          </a:prstGeom>
          <a:noFill/>
          <a:ln/>
        </p:spPr>
        <p:txBody>
          <a:bodyPr wrap="square" lIns="0" tIns="0" rIns="0" bIns="0" rtlCol="0" anchor="ctr"/>
          <a:lstStyle/>
          <a:p>
            <a:pPr indent="0" marL="0">
              <a:buNone/>
            </a:pPr>
            <a:r>
              <a:rPr lang="en-US" sz="3200" b="1" dirty="0">
                <a:solidFill>
                  <a:srgbClr val="4A2070"/>
                </a:solidFill>
                <a:latin typeface="Calibri" pitchFamily="34" charset="0"/>
                <a:ea typeface="Calibri" pitchFamily="34" charset="-122"/>
                <a:cs typeface="Calibri" pitchFamily="34" charset="-120"/>
              </a:rPr>
              <a:t>Roadmap</a:t>
            </a:r>
            <a:endParaRPr lang="en-US" sz="3200" dirty="0"/>
          </a:p>
        </p:txBody>
      </p:sp>
      <p:sp>
        <p:nvSpPr>
          <p:cNvPr id="4" name="Shape 2"/>
          <p:cNvSpPr/>
          <p:nvPr/>
        </p:nvSpPr>
        <p:spPr>
          <a:xfrm>
            <a:off x="320040" y="1691640"/>
            <a:ext cx="3657600" cy="640080"/>
          </a:xfrm>
          <a:prstGeom prst="rect">
            <a:avLst/>
          </a:prstGeom>
          <a:solidFill>
            <a:srgbClr val="4A2070"/>
          </a:solidFill>
          <a:ln/>
        </p:spPr>
      </p:sp>
      <p:sp>
        <p:nvSpPr>
          <p:cNvPr id="5" name="Text 3"/>
          <p:cNvSpPr/>
          <p:nvPr/>
        </p:nvSpPr>
        <p:spPr>
          <a:xfrm>
            <a:off x="502920" y="1691640"/>
            <a:ext cx="3291840" cy="640080"/>
          </a:xfrm>
          <a:prstGeom prst="rect">
            <a:avLst/>
          </a:prstGeom>
          <a:noFill/>
          <a:ln/>
        </p:spPr>
        <p:txBody>
          <a:bodyPr wrap="square" lIns="0" tIns="0" rIns="0" bIns="0" rtlCol="0" anchor="ctr"/>
          <a:lstStyle/>
          <a:p>
            <a:pPr indent="0" marL="0">
              <a:buNone/>
            </a:pPr>
            <a:r>
              <a:rPr lang="en-US" sz="1400" b="1" spc="400" kern="0" dirty="0">
                <a:solidFill>
                  <a:srgbClr val="FFFFFF"/>
                </a:solidFill>
                <a:latin typeface="Calibri" pitchFamily="34" charset="0"/>
                <a:ea typeface="Calibri" pitchFamily="34" charset="-122"/>
                <a:cs typeface="Calibri" pitchFamily="34" charset="-120"/>
              </a:rPr>
              <a:t>NEAR · 0-4 weeks</a:t>
            </a:r>
            <a:endParaRPr lang="en-US" sz="1400" dirty="0"/>
          </a:p>
        </p:txBody>
      </p:sp>
      <p:sp>
        <p:nvSpPr>
          <p:cNvPr id="6" name="Shape 4"/>
          <p:cNvSpPr/>
          <p:nvPr/>
        </p:nvSpPr>
        <p:spPr>
          <a:xfrm>
            <a:off x="320040" y="2331720"/>
            <a:ext cx="3657600" cy="3931920"/>
          </a:xfrm>
          <a:prstGeom prst="rect">
            <a:avLst/>
          </a:prstGeom>
          <a:solidFill>
            <a:srgbClr val="FFFFFF"/>
          </a:solidFill>
          <a:ln w="12700">
            <a:solidFill>
              <a:srgbClr val="BDA2DA"/>
            </a:solidFill>
            <a:prstDash val="solid"/>
          </a:ln>
        </p:spPr>
      </p:sp>
      <p:sp>
        <p:nvSpPr>
          <p:cNvPr id="7" name="Text 5"/>
          <p:cNvSpPr/>
          <p:nvPr/>
        </p:nvSpPr>
        <p:spPr>
          <a:xfrm>
            <a:off x="594360" y="2514600"/>
            <a:ext cx="457200" cy="365760"/>
          </a:xfrm>
          <a:prstGeom prst="rect">
            <a:avLst/>
          </a:prstGeom>
          <a:noFill/>
          <a:ln/>
        </p:spPr>
        <p:txBody>
          <a:bodyPr wrap="square" lIns="0" tIns="0" rIns="0" bIns="0" rtlCol="0" anchor="ctr"/>
          <a:lstStyle/>
          <a:p>
            <a:pPr indent="0" marL="0">
              <a:buNone/>
            </a:pPr>
            <a:r>
              <a:rPr lang="en-US" sz="1300" b="1" dirty="0">
                <a:solidFill>
                  <a:srgbClr val="8163A3"/>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005840" y="2514600"/>
            <a:ext cx="2788920" cy="365760"/>
          </a:xfrm>
          <a:prstGeom prst="rect">
            <a:avLst/>
          </a:prstGeom>
          <a:noFill/>
          <a:ln/>
        </p:spPr>
        <p:txBody>
          <a:bodyPr wrap="square" lIns="0" tIns="0" rIns="0" bIns="0" rtlCol="0" anchor="ctr"/>
          <a:lstStyle/>
          <a:p>
            <a:pPr indent="0" marL="0">
              <a:buNone/>
            </a:pPr>
            <a:r>
              <a:rPr lang="en-US" sz="1200" dirty="0">
                <a:solidFill>
                  <a:srgbClr val="2A1A3A"/>
                </a:solidFill>
                <a:latin typeface="Calibri" pitchFamily="34" charset="0"/>
                <a:ea typeface="Calibri" pitchFamily="34" charset="-122"/>
                <a:cs typeface="Calibri" pitchFamily="34" charset="-120"/>
              </a:rPr>
              <a:t>Mac → iOS scaffolding + TestFlight</a:t>
            </a:r>
            <a:endParaRPr lang="en-US" sz="1200" dirty="0"/>
          </a:p>
        </p:txBody>
      </p:sp>
      <p:sp>
        <p:nvSpPr>
          <p:cNvPr id="9" name="Text 7"/>
          <p:cNvSpPr/>
          <p:nvPr/>
        </p:nvSpPr>
        <p:spPr>
          <a:xfrm>
            <a:off x="594360" y="3017520"/>
            <a:ext cx="457200" cy="365760"/>
          </a:xfrm>
          <a:prstGeom prst="rect">
            <a:avLst/>
          </a:prstGeom>
          <a:noFill/>
          <a:ln/>
        </p:spPr>
        <p:txBody>
          <a:bodyPr wrap="square" lIns="0" tIns="0" rIns="0" bIns="0" rtlCol="0" anchor="ctr"/>
          <a:lstStyle/>
          <a:p>
            <a:pPr indent="0" marL="0">
              <a:buNone/>
            </a:pPr>
            <a:r>
              <a:rPr lang="en-US" sz="1300" b="1" dirty="0">
                <a:solidFill>
                  <a:srgbClr val="8163A3"/>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005840" y="3017520"/>
            <a:ext cx="2788920" cy="365760"/>
          </a:xfrm>
          <a:prstGeom prst="rect">
            <a:avLst/>
          </a:prstGeom>
          <a:noFill/>
          <a:ln/>
        </p:spPr>
        <p:txBody>
          <a:bodyPr wrap="square" lIns="0" tIns="0" rIns="0" bIns="0" rtlCol="0" anchor="ctr"/>
          <a:lstStyle/>
          <a:p>
            <a:pPr indent="0" marL="0">
              <a:buNone/>
            </a:pPr>
            <a:r>
              <a:rPr lang="en-US" sz="1200" dirty="0">
                <a:solidFill>
                  <a:srgbClr val="2A1A3A"/>
                </a:solidFill>
                <a:latin typeface="Calibri" pitchFamily="34" charset="0"/>
                <a:ea typeface="Calibri" pitchFamily="34" charset="-122"/>
                <a:cs typeface="Calibri" pitchFamily="34" charset="-120"/>
              </a:rPr>
              <a:t>Apple Developer enrolment</a:t>
            </a:r>
            <a:endParaRPr lang="en-US" sz="1200" dirty="0"/>
          </a:p>
        </p:txBody>
      </p:sp>
      <p:sp>
        <p:nvSpPr>
          <p:cNvPr id="11" name="Text 9"/>
          <p:cNvSpPr/>
          <p:nvPr/>
        </p:nvSpPr>
        <p:spPr>
          <a:xfrm>
            <a:off x="594360" y="3520440"/>
            <a:ext cx="457200" cy="365760"/>
          </a:xfrm>
          <a:prstGeom prst="rect">
            <a:avLst/>
          </a:prstGeom>
          <a:noFill/>
          <a:ln/>
        </p:spPr>
        <p:txBody>
          <a:bodyPr wrap="square" lIns="0" tIns="0" rIns="0" bIns="0" rtlCol="0" anchor="ctr"/>
          <a:lstStyle/>
          <a:p>
            <a:pPr indent="0" marL="0">
              <a:buNone/>
            </a:pPr>
            <a:r>
              <a:rPr lang="en-US" sz="1300" b="1" dirty="0">
                <a:solidFill>
                  <a:srgbClr val="8163A3"/>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1005840" y="3520440"/>
            <a:ext cx="2788920" cy="365760"/>
          </a:xfrm>
          <a:prstGeom prst="rect">
            <a:avLst/>
          </a:prstGeom>
          <a:noFill/>
          <a:ln/>
        </p:spPr>
        <p:txBody>
          <a:bodyPr wrap="square" lIns="0" tIns="0" rIns="0" bIns="0" rtlCol="0" anchor="ctr"/>
          <a:lstStyle/>
          <a:p>
            <a:pPr indent="0" marL="0">
              <a:buNone/>
            </a:pPr>
            <a:r>
              <a:rPr lang="en-US" sz="1200" dirty="0">
                <a:solidFill>
                  <a:srgbClr val="2A1A3A"/>
                </a:solidFill>
                <a:latin typeface="Calibri" pitchFamily="34" charset="0"/>
                <a:ea typeface="Calibri" pitchFamily="34" charset="-122"/>
                <a:cs typeface="Calibri" pitchFamily="34" charset="-120"/>
              </a:rPr>
              <a:t>Play Console enrolment</a:t>
            </a:r>
            <a:endParaRPr lang="en-US" sz="1200" dirty="0"/>
          </a:p>
        </p:txBody>
      </p:sp>
      <p:sp>
        <p:nvSpPr>
          <p:cNvPr id="13" name="Text 11"/>
          <p:cNvSpPr/>
          <p:nvPr/>
        </p:nvSpPr>
        <p:spPr>
          <a:xfrm>
            <a:off x="594360" y="4023360"/>
            <a:ext cx="457200" cy="365760"/>
          </a:xfrm>
          <a:prstGeom prst="rect">
            <a:avLst/>
          </a:prstGeom>
          <a:noFill/>
          <a:ln/>
        </p:spPr>
        <p:txBody>
          <a:bodyPr wrap="square" lIns="0" tIns="0" rIns="0" bIns="0" rtlCol="0" anchor="ctr"/>
          <a:lstStyle/>
          <a:p>
            <a:pPr indent="0" marL="0">
              <a:buNone/>
            </a:pPr>
            <a:r>
              <a:rPr lang="en-US" sz="1300" b="1" dirty="0">
                <a:solidFill>
                  <a:srgbClr val="8163A3"/>
                </a:solidFill>
                <a:latin typeface="Calibri" pitchFamily="34" charset="0"/>
                <a:ea typeface="Calibri" pitchFamily="34" charset="-122"/>
                <a:cs typeface="Calibri" pitchFamily="34" charset="-120"/>
              </a:rPr>
              <a:t>4.</a:t>
            </a:r>
            <a:endParaRPr lang="en-US" sz="1300" dirty="0"/>
          </a:p>
        </p:txBody>
      </p:sp>
      <p:sp>
        <p:nvSpPr>
          <p:cNvPr id="14" name="Text 12"/>
          <p:cNvSpPr/>
          <p:nvPr/>
        </p:nvSpPr>
        <p:spPr>
          <a:xfrm>
            <a:off x="1005840" y="4023360"/>
            <a:ext cx="2788920" cy="365760"/>
          </a:xfrm>
          <a:prstGeom prst="rect">
            <a:avLst/>
          </a:prstGeom>
          <a:noFill/>
          <a:ln/>
        </p:spPr>
        <p:txBody>
          <a:bodyPr wrap="square" lIns="0" tIns="0" rIns="0" bIns="0" rtlCol="0" anchor="ctr"/>
          <a:lstStyle/>
          <a:p>
            <a:pPr indent="0" marL="0">
              <a:buNone/>
            </a:pPr>
            <a:r>
              <a:rPr lang="en-US" sz="1200" dirty="0">
                <a:solidFill>
                  <a:srgbClr val="2A1A3A"/>
                </a:solidFill>
                <a:latin typeface="Calibri" pitchFamily="34" charset="0"/>
                <a:ea typeface="Calibri" pitchFamily="34" charset="-122"/>
                <a:cs typeface="Calibri" pitchFamily="34" charset="-120"/>
              </a:rPr>
              <a:t>Privacy Policy + Terms finalised</a:t>
            </a:r>
            <a:endParaRPr lang="en-US" sz="1200" dirty="0"/>
          </a:p>
        </p:txBody>
      </p:sp>
      <p:sp>
        <p:nvSpPr>
          <p:cNvPr id="15" name="Text 13"/>
          <p:cNvSpPr/>
          <p:nvPr/>
        </p:nvSpPr>
        <p:spPr>
          <a:xfrm>
            <a:off x="594360" y="4526280"/>
            <a:ext cx="457200" cy="365760"/>
          </a:xfrm>
          <a:prstGeom prst="rect">
            <a:avLst/>
          </a:prstGeom>
          <a:noFill/>
          <a:ln/>
        </p:spPr>
        <p:txBody>
          <a:bodyPr wrap="square" lIns="0" tIns="0" rIns="0" bIns="0" rtlCol="0" anchor="ctr"/>
          <a:lstStyle/>
          <a:p>
            <a:pPr indent="0" marL="0">
              <a:buNone/>
            </a:pPr>
            <a:r>
              <a:rPr lang="en-US" sz="1300" b="1" dirty="0">
                <a:solidFill>
                  <a:srgbClr val="8163A3"/>
                </a:solidFill>
                <a:latin typeface="Calibri" pitchFamily="34" charset="0"/>
                <a:ea typeface="Calibri" pitchFamily="34" charset="-122"/>
                <a:cs typeface="Calibri" pitchFamily="34" charset="-120"/>
              </a:rPr>
              <a:t>5.</a:t>
            </a:r>
            <a:endParaRPr lang="en-US" sz="1300" dirty="0"/>
          </a:p>
        </p:txBody>
      </p:sp>
      <p:sp>
        <p:nvSpPr>
          <p:cNvPr id="16" name="Text 14"/>
          <p:cNvSpPr/>
          <p:nvPr/>
        </p:nvSpPr>
        <p:spPr>
          <a:xfrm>
            <a:off x="1005840" y="4526280"/>
            <a:ext cx="2788920" cy="365760"/>
          </a:xfrm>
          <a:prstGeom prst="rect">
            <a:avLst/>
          </a:prstGeom>
          <a:noFill/>
          <a:ln/>
        </p:spPr>
        <p:txBody>
          <a:bodyPr wrap="square" lIns="0" tIns="0" rIns="0" bIns="0" rtlCol="0" anchor="ctr"/>
          <a:lstStyle/>
          <a:p>
            <a:pPr indent="0" marL="0">
              <a:buNone/>
            </a:pPr>
            <a:r>
              <a:rPr lang="en-US" sz="1200" dirty="0">
                <a:solidFill>
                  <a:srgbClr val="2A1A3A"/>
                </a:solidFill>
                <a:latin typeface="Calibri" pitchFamily="34" charset="0"/>
                <a:ea typeface="Calibri" pitchFamily="34" charset="-122"/>
                <a:cs typeface="Calibri" pitchFamily="34" charset="-120"/>
              </a:rPr>
              <a:t>Beta cohort (~20 testers)</a:t>
            </a:r>
            <a:endParaRPr lang="en-US" sz="1200" dirty="0"/>
          </a:p>
        </p:txBody>
      </p:sp>
      <p:sp>
        <p:nvSpPr>
          <p:cNvPr id="17" name="Text 15"/>
          <p:cNvSpPr/>
          <p:nvPr/>
        </p:nvSpPr>
        <p:spPr>
          <a:xfrm>
            <a:off x="594360" y="5029200"/>
            <a:ext cx="457200" cy="365760"/>
          </a:xfrm>
          <a:prstGeom prst="rect">
            <a:avLst/>
          </a:prstGeom>
          <a:noFill/>
          <a:ln/>
        </p:spPr>
        <p:txBody>
          <a:bodyPr wrap="square" lIns="0" tIns="0" rIns="0" bIns="0" rtlCol="0" anchor="ctr"/>
          <a:lstStyle/>
          <a:p>
            <a:pPr indent="0" marL="0">
              <a:buNone/>
            </a:pPr>
            <a:r>
              <a:rPr lang="en-US" sz="1300" b="1" dirty="0">
                <a:solidFill>
                  <a:srgbClr val="8163A3"/>
                </a:solidFill>
                <a:latin typeface="Calibri" pitchFamily="34" charset="0"/>
                <a:ea typeface="Calibri" pitchFamily="34" charset="-122"/>
                <a:cs typeface="Calibri" pitchFamily="34" charset="-120"/>
              </a:rPr>
              <a:t>6.</a:t>
            </a:r>
            <a:endParaRPr lang="en-US" sz="1300" dirty="0"/>
          </a:p>
        </p:txBody>
      </p:sp>
      <p:sp>
        <p:nvSpPr>
          <p:cNvPr id="18" name="Text 16"/>
          <p:cNvSpPr/>
          <p:nvPr/>
        </p:nvSpPr>
        <p:spPr>
          <a:xfrm>
            <a:off x="1005840" y="5029200"/>
            <a:ext cx="2788920" cy="365760"/>
          </a:xfrm>
          <a:prstGeom prst="rect">
            <a:avLst/>
          </a:prstGeom>
          <a:noFill/>
          <a:ln/>
        </p:spPr>
        <p:txBody>
          <a:bodyPr wrap="square" lIns="0" tIns="0" rIns="0" bIns="0" rtlCol="0" anchor="ctr"/>
          <a:lstStyle/>
          <a:p>
            <a:pPr indent="0" marL="0">
              <a:buNone/>
            </a:pPr>
            <a:r>
              <a:rPr lang="en-US" sz="1200" dirty="0">
                <a:solidFill>
                  <a:srgbClr val="2A1A3A"/>
                </a:solidFill>
                <a:latin typeface="Calibri" pitchFamily="34" charset="0"/>
                <a:ea typeface="Calibri" pitchFamily="34" charset="-122"/>
                <a:cs typeface="Calibri" pitchFamily="34" charset="-120"/>
              </a:rPr>
              <a:t>Landing page</a:t>
            </a:r>
            <a:endParaRPr lang="en-US" sz="1200" dirty="0"/>
          </a:p>
        </p:txBody>
      </p:sp>
      <p:sp>
        <p:nvSpPr>
          <p:cNvPr id="19" name="Shape 17"/>
          <p:cNvSpPr/>
          <p:nvPr/>
        </p:nvSpPr>
        <p:spPr>
          <a:xfrm>
            <a:off x="4251960" y="1691640"/>
            <a:ext cx="3657600" cy="640080"/>
          </a:xfrm>
          <a:prstGeom prst="rect">
            <a:avLst/>
          </a:prstGeom>
          <a:solidFill>
            <a:srgbClr val="4A2070"/>
          </a:solidFill>
          <a:ln/>
        </p:spPr>
      </p:sp>
      <p:sp>
        <p:nvSpPr>
          <p:cNvPr id="20" name="Text 18"/>
          <p:cNvSpPr/>
          <p:nvPr/>
        </p:nvSpPr>
        <p:spPr>
          <a:xfrm>
            <a:off x="4434840" y="1691640"/>
            <a:ext cx="3291840" cy="640080"/>
          </a:xfrm>
          <a:prstGeom prst="rect">
            <a:avLst/>
          </a:prstGeom>
          <a:noFill/>
          <a:ln/>
        </p:spPr>
        <p:txBody>
          <a:bodyPr wrap="square" lIns="0" tIns="0" rIns="0" bIns="0" rtlCol="0" anchor="ctr"/>
          <a:lstStyle/>
          <a:p>
            <a:pPr indent="0" marL="0">
              <a:buNone/>
            </a:pPr>
            <a:r>
              <a:rPr lang="en-US" sz="1400" b="1" spc="400" kern="0" dirty="0">
                <a:solidFill>
                  <a:srgbClr val="FFFFFF"/>
                </a:solidFill>
                <a:latin typeface="Calibri" pitchFamily="34" charset="0"/>
                <a:ea typeface="Calibri" pitchFamily="34" charset="-122"/>
                <a:cs typeface="Calibri" pitchFamily="34" charset="-120"/>
              </a:rPr>
              <a:t>MEDIUM · 1-3 months</a:t>
            </a:r>
            <a:endParaRPr lang="en-US" sz="1400" dirty="0"/>
          </a:p>
        </p:txBody>
      </p:sp>
      <p:sp>
        <p:nvSpPr>
          <p:cNvPr id="21" name="Shape 19"/>
          <p:cNvSpPr/>
          <p:nvPr/>
        </p:nvSpPr>
        <p:spPr>
          <a:xfrm>
            <a:off x="4251960" y="2331720"/>
            <a:ext cx="3657600" cy="3931920"/>
          </a:xfrm>
          <a:prstGeom prst="rect">
            <a:avLst/>
          </a:prstGeom>
          <a:solidFill>
            <a:srgbClr val="FFFFFF"/>
          </a:solidFill>
          <a:ln w="12700">
            <a:solidFill>
              <a:srgbClr val="BDA2DA"/>
            </a:solidFill>
            <a:prstDash val="solid"/>
          </a:ln>
        </p:spPr>
      </p:sp>
      <p:sp>
        <p:nvSpPr>
          <p:cNvPr id="22" name="Text 20"/>
          <p:cNvSpPr/>
          <p:nvPr/>
        </p:nvSpPr>
        <p:spPr>
          <a:xfrm>
            <a:off x="4526280" y="2514600"/>
            <a:ext cx="457200" cy="365760"/>
          </a:xfrm>
          <a:prstGeom prst="rect">
            <a:avLst/>
          </a:prstGeom>
          <a:noFill/>
          <a:ln/>
        </p:spPr>
        <p:txBody>
          <a:bodyPr wrap="square" lIns="0" tIns="0" rIns="0" bIns="0" rtlCol="0" anchor="ctr"/>
          <a:lstStyle/>
          <a:p>
            <a:pPr indent="0" marL="0">
              <a:buNone/>
            </a:pPr>
            <a:r>
              <a:rPr lang="en-US" sz="1300" b="1" dirty="0">
                <a:solidFill>
                  <a:srgbClr val="8163A3"/>
                </a:solidFill>
                <a:latin typeface="Calibri" pitchFamily="34" charset="0"/>
                <a:ea typeface="Calibri" pitchFamily="34" charset="-122"/>
                <a:cs typeface="Calibri" pitchFamily="34" charset="-120"/>
              </a:rPr>
              <a:t>1.</a:t>
            </a:r>
            <a:endParaRPr lang="en-US" sz="1300" dirty="0"/>
          </a:p>
        </p:txBody>
      </p:sp>
      <p:sp>
        <p:nvSpPr>
          <p:cNvPr id="23" name="Text 21"/>
          <p:cNvSpPr/>
          <p:nvPr/>
        </p:nvSpPr>
        <p:spPr>
          <a:xfrm>
            <a:off x="4937760" y="2514600"/>
            <a:ext cx="2788920" cy="365760"/>
          </a:xfrm>
          <a:prstGeom prst="rect">
            <a:avLst/>
          </a:prstGeom>
          <a:noFill/>
          <a:ln/>
        </p:spPr>
        <p:txBody>
          <a:bodyPr wrap="square" lIns="0" tIns="0" rIns="0" bIns="0" rtlCol="0" anchor="ctr"/>
          <a:lstStyle/>
          <a:p>
            <a:pPr indent="0" marL="0">
              <a:buNone/>
            </a:pPr>
            <a:r>
              <a:rPr lang="en-US" sz="1200" dirty="0">
                <a:solidFill>
                  <a:srgbClr val="2A1A3A"/>
                </a:solidFill>
                <a:latin typeface="Calibri" pitchFamily="34" charset="0"/>
                <a:ea typeface="Calibri" pitchFamily="34" charset="-122"/>
                <a:cs typeface="Calibri" pitchFamily="34" charset="-120"/>
              </a:rPr>
              <a:t>RevenueCat integration</a:t>
            </a:r>
            <a:endParaRPr lang="en-US" sz="1200" dirty="0"/>
          </a:p>
        </p:txBody>
      </p:sp>
      <p:sp>
        <p:nvSpPr>
          <p:cNvPr id="24" name="Text 22"/>
          <p:cNvSpPr/>
          <p:nvPr/>
        </p:nvSpPr>
        <p:spPr>
          <a:xfrm>
            <a:off x="4526280" y="3017520"/>
            <a:ext cx="457200" cy="365760"/>
          </a:xfrm>
          <a:prstGeom prst="rect">
            <a:avLst/>
          </a:prstGeom>
          <a:noFill/>
          <a:ln/>
        </p:spPr>
        <p:txBody>
          <a:bodyPr wrap="square" lIns="0" tIns="0" rIns="0" bIns="0" rtlCol="0" anchor="ctr"/>
          <a:lstStyle/>
          <a:p>
            <a:pPr indent="0" marL="0">
              <a:buNone/>
            </a:pPr>
            <a:r>
              <a:rPr lang="en-US" sz="1300" b="1" dirty="0">
                <a:solidFill>
                  <a:srgbClr val="8163A3"/>
                </a:solidFill>
                <a:latin typeface="Calibri" pitchFamily="34" charset="0"/>
                <a:ea typeface="Calibri" pitchFamily="34" charset="-122"/>
                <a:cs typeface="Calibri" pitchFamily="34" charset="-120"/>
              </a:rPr>
              <a:t>2.</a:t>
            </a:r>
            <a:endParaRPr lang="en-US" sz="1300" dirty="0"/>
          </a:p>
        </p:txBody>
      </p:sp>
      <p:sp>
        <p:nvSpPr>
          <p:cNvPr id="25" name="Text 23"/>
          <p:cNvSpPr/>
          <p:nvPr/>
        </p:nvSpPr>
        <p:spPr>
          <a:xfrm>
            <a:off x="4937760" y="3017520"/>
            <a:ext cx="2788920" cy="365760"/>
          </a:xfrm>
          <a:prstGeom prst="rect">
            <a:avLst/>
          </a:prstGeom>
          <a:noFill/>
          <a:ln/>
        </p:spPr>
        <p:txBody>
          <a:bodyPr wrap="square" lIns="0" tIns="0" rIns="0" bIns="0" rtlCol="0" anchor="ctr"/>
          <a:lstStyle/>
          <a:p>
            <a:pPr indent="0" marL="0">
              <a:buNone/>
            </a:pPr>
            <a:r>
              <a:rPr lang="en-US" sz="1200" dirty="0">
                <a:solidFill>
                  <a:srgbClr val="2A1A3A"/>
                </a:solidFill>
                <a:latin typeface="Calibri" pitchFamily="34" charset="0"/>
                <a:ea typeface="Calibri" pitchFamily="34" charset="-122"/>
                <a:cs typeface="Calibri" pitchFamily="34" charset="-120"/>
              </a:rPr>
              <a:t>First paid customer</a:t>
            </a:r>
            <a:endParaRPr lang="en-US" sz="1200" dirty="0"/>
          </a:p>
        </p:txBody>
      </p:sp>
      <p:sp>
        <p:nvSpPr>
          <p:cNvPr id="26" name="Text 24"/>
          <p:cNvSpPr/>
          <p:nvPr/>
        </p:nvSpPr>
        <p:spPr>
          <a:xfrm>
            <a:off x="4526280" y="3520440"/>
            <a:ext cx="457200" cy="365760"/>
          </a:xfrm>
          <a:prstGeom prst="rect">
            <a:avLst/>
          </a:prstGeom>
          <a:noFill/>
          <a:ln/>
        </p:spPr>
        <p:txBody>
          <a:bodyPr wrap="square" lIns="0" tIns="0" rIns="0" bIns="0" rtlCol="0" anchor="ctr"/>
          <a:lstStyle/>
          <a:p>
            <a:pPr indent="0" marL="0">
              <a:buNone/>
            </a:pPr>
            <a:r>
              <a:rPr lang="en-US" sz="1300" b="1" dirty="0">
                <a:solidFill>
                  <a:srgbClr val="8163A3"/>
                </a:solidFill>
                <a:latin typeface="Calibri" pitchFamily="34" charset="0"/>
                <a:ea typeface="Calibri" pitchFamily="34" charset="-122"/>
                <a:cs typeface="Calibri" pitchFamily="34" charset="-120"/>
              </a:rPr>
              <a:t>3.</a:t>
            </a:r>
            <a:endParaRPr lang="en-US" sz="1300" dirty="0"/>
          </a:p>
        </p:txBody>
      </p:sp>
      <p:sp>
        <p:nvSpPr>
          <p:cNvPr id="27" name="Text 25"/>
          <p:cNvSpPr/>
          <p:nvPr/>
        </p:nvSpPr>
        <p:spPr>
          <a:xfrm>
            <a:off x="4937760" y="3520440"/>
            <a:ext cx="2788920" cy="365760"/>
          </a:xfrm>
          <a:prstGeom prst="rect">
            <a:avLst/>
          </a:prstGeom>
          <a:noFill/>
          <a:ln/>
        </p:spPr>
        <p:txBody>
          <a:bodyPr wrap="square" lIns="0" tIns="0" rIns="0" bIns="0" rtlCol="0" anchor="ctr"/>
          <a:lstStyle/>
          <a:p>
            <a:pPr indent="0" marL="0">
              <a:buNone/>
            </a:pPr>
            <a:r>
              <a:rPr lang="en-US" sz="1200" dirty="0">
                <a:solidFill>
                  <a:srgbClr val="2A1A3A"/>
                </a:solidFill>
                <a:latin typeface="Calibri" pitchFamily="34" charset="0"/>
                <a:ea typeface="Calibri" pitchFamily="34" charset="-122"/>
                <a:cs typeface="Calibri" pitchFamily="34" charset="-120"/>
              </a:rPr>
              <a:t>Native sign-in (Google + Apple)</a:t>
            </a:r>
            <a:endParaRPr lang="en-US" sz="1200" dirty="0"/>
          </a:p>
        </p:txBody>
      </p:sp>
      <p:sp>
        <p:nvSpPr>
          <p:cNvPr id="28" name="Text 26"/>
          <p:cNvSpPr/>
          <p:nvPr/>
        </p:nvSpPr>
        <p:spPr>
          <a:xfrm>
            <a:off x="4526280" y="4023360"/>
            <a:ext cx="457200" cy="365760"/>
          </a:xfrm>
          <a:prstGeom prst="rect">
            <a:avLst/>
          </a:prstGeom>
          <a:noFill/>
          <a:ln/>
        </p:spPr>
        <p:txBody>
          <a:bodyPr wrap="square" lIns="0" tIns="0" rIns="0" bIns="0" rtlCol="0" anchor="ctr"/>
          <a:lstStyle/>
          <a:p>
            <a:pPr indent="0" marL="0">
              <a:buNone/>
            </a:pPr>
            <a:r>
              <a:rPr lang="en-US" sz="1300" b="1" dirty="0">
                <a:solidFill>
                  <a:srgbClr val="8163A3"/>
                </a:solidFill>
                <a:latin typeface="Calibri" pitchFamily="34" charset="0"/>
                <a:ea typeface="Calibri" pitchFamily="34" charset="-122"/>
                <a:cs typeface="Calibri" pitchFamily="34" charset="-120"/>
              </a:rPr>
              <a:t>4.</a:t>
            </a:r>
            <a:endParaRPr lang="en-US" sz="1300" dirty="0"/>
          </a:p>
        </p:txBody>
      </p:sp>
      <p:sp>
        <p:nvSpPr>
          <p:cNvPr id="29" name="Text 27"/>
          <p:cNvSpPr/>
          <p:nvPr/>
        </p:nvSpPr>
        <p:spPr>
          <a:xfrm>
            <a:off x="4937760" y="4023360"/>
            <a:ext cx="2788920" cy="365760"/>
          </a:xfrm>
          <a:prstGeom prst="rect">
            <a:avLst/>
          </a:prstGeom>
          <a:noFill/>
          <a:ln/>
        </p:spPr>
        <p:txBody>
          <a:bodyPr wrap="square" lIns="0" tIns="0" rIns="0" bIns="0" rtlCol="0" anchor="ctr"/>
          <a:lstStyle/>
          <a:p>
            <a:pPr indent="0" marL="0">
              <a:buNone/>
            </a:pPr>
            <a:r>
              <a:rPr lang="en-US" sz="1200" dirty="0">
                <a:solidFill>
                  <a:srgbClr val="2A1A3A"/>
                </a:solidFill>
                <a:latin typeface="Calibri" pitchFamily="34" charset="0"/>
                <a:ea typeface="Calibri" pitchFamily="34" charset="-122"/>
                <a:cs typeface="Calibri" pitchFamily="34" charset="-120"/>
              </a:rPr>
              <a:t>Server-side recording quota</a:t>
            </a:r>
            <a:endParaRPr lang="en-US" sz="1200" dirty="0"/>
          </a:p>
        </p:txBody>
      </p:sp>
      <p:sp>
        <p:nvSpPr>
          <p:cNvPr id="30" name="Text 28"/>
          <p:cNvSpPr/>
          <p:nvPr/>
        </p:nvSpPr>
        <p:spPr>
          <a:xfrm>
            <a:off x="4526280" y="4526280"/>
            <a:ext cx="457200" cy="365760"/>
          </a:xfrm>
          <a:prstGeom prst="rect">
            <a:avLst/>
          </a:prstGeom>
          <a:noFill/>
          <a:ln/>
        </p:spPr>
        <p:txBody>
          <a:bodyPr wrap="square" lIns="0" tIns="0" rIns="0" bIns="0" rtlCol="0" anchor="ctr"/>
          <a:lstStyle/>
          <a:p>
            <a:pPr indent="0" marL="0">
              <a:buNone/>
            </a:pPr>
            <a:r>
              <a:rPr lang="en-US" sz="1300" b="1" dirty="0">
                <a:solidFill>
                  <a:srgbClr val="8163A3"/>
                </a:solidFill>
                <a:latin typeface="Calibri" pitchFamily="34" charset="0"/>
                <a:ea typeface="Calibri" pitchFamily="34" charset="-122"/>
                <a:cs typeface="Calibri" pitchFamily="34" charset="-120"/>
              </a:rPr>
              <a:t>5.</a:t>
            </a:r>
            <a:endParaRPr lang="en-US" sz="1300" dirty="0"/>
          </a:p>
        </p:txBody>
      </p:sp>
      <p:sp>
        <p:nvSpPr>
          <p:cNvPr id="31" name="Text 29"/>
          <p:cNvSpPr/>
          <p:nvPr/>
        </p:nvSpPr>
        <p:spPr>
          <a:xfrm>
            <a:off x="4937760" y="4526280"/>
            <a:ext cx="2788920" cy="365760"/>
          </a:xfrm>
          <a:prstGeom prst="rect">
            <a:avLst/>
          </a:prstGeom>
          <a:noFill/>
          <a:ln/>
        </p:spPr>
        <p:txBody>
          <a:bodyPr wrap="square" lIns="0" tIns="0" rIns="0" bIns="0" rtlCol="0" anchor="ctr"/>
          <a:lstStyle/>
          <a:p>
            <a:pPr indent="0" marL="0">
              <a:buNone/>
            </a:pPr>
            <a:r>
              <a:rPr lang="en-US" sz="1200" dirty="0">
                <a:solidFill>
                  <a:srgbClr val="2A1A3A"/>
                </a:solidFill>
                <a:latin typeface="Calibri" pitchFamily="34" charset="0"/>
                <a:ea typeface="Calibri" pitchFamily="34" charset="-122"/>
                <a:cs typeface="Calibri" pitchFamily="34" charset="-120"/>
              </a:rPr>
              <a:t>AI quota monthly reset job</a:t>
            </a:r>
            <a:endParaRPr lang="en-US" sz="1200" dirty="0"/>
          </a:p>
        </p:txBody>
      </p:sp>
      <p:sp>
        <p:nvSpPr>
          <p:cNvPr id="32" name="Text 30"/>
          <p:cNvSpPr/>
          <p:nvPr/>
        </p:nvSpPr>
        <p:spPr>
          <a:xfrm>
            <a:off x="4526280" y="5029200"/>
            <a:ext cx="457200" cy="365760"/>
          </a:xfrm>
          <a:prstGeom prst="rect">
            <a:avLst/>
          </a:prstGeom>
          <a:noFill/>
          <a:ln/>
        </p:spPr>
        <p:txBody>
          <a:bodyPr wrap="square" lIns="0" tIns="0" rIns="0" bIns="0" rtlCol="0" anchor="ctr"/>
          <a:lstStyle/>
          <a:p>
            <a:pPr indent="0" marL="0">
              <a:buNone/>
            </a:pPr>
            <a:r>
              <a:rPr lang="en-US" sz="1300" b="1" dirty="0">
                <a:solidFill>
                  <a:srgbClr val="8163A3"/>
                </a:solidFill>
                <a:latin typeface="Calibri" pitchFamily="34" charset="0"/>
                <a:ea typeface="Calibri" pitchFamily="34" charset="-122"/>
                <a:cs typeface="Calibri" pitchFamily="34" charset="-120"/>
              </a:rPr>
              <a:t>6.</a:t>
            </a:r>
            <a:endParaRPr lang="en-US" sz="1300" dirty="0"/>
          </a:p>
        </p:txBody>
      </p:sp>
      <p:sp>
        <p:nvSpPr>
          <p:cNvPr id="33" name="Text 31"/>
          <p:cNvSpPr/>
          <p:nvPr/>
        </p:nvSpPr>
        <p:spPr>
          <a:xfrm>
            <a:off x="4937760" y="5029200"/>
            <a:ext cx="2788920" cy="365760"/>
          </a:xfrm>
          <a:prstGeom prst="rect">
            <a:avLst/>
          </a:prstGeom>
          <a:noFill/>
          <a:ln/>
        </p:spPr>
        <p:txBody>
          <a:bodyPr wrap="square" lIns="0" tIns="0" rIns="0" bIns="0" rtlCol="0" anchor="ctr"/>
          <a:lstStyle/>
          <a:p>
            <a:pPr indent="0" marL="0">
              <a:buNone/>
            </a:pPr>
            <a:r>
              <a:rPr lang="en-US" sz="1200" dirty="0">
                <a:solidFill>
                  <a:srgbClr val="2A1A3A"/>
                </a:solidFill>
                <a:latin typeface="Calibri" pitchFamily="34" charset="0"/>
                <a:ea typeface="Calibri" pitchFamily="34" charset="-122"/>
                <a:cs typeface="Calibri" pitchFamily="34" charset="-120"/>
              </a:rPr>
              <a:t>Public App Store + Play launch</a:t>
            </a:r>
            <a:endParaRPr lang="en-US" sz="1200" dirty="0"/>
          </a:p>
        </p:txBody>
      </p:sp>
      <p:sp>
        <p:nvSpPr>
          <p:cNvPr id="34" name="Shape 32"/>
          <p:cNvSpPr/>
          <p:nvPr/>
        </p:nvSpPr>
        <p:spPr>
          <a:xfrm>
            <a:off x="8183880" y="1691640"/>
            <a:ext cx="3657600" cy="640080"/>
          </a:xfrm>
          <a:prstGeom prst="rect">
            <a:avLst/>
          </a:prstGeom>
          <a:solidFill>
            <a:srgbClr val="4A2070"/>
          </a:solidFill>
          <a:ln/>
        </p:spPr>
      </p:sp>
      <p:sp>
        <p:nvSpPr>
          <p:cNvPr id="35" name="Text 33"/>
          <p:cNvSpPr/>
          <p:nvPr/>
        </p:nvSpPr>
        <p:spPr>
          <a:xfrm>
            <a:off x="8366760" y="1691640"/>
            <a:ext cx="3291840" cy="640080"/>
          </a:xfrm>
          <a:prstGeom prst="rect">
            <a:avLst/>
          </a:prstGeom>
          <a:noFill/>
          <a:ln/>
        </p:spPr>
        <p:txBody>
          <a:bodyPr wrap="square" lIns="0" tIns="0" rIns="0" bIns="0" rtlCol="0" anchor="ctr"/>
          <a:lstStyle/>
          <a:p>
            <a:pPr indent="0" marL="0">
              <a:buNone/>
            </a:pPr>
            <a:r>
              <a:rPr lang="en-US" sz="1400" b="1" spc="400" kern="0" dirty="0">
                <a:solidFill>
                  <a:srgbClr val="FFFFFF"/>
                </a:solidFill>
                <a:latin typeface="Calibri" pitchFamily="34" charset="0"/>
                <a:ea typeface="Calibri" pitchFamily="34" charset="-122"/>
                <a:cs typeface="Calibri" pitchFamily="34" charset="-120"/>
              </a:rPr>
              <a:t>LONG · 3-9 months</a:t>
            </a:r>
            <a:endParaRPr lang="en-US" sz="1400" dirty="0"/>
          </a:p>
        </p:txBody>
      </p:sp>
      <p:sp>
        <p:nvSpPr>
          <p:cNvPr id="36" name="Shape 34"/>
          <p:cNvSpPr/>
          <p:nvPr/>
        </p:nvSpPr>
        <p:spPr>
          <a:xfrm>
            <a:off x="8183880" y="2331720"/>
            <a:ext cx="3657600" cy="3931920"/>
          </a:xfrm>
          <a:prstGeom prst="rect">
            <a:avLst/>
          </a:prstGeom>
          <a:solidFill>
            <a:srgbClr val="FFFFFF"/>
          </a:solidFill>
          <a:ln w="12700">
            <a:solidFill>
              <a:srgbClr val="BDA2DA"/>
            </a:solidFill>
            <a:prstDash val="solid"/>
          </a:ln>
        </p:spPr>
      </p:sp>
      <p:sp>
        <p:nvSpPr>
          <p:cNvPr id="37" name="Text 35"/>
          <p:cNvSpPr/>
          <p:nvPr/>
        </p:nvSpPr>
        <p:spPr>
          <a:xfrm>
            <a:off x="8458200" y="2514600"/>
            <a:ext cx="457200" cy="365760"/>
          </a:xfrm>
          <a:prstGeom prst="rect">
            <a:avLst/>
          </a:prstGeom>
          <a:noFill/>
          <a:ln/>
        </p:spPr>
        <p:txBody>
          <a:bodyPr wrap="square" lIns="0" tIns="0" rIns="0" bIns="0" rtlCol="0" anchor="ctr"/>
          <a:lstStyle/>
          <a:p>
            <a:pPr indent="0" marL="0">
              <a:buNone/>
            </a:pPr>
            <a:r>
              <a:rPr lang="en-US" sz="1300" b="1" dirty="0">
                <a:solidFill>
                  <a:srgbClr val="8163A3"/>
                </a:solidFill>
                <a:latin typeface="Calibri" pitchFamily="34" charset="0"/>
                <a:ea typeface="Calibri" pitchFamily="34" charset="-122"/>
                <a:cs typeface="Calibri" pitchFamily="34" charset="-120"/>
              </a:rPr>
              <a:t>1.</a:t>
            </a:r>
            <a:endParaRPr lang="en-US" sz="1300" dirty="0"/>
          </a:p>
        </p:txBody>
      </p:sp>
      <p:sp>
        <p:nvSpPr>
          <p:cNvPr id="38" name="Text 36"/>
          <p:cNvSpPr/>
          <p:nvPr/>
        </p:nvSpPr>
        <p:spPr>
          <a:xfrm>
            <a:off x="8869680" y="2514600"/>
            <a:ext cx="2788920" cy="365760"/>
          </a:xfrm>
          <a:prstGeom prst="rect">
            <a:avLst/>
          </a:prstGeom>
          <a:noFill/>
          <a:ln/>
        </p:spPr>
        <p:txBody>
          <a:bodyPr wrap="square" lIns="0" tIns="0" rIns="0" bIns="0" rtlCol="0" anchor="ctr"/>
          <a:lstStyle/>
          <a:p>
            <a:pPr indent="0" marL="0">
              <a:buNone/>
            </a:pPr>
            <a:r>
              <a:rPr lang="en-US" sz="1200" dirty="0">
                <a:solidFill>
                  <a:srgbClr val="2A1A3A"/>
                </a:solidFill>
                <a:latin typeface="Calibri" pitchFamily="34" charset="0"/>
                <a:ea typeface="Calibri" pitchFamily="34" charset="-122"/>
                <a:cs typeface="Calibri" pitchFamily="34" charset="-120"/>
              </a:rPr>
              <a:t>Team / workspace tier</a:t>
            </a:r>
            <a:endParaRPr lang="en-US" sz="1200" dirty="0"/>
          </a:p>
        </p:txBody>
      </p:sp>
      <p:sp>
        <p:nvSpPr>
          <p:cNvPr id="39" name="Text 37"/>
          <p:cNvSpPr/>
          <p:nvPr/>
        </p:nvSpPr>
        <p:spPr>
          <a:xfrm>
            <a:off x="8458200" y="3017520"/>
            <a:ext cx="457200" cy="365760"/>
          </a:xfrm>
          <a:prstGeom prst="rect">
            <a:avLst/>
          </a:prstGeom>
          <a:noFill/>
          <a:ln/>
        </p:spPr>
        <p:txBody>
          <a:bodyPr wrap="square" lIns="0" tIns="0" rIns="0" bIns="0" rtlCol="0" anchor="ctr"/>
          <a:lstStyle/>
          <a:p>
            <a:pPr indent="0" marL="0">
              <a:buNone/>
            </a:pPr>
            <a:r>
              <a:rPr lang="en-US" sz="1300" b="1" dirty="0">
                <a:solidFill>
                  <a:srgbClr val="8163A3"/>
                </a:solidFill>
                <a:latin typeface="Calibri" pitchFamily="34" charset="0"/>
                <a:ea typeface="Calibri" pitchFamily="34" charset="-122"/>
                <a:cs typeface="Calibri" pitchFamily="34" charset="-120"/>
              </a:rPr>
              <a:t>2.</a:t>
            </a:r>
            <a:endParaRPr lang="en-US" sz="1300" dirty="0"/>
          </a:p>
        </p:txBody>
      </p:sp>
      <p:sp>
        <p:nvSpPr>
          <p:cNvPr id="40" name="Text 38"/>
          <p:cNvSpPr/>
          <p:nvPr/>
        </p:nvSpPr>
        <p:spPr>
          <a:xfrm>
            <a:off x="8869680" y="3017520"/>
            <a:ext cx="2788920" cy="365760"/>
          </a:xfrm>
          <a:prstGeom prst="rect">
            <a:avLst/>
          </a:prstGeom>
          <a:noFill/>
          <a:ln/>
        </p:spPr>
        <p:txBody>
          <a:bodyPr wrap="square" lIns="0" tIns="0" rIns="0" bIns="0" rtlCol="0" anchor="ctr"/>
          <a:lstStyle/>
          <a:p>
            <a:pPr indent="0" marL="0">
              <a:buNone/>
            </a:pPr>
            <a:r>
              <a:rPr lang="en-US" sz="1200" dirty="0">
                <a:solidFill>
                  <a:srgbClr val="2A1A3A"/>
                </a:solidFill>
                <a:latin typeface="Calibri" pitchFamily="34" charset="0"/>
                <a:ea typeface="Calibri" pitchFamily="34" charset="-122"/>
                <a:cs typeface="Calibri" pitchFamily="34" charset="-120"/>
              </a:rPr>
              <a:t>Calendar integrations</a:t>
            </a:r>
            <a:endParaRPr lang="en-US" sz="1200" dirty="0"/>
          </a:p>
        </p:txBody>
      </p:sp>
      <p:sp>
        <p:nvSpPr>
          <p:cNvPr id="41" name="Text 39"/>
          <p:cNvSpPr/>
          <p:nvPr/>
        </p:nvSpPr>
        <p:spPr>
          <a:xfrm>
            <a:off x="8458200" y="3520440"/>
            <a:ext cx="457200" cy="365760"/>
          </a:xfrm>
          <a:prstGeom prst="rect">
            <a:avLst/>
          </a:prstGeom>
          <a:noFill/>
          <a:ln/>
        </p:spPr>
        <p:txBody>
          <a:bodyPr wrap="square" lIns="0" tIns="0" rIns="0" bIns="0" rtlCol="0" anchor="ctr"/>
          <a:lstStyle/>
          <a:p>
            <a:pPr indent="0" marL="0">
              <a:buNone/>
            </a:pPr>
            <a:r>
              <a:rPr lang="en-US" sz="1300" b="1" dirty="0">
                <a:solidFill>
                  <a:srgbClr val="8163A3"/>
                </a:solidFill>
                <a:latin typeface="Calibri" pitchFamily="34" charset="0"/>
                <a:ea typeface="Calibri" pitchFamily="34" charset="-122"/>
                <a:cs typeface="Calibri" pitchFamily="34" charset="-120"/>
              </a:rPr>
              <a:t>3.</a:t>
            </a:r>
            <a:endParaRPr lang="en-US" sz="1300" dirty="0"/>
          </a:p>
        </p:txBody>
      </p:sp>
      <p:sp>
        <p:nvSpPr>
          <p:cNvPr id="42" name="Text 40"/>
          <p:cNvSpPr/>
          <p:nvPr/>
        </p:nvSpPr>
        <p:spPr>
          <a:xfrm>
            <a:off x="8869680" y="3520440"/>
            <a:ext cx="2788920" cy="365760"/>
          </a:xfrm>
          <a:prstGeom prst="rect">
            <a:avLst/>
          </a:prstGeom>
          <a:noFill/>
          <a:ln/>
        </p:spPr>
        <p:txBody>
          <a:bodyPr wrap="square" lIns="0" tIns="0" rIns="0" bIns="0" rtlCol="0" anchor="ctr"/>
          <a:lstStyle/>
          <a:p>
            <a:pPr indent="0" marL="0">
              <a:buNone/>
            </a:pPr>
            <a:r>
              <a:rPr lang="en-US" sz="1200" dirty="0">
                <a:solidFill>
                  <a:srgbClr val="2A1A3A"/>
                </a:solidFill>
                <a:latin typeface="Calibri" pitchFamily="34" charset="0"/>
                <a:ea typeface="Calibri" pitchFamily="34" charset="-122"/>
                <a:cs typeface="Calibri" pitchFamily="34" charset="-120"/>
              </a:rPr>
              <a:t>Live closed captions</a:t>
            </a:r>
            <a:endParaRPr lang="en-US" sz="1200" dirty="0"/>
          </a:p>
        </p:txBody>
      </p:sp>
      <p:sp>
        <p:nvSpPr>
          <p:cNvPr id="43" name="Text 41"/>
          <p:cNvSpPr/>
          <p:nvPr/>
        </p:nvSpPr>
        <p:spPr>
          <a:xfrm>
            <a:off x="8458200" y="4023360"/>
            <a:ext cx="457200" cy="365760"/>
          </a:xfrm>
          <a:prstGeom prst="rect">
            <a:avLst/>
          </a:prstGeom>
          <a:noFill/>
          <a:ln/>
        </p:spPr>
        <p:txBody>
          <a:bodyPr wrap="square" lIns="0" tIns="0" rIns="0" bIns="0" rtlCol="0" anchor="ctr"/>
          <a:lstStyle/>
          <a:p>
            <a:pPr indent="0" marL="0">
              <a:buNone/>
            </a:pPr>
            <a:r>
              <a:rPr lang="en-US" sz="1300" b="1" dirty="0">
                <a:solidFill>
                  <a:srgbClr val="8163A3"/>
                </a:solidFill>
                <a:latin typeface="Calibri" pitchFamily="34" charset="0"/>
                <a:ea typeface="Calibri" pitchFamily="34" charset="-122"/>
                <a:cs typeface="Calibri" pitchFamily="34" charset="-120"/>
              </a:rPr>
              <a:t>4.</a:t>
            </a:r>
            <a:endParaRPr lang="en-US" sz="1300" dirty="0"/>
          </a:p>
        </p:txBody>
      </p:sp>
      <p:sp>
        <p:nvSpPr>
          <p:cNvPr id="44" name="Text 42"/>
          <p:cNvSpPr/>
          <p:nvPr/>
        </p:nvSpPr>
        <p:spPr>
          <a:xfrm>
            <a:off x="8869680" y="4023360"/>
            <a:ext cx="2788920" cy="365760"/>
          </a:xfrm>
          <a:prstGeom prst="rect">
            <a:avLst/>
          </a:prstGeom>
          <a:noFill/>
          <a:ln/>
        </p:spPr>
        <p:txBody>
          <a:bodyPr wrap="square" lIns="0" tIns="0" rIns="0" bIns="0" rtlCol="0" anchor="ctr"/>
          <a:lstStyle/>
          <a:p>
            <a:pPr indent="0" marL="0">
              <a:buNone/>
            </a:pPr>
            <a:r>
              <a:rPr lang="en-US" sz="1200" dirty="0">
                <a:solidFill>
                  <a:srgbClr val="2A1A3A"/>
                </a:solidFill>
                <a:latin typeface="Calibri" pitchFamily="34" charset="0"/>
                <a:ea typeface="Calibri" pitchFamily="34" charset="-122"/>
                <a:cs typeface="Calibri" pitchFamily="34" charset="-120"/>
              </a:rPr>
              <a:t>Voice-cloned summaries</a:t>
            </a:r>
            <a:endParaRPr lang="en-US" sz="1200" dirty="0"/>
          </a:p>
        </p:txBody>
      </p:sp>
      <p:sp>
        <p:nvSpPr>
          <p:cNvPr id="45" name="Text 43"/>
          <p:cNvSpPr/>
          <p:nvPr/>
        </p:nvSpPr>
        <p:spPr>
          <a:xfrm>
            <a:off x="8458200" y="4526280"/>
            <a:ext cx="457200" cy="365760"/>
          </a:xfrm>
          <a:prstGeom prst="rect">
            <a:avLst/>
          </a:prstGeom>
          <a:noFill/>
          <a:ln/>
        </p:spPr>
        <p:txBody>
          <a:bodyPr wrap="square" lIns="0" tIns="0" rIns="0" bIns="0" rtlCol="0" anchor="ctr"/>
          <a:lstStyle/>
          <a:p>
            <a:pPr indent="0" marL="0">
              <a:buNone/>
            </a:pPr>
            <a:r>
              <a:rPr lang="en-US" sz="1300" b="1" dirty="0">
                <a:solidFill>
                  <a:srgbClr val="8163A3"/>
                </a:solidFill>
                <a:latin typeface="Calibri" pitchFamily="34" charset="0"/>
                <a:ea typeface="Calibri" pitchFamily="34" charset="-122"/>
                <a:cs typeface="Calibri" pitchFamily="34" charset="-120"/>
              </a:rPr>
              <a:t>5.</a:t>
            </a:r>
            <a:endParaRPr lang="en-US" sz="1300" dirty="0"/>
          </a:p>
        </p:txBody>
      </p:sp>
      <p:sp>
        <p:nvSpPr>
          <p:cNvPr id="46" name="Text 44"/>
          <p:cNvSpPr/>
          <p:nvPr/>
        </p:nvSpPr>
        <p:spPr>
          <a:xfrm>
            <a:off x="8869680" y="4526280"/>
            <a:ext cx="2788920" cy="365760"/>
          </a:xfrm>
          <a:prstGeom prst="rect">
            <a:avLst/>
          </a:prstGeom>
          <a:noFill/>
          <a:ln/>
        </p:spPr>
        <p:txBody>
          <a:bodyPr wrap="square" lIns="0" tIns="0" rIns="0" bIns="0" rtlCol="0" anchor="ctr"/>
          <a:lstStyle/>
          <a:p>
            <a:pPr indent="0" marL="0">
              <a:buNone/>
            </a:pPr>
            <a:r>
              <a:rPr lang="en-US" sz="1200" dirty="0">
                <a:solidFill>
                  <a:srgbClr val="2A1A3A"/>
                </a:solidFill>
                <a:latin typeface="Calibri" pitchFamily="34" charset="0"/>
                <a:ea typeface="Calibri" pitchFamily="34" charset="-122"/>
                <a:cs typeface="Calibri" pitchFamily="34" charset="-120"/>
              </a:rPr>
              <a:t>Speaker diarisation tuning</a:t>
            </a:r>
            <a:endParaRPr lang="en-US" sz="1200" dirty="0"/>
          </a:p>
        </p:txBody>
      </p:sp>
      <p:sp>
        <p:nvSpPr>
          <p:cNvPr id="47" name="Text 45"/>
          <p:cNvSpPr/>
          <p:nvPr/>
        </p:nvSpPr>
        <p:spPr>
          <a:xfrm>
            <a:off x="8458200" y="5029200"/>
            <a:ext cx="457200" cy="365760"/>
          </a:xfrm>
          <a:prstGeom prst="rect">
            <a:avLst/>
          </a:prstGeom>
          <a:noFill/>
          <a:ln/>
        </p:spPr>
        <p:txBody>
          <a:bodyPr wrap="square" lIns="0" tIns="0" rIns="0" bIns="0" rtlCol="0" anchor="ctr"/>
          <a:lstStyle/>
          <a:p>
            <a:pPr indent="0" marL="0">
              <a:buNone/>
            </a:pPr>
            <a:r>
              <a:rPr lang="en-US" sz="1300" b="1" dirty="0">
                <a:solidFill>
                  <a:srgbClr val="8163A3"/>
                </a:solidFill>
                <a:latin typeface="Calibri" pitchFamily="34" charset="0"/>
                <a:ea typeface="Calibri" pitchFamily="34" charset="-122"/>
                <a:cs typeface="Calibri" pitchFamily="34" charset="-120"/>
              </a:rPr>
              <a:t>6.</a:t>
            </a:r>
            <a:endParaRPr lang="en-US" sz="1300" dirty="0"/>
          </a:p>
        </p:txBody>
      </p:sp>
      <p:sp>
        <p:nvSpPr>
          <p:cNvPr id="48" name="Text 46"/>
          <p:cNvSpPr/>
          <p:nvPr/>
        </p:nvSpPr>
        <p:spPr>
          <a:xfrm>
            <a:off x="8869680" y="5029200"/>
            <a:ext cx="2788920" cy="365760"/>
          </a:xfrm>
          <a:prstGeom prst="rect">
            <a:avLst/>
          </a:prstGeom>
          <a:noFill/>
          <a:ln/>
        </p:spPr>
        <p:txBody>
          <a:bodyPr wrap="square" lIns="0" tIns="0" rIns="0" bIns="0" rtlCol="0" anchor="ctr"/>
          <a:lstStyle/>
          <a:p>
            <a:pPr indent="0" marL="0">
              <a:buNone/>
            </a:pPr>
            <a:r>
              <a:rPr lang="en-US" sz="1200" dirty="0">
                <a:solidFill>
                  <a:srgbClr val="2A1A3A"/>
                </a:solidFill>
                <a:latin typeface="Calibri" pitchFamily="34" charset="0"/>
                <a:ea typeface="Calibri" pitchFamily="34" charset="-122"/>
                <a:cs typeface="Calibri" pitchFamily="34" charset="-120"/>
              </a:rPr>
              <a:t>Notion / Slack export</a:t>
            </a:r>
            <a:endParaRPr lang="en-US" sz="1200" dirty="0"/>
          </a:p>
        </p:txBody>
      </p:sp>
      <p:sp>
        <p:nvSpPr>
          <p:cNvPr id="49" name="Text 47"/>
          <p:cNvSpPr/>
          <p:nvPr/>
        </p:nvSpPr>
        <p:spPr>
          <a:xfrm>
            <a:off x="365760" y="6492240"/>
            <a:ext cx="1828800" cy="274320"/>
          </a:xfrm>
          <a:prstGeom prst="rect">
            <a:avLst/>
          </a:prstGeom>
          <a:noFill/>
          <a:ln/>
        </p:spPr>
        <p:txBody>
          <a:bodyPr wrap="square" rtlCol="0" anchor="ctr"/>
          <a:lstStyle/>
          <a:p>
            <a:pPr indent="0" marL="0">
              <a:buNone/>
            </a:pPr>
            <a:r>
              <a:rPr lang="en-US" sz="1000" b="1" dirty="0">
                <a:solidFill>
                  <a:srgbClr val="666666"/>
                </a:solidFill>
                <a:latin typeface="Calibri" pitchFamily="34" charset="0"/>
                <a:ea typeface="Calibri" pitchFamily="34" charset="-122"/>
                <a:cs typeface="Calibri" pitchFamily="34" charset="-120"/>
              </a:rPr>
              <a:t>Sheen AI</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64240" cy="320040"/>
          </a:xfrm>
          <a:prstGeom prst="rect">
            <a:avLst/>
          </a:prstGeom>
          <a:noFill/>
          <a:ln/>
        </p:spPr>
        <p:txBody>
          <a:bodyPr wrap="square" rtlCol="0" anchor="ctr"/>
          <a:lstStyle/>
          <a:p>
            <a:pPr indent="0" marL="0">
              <a:buNone/>
            </a:pPr>
            <a:r>
              <a:rPr lang="en-US" sz="1300" b="1" spc="400" kern="0" dirty="0">
                <a:solidFill>
                  <a:srgbClr val="8163A3"/>
                </a:solidFill>
                <a:latin typeface="Calibri" pitchFamily="34" charset="0"/>
                <a:ea typeface="Calibri" pitchFamily="34" charset="-122"/>
                <a:cs typeface="Calibri" pitchFamily="34" charset="-120"/>
              </a:rPr>
              <a:t>RISK</a:t>
            </a:r>
            <a:endParaRPr lang="en-US" sz="1300" dirty="0"/>
          </a:p>
        </p:txBody>
      </p:sp>
      <p:sp>
        <p:nvSpPr>
          <p:cNvPr id="3" name="Text 1"/>
          <p:cNvSpPr/>
          <p:nvPr/>
        </p:nvSpPr>
        <p:spPr>
          <a:xfrm>
            <a:off x="548640" y="868680"/>
            <a:ext cx="11064240" cy="777240"/>
          </a:xfrm>
          <a:prstGeom prst="rect">
            <a:avLst/>
          </a:prstGeom>
          <a:noFill/>
          <a:ln/>
        </p:spPr>
        <p:txBody>
          <a:bodyPr wrap="square" lIns="0" tIns="0" rIns="0" bIns="0" rtlCol="0" anchor="ctr"/>
          <a:lstStyle/>
          <a:p>
            <a:pPr indent="0" marL="0">
              <a:buNone/>
            </a:pPr>
            <a:r>
              <a:rPr lang="en-US" sz="3200" b="1" dirty="0">
                <a:solidFill>
                  <a:srgbClr val="4A2070"/>
                </a:solidFill>
                <a:latin typeface="Calibri" pitchFamily="34" charset="0"/>
                <a:ea typeface="Calibri" pitchFamily="34" charset="-122"/>
                <a:cs typeface="Calibri" pitchFamily="34" charset="-120"/>
              </a:rPr>
              <a:t>Top Risks · How We Mitigate</a:t>
            </a:r>
            <a:endParaRPr lang="en-US" sz="3200" dirty="0"/>
          </a:p>
        </p:txBody>
      </p:sp>
      <p:sp>
        <p:nvSpPr>
          <p:cNvPr id="4" name="Shape 2"/>
          <p:cNvSpPr/>
          <p:nvPr/>
        </p:nvSpPr>
        <p:spPr>
          <a:xfrm>
            <a:off x="548640" y="1737360"/>
            <a:ext cx="3840480" cy="777240"/>
          </a:xfrm>
          <a:prstGeom prst="rect">
            <a:avLst/>
          </a:prstGeom>
          <a:solidFill>
            <a:srgbClr val="4A2070"/>
          </a:solidFill>
          <a:ln/>
        </p:spPr>
      </p:sp>
      <p:sp>
        <p:nvSpPr>
          <p:cNvPr id="5" name="Text 3"/>
          <p:cNvSpPr/>
          <p:nvPr/>
        </p:nvSpPr>
        <p:spPr>
          <a:xfrm>
            <a:off x="822960" y="1737360"/>
            <a:ext cx="3566160" cy="7772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Vendor pricing changes</a:t>
            </a:r>
            <a:endParaRPr lang="en-US" sz="1400" dirty="0"/>
          </a:p>
        </p:txBody>
      </p:sp>
      <p:sp>
        <p:nvSpPr>
          <p:cNvPr id="6" name="Shape 4"/>
          <p:cNvSpPr/>
          <p:nvPr/>
        </p:nvSpPr>
        <p:spPr>
          <a:xfrm>
            <a:off x="4389120" y="1737360"/>
            <a:ext cx="7223760" cy="777240"/>
          </a:xfrm>
          <a:prstGeom prst="rect">
            <a:avLst/>
          </a:prstGeom>
          <a:solidFill>
            <a:srgbClr val="E6DFED"/>
          </a:solidFill>
          <a:ln w="12700">
            <a:solidFill>
              <a:srgbClr val="BDA2DA"/>
            </a:solidFill>
            <a:prstDash val="solid"/>
          </a:ln>
        </p:spPr>
      </p:sp>
      <p:sp>
        <p:nvSpPr>
          <p:cNvPr id="7" name="Text 5"/>
          <p:cNvSpPr/>
          <p:nvPr/>
        </p:nvSpPr>
        <p:spPr>
          <a:xfrm>
            <a:off x="4663440" y="1737360"/>
            <a:ext cx="6858000" cy="777240"/>
          </a:xfrm>
          <a:prstGeom prst="rect">
            <a:avLst/>
          </a:prstGeom>
          <a:noFill/>
          <a:ln/>
        </p:spPr>
        <p:txBody>
          <a:bodyPr wrap="square" lIns="0" tIns="0" rIns="0" bIns="0" rtlCol="0" anchor="ctr"/>
          <a:lstStyle/>
          <a:p>
            <a:pPr indent="0" marL="0">
              <a:buNone/>
            </a:pPr>
            <a:r>
              <a:rPr lang="en-US" sz="1200" dirty="0">
                <a:solidFill>
                  <a:srgbClr val="2A1A3A"/>
                </a:solidFill>
                <a:latin typeface="Calibri" pitchFamily="34" charset="0"/>
                <a:ea typeface="Calibri" pitchFamily="34" charset="-122"/>
                <a:cs typeface="Calibri" pitchFamily="34" charset="-120"/>
              </a:rPr>
              <a:t>~70% gross margin baked in. Multi-vendor abstraction on roadmap; aiChat function is already model-agnostic via autoRoute parameter.</a:t>
            </a:r>
            <a:endParaRPr lang="en-US" sz="1200" dirty="0"/>
          </a:p>
        </p:txBody>
      </p:sp>
      <p:sp>
        <p:nvSpPr>
          <p:cNvPr id="8" name="Shape 6"/>
          <p:cNvSpPr/>
          <p:nvPr/>
        </p:nvSpPr>
        <p:spPr>
          <a:xfrm>
            <a:off x="548640" y="2606040"/>
            <a:ext cx="3840480" cy="777240"/>
          </a:xfrm>
          <a:prstGeom prst="rect">
            <a:avLst/>
          </a:prstGeom>
          <a:solidFill>
            <a:srgbClr val="4A2070"/>
          </a:solidFill>
          <a:ln/>
        </p:spPr>
      </p:sp>
      <p:sp>
        <p:nvSpPr>
          <p:cNvPr id="9" name="Text 7"/>
          <p:cNvSpPr/>
          <p:nvPr/>
        </p:nvSpPr>
        <p:spPr>
          <a:xfrm>
            <a:off x="822960" y="2606040"/>
            <a:ext cx="3566160" cy="7772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Conversion below 5%</a:t>
            </a:r>
            <a:endParaRPr lang="en-US" sz="1400" dirty="0"/>
          </a:p>
        </p:txBody>
      </p:sp>
      <p:sp>
        <p:nvSpPr>
          <p:cNvPr id="10" name="Shape 8"/>
          <p:cNvSpPr/>
          <p:nvPr/>
        </p:nvSpPr>
        <p:spPr>
          <a:xfrm>
            <a:off x="4389120" y="2606040"/>
            <a:ext cx="7223760" cy="777240"/>
          </a:xfrm>
          <a:prstGeom prst="rect">
            <a:avLst/>
          </a:prstGeom>
          <a:solidFill>
            <a:srgbClr val="E6DFED"/>
          </a:solidFill>
          <a:ln w="12700">
            <a:solidFill>
              <a:srgbClr val="BDA2DA"/>
            </a:solidFill>
            <a:prstDash val="solid"/>
          </a:ln>
        </p:spPr>
      </p:sp>
      <p:sp>
        <p:nvSpPr>
          <p:cNvPr id="11" name="Text 9"/>
          <p:cNvSpPr/>
          <p:nvPr/>
        </p:nvSpPr>
        <p:spPr>
          <a:xfrm>
            <a:off x="4663440" y="2606040"/>
            <a:ext cx="6858000" cy="777240"/>
          </a:xfrm>
          <a:prstGeom prst="rect">
            <a:avLst/>
          </a:prstGeom>
          <a:noFill/>
          <a:ln/>
        </p:spPr>
        <p:txBody>
          <a:bodyPr wrap="square" lIns="0" tIns="0" rIns="0" bIns="0" rtlCol="0" anchor="ctr"/>
          <a:lstStyle/>
          <a:p>
            <a:pPr indent="0" marL="0">
              <a:buNone/>
            </a:pPr>
            <a:r>
              <a:rPr lang="en-US" sz="1200" dirty="0">
                <a:solidFill>
                  <a:srgbClr val="2A1A3A"/>
                </a:solidFill>
                <a:latin typeface="Calibri" pitchFamily="34" charset="0"/>
                <a:ea typeface="Calibri" pitchFamily="34" charset="-122"/>
                <a:cs typeface="Calibri" pitchFamily="34" charset="-120"/>
              </a:rPr>
              <a:t>Model still profitable at 5% paid. Below 5% we shift marketing budget into onboarding optimisation (free trial of paid tier, in-app upsell).</a:t>
            </a:r>
            <a:endParaRPr lang="en-US" sz="1200" dirty="0"/>
          </a:p>
        </p:txBody>
      </p:sp>
      <p:sp>
        <p:nvSpPr>
          <p:cNvPr id="12" name="Shape 10"/>
          <p:cNvSpPr/>
          <p:nvPr/>
        </p:nvSpPr>
        <p:spPr>
          <a:xfrm>
            <a:off x="548640" y="3474720"/>
            <a:ext cx="3840480" cy="777240"/>
          </a:xfrm>
          <a:prstGeom prst="rect">
            <a:avLst/>
          </a:prstGeom>
          <a:solidFill>
            <a:srgbClr val="4A2070"/>
          </a:solidFill>
          <a:ln/>
        </p:spPr>
      </p:sp>
      <p:sp>
        <p:nvSpPr>
          <p:cNvPr id="13" name="Text 11"/>
          <p:cNvSpPr/>
          <p:nvPr/>
        </p:nvSpPr>
        <p:spPr>
          <a:xfrm>
            <a:off x="822960" y="3474720"/>
            <a:ext cx="3566160" cy="7772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Power-user cap burn</a:t>
            </a:r>
            <a:endParaRPr lang="en-US" sz="1400" dirty="0"/>
          </a:p>
        </p:txBody>
      </p:sp>
      <p:sp>
        <p:nvSpPr>
          <p:cNvPr id="14" name="Shape 12"/>
          <p:cNvSpPr/>
          <p:nvPr/>
        </p:nvSpPr>
        <p:spPr>
          <a:xfrm>
            <a:off x="4389120" y="3474720"/>
            <a:ext cx="7223760" cy="777240"/>
          </a:xfrm>
          <a:prstGeom prst="rect">
            <a:avLst/>
          </a:prstGeom>
          <a:solidFill>
            <a:srgbClr val="E6DFED"/>
          </a:solidFill>
          <a:ln w="12700">
            <a:solidFill>
              <a:srgbClr val="BDA2DA"/>
            </a:solidFill>
            <a:prstDash val="solid"/>
          </a:ln>
        </p:spPr>
      </p:sp>
      <p:sp>
        <p:nvSpPr>
          <p:cNvPr id="15" name="Text 13"/>
          <p:cNvSpPr/>
          <p:nvPr/>
        </p:nvSpPr>
        <p:spPr>
          <a:xfrm>
            <a:off x="4663440" y="3474720"/>
            <a:ext cx="6858000" cy="777240"/>
          </a:xfrm>
          <a:prstGeom prst="rect">
            <a:avLst/>
          </a:prstGeom>
          <a:noFill/>
          <a:ln/>
        </p:spPr>
        <p:txBody>
          <a:bodyPr wrap="square" lIns="0" tIns="0" rIns="0" bIns="0" rtlCol="0" anchor="ctr"/>
          <a:lstStyle/>
          <a:p>
            <a:pPr indent="0" marL="0">
              <a:buNone/>
            </a:pPr>
            <a:r>
              <a:rPr lang="en-US" sz="1200" dirty="0">
                <a:solidFill>
                  <a:srgbClr val="2A1A3A"/>
                </a:solidFill>
                <a:latin typeface="Calibri" pitchFamily="34" charset="0"/>
                <a:ea typeface="Calibri" pitchFamily="34" charset="-122"/>
                <a:cs typeface="Calibri" pitchFamily="34" charset="-120"/>
              </a:rPr>
              <a:t>Hard rate limits on Cloud Run + Cloud Functions. Soft fair-use cap kicks in past 90 hrs/mo. Monthly tracking — re-price Pro if heavy share grows.</a:t>
            </a:r>
            <a:endParaRPr lang="en-US" sz="1200" dirty="0"/>
          </a:p>
        </p:txBody>
      </p:sp>
      <p:sp>
        <p:nvSpPr>
          <p:cNvPr id="16" name="Shape 14"/>
          <p:cNvSpPr/>
          <p:nvPr/>
        </p:nvSpPr>
        <p:spPr>
          <a:xfrm>
            <a:off x="548640" y="4343400"/>
            <a:ext cx="3840480" cy="777240"/>
          </a:xfrm>
          <a:prstGeom prst="rect">
            <a:avLst/>
          </a:prstGeom>
          <a:solidFill>
            <a:srgbClr val="4A2070"/>
          </a:solidFill>
          <a:ln/>
        </p:spPr>
      </p:sp>
      <p:sp>
        <p:nvSpPr>
          <p:cNvPr id="17" name="Text 15"/>
          <p:cNvSpPr/>
          <p:nvPr/>
        </p:nvSpPr>
        <p:spPr>
          <a:xfrm>
            <a:off x="822960" y="4343400"/>
            <a:ext cx="3566160" cy="7772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Server-side quota enforcement</a:t>
            </a:r>
            <a:endParaRPr lang="en-US" sz="1400" dirty="0"/>
          </a:p>
        </p:txBody>
      </p:sp>
      <p:sp>
        <p:nvSpPr>
          <p:cNvPr id="18" name="Shape 16"/>
          <p:cNvSpPr/>
          <p:nvPr/>
        </p:nvSpPr>
        <p:spPr>
          <a:xfrm>
            <a:off x="4389120" y="4343400"/>
            <a:ext cx="7223760" cy="777240"/>
          </a:xfrm>
          <a:prstGeom prst="rect">
            <a:avLst/>
          </a:prstGeom>
          <a:solidFill>
            <a:srgbClr val="E6DFED"/>
          </a:solidFill>
          <a:ln w="12700">
            <a:solidFill>
              <a:srgbClr val="BDA2DA"/>
            </a:solidFill>
            <a:prstDash val="solid"/>
          </a:ln>
        </p:spPr>
      </p:sp>
      <p:sp>
        <p:nvSpPr>
          <p:cNvPr id="19" name="Text 17"/>
          <p:cNvSpPr/>
          <p:nvPr/>
        </p:nvSpPr>
        <p:spPr>
          <a:xfrm>
            <a:off x="4663440" y="4343400"/>
            <a:ext cx="6858000" cy="777240"/>
          </a:xfrm>
          <a:prstGeom prst="rect">
            <a:avLst/>
          </a:prstGeom>
          <a:noFill/>
          <a:ln/>
        </p:spPr>
        <p:txBody>
          <a:bodyPr wrap="square" lIns="0" tIns="0" rIns="0" bIns="0" rtlCol="0" anchor="ctr"/>
          <a:lstStyle/>
          <a:p>
            <a:pPr indent="0" marL="0">
              <a:buNone/>
            </a:pPr>
            <a:r>
              <a:rPr lang="en-US" sz="1200" dirty="0">
                <a:solidFill>
                  <a:srgbClr val="2A1A3A"/>
                </a:solidFill>
                <a:latin typeface="Calibri" pitchFamily="34" charset="0"/>
                <a:ea typeface="Calibri" pitchFamily="34" charset="-122"/>
                <a:cs typeface="Calibri" pitchFamily="34" charset="-120"/>
              </a:rPr>
              <a:t>AI quota already enforced server-side. Recording-minute enforcement scheduled in next sprint via finalizeSession Cloud Function.</a:t>
            </a:r>
            <a:endParaRPr lang="en-US" sz="1200" dirty="0"/>
          </a:p>
        </p:txBody>
      </p:sp>
      <p:sp>
        <p:nvSpPr>
          <p:cNvPr id="20" name="Shape 18"/>
          <p:cNvSpPr/>
          <p:nvPr/>
        </p:nvSpPr>
        <p:spPr>
          <a:xfrm>
            <a:off x="548640" y="5212080"/>
            <a:ext cx="3840480" cy="777240"/>
          </a:xfrm>
          <a:prstGeom prst="rect">
            <a:avLst/>
          </a:prstGeom>
          <a:solidFill>
            <a:srgbClr val="4A2070"/>
          </a:solidFill>
          <a:ln/>
        </p:spPr>
      </p:sp>
      <p:sp>
        <p:nvSpPr>
          <p:cNvPr id="21" name="Text 19"/>
          <p:cNvSpPr/>
          <p:nvPr/>
        </p:nvSpPr>
        <p:spPr>
          <a:xfrm>
            <a:off x="822960" y="5212080"/>
            <a:ext cx="3566160" cy="7772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iOS / Android policy rejections</a:t>
            </a:r>
            <a:endParaRPr lang="en-US" sz="1400" dirty="0"/>
          </a:p>
        </p:txBody>
      </p:sp>
      <p:sp>
        <p:nvSpPr>
          <p:cNvPr id="22" name="Shape 20"/>
          <p:cNvSpPr/>
          <p:nvPr/>
        </p:nvSpPr>
        <p:spPr>
          <a:xfrm>
            <a:off x="4389120" y="5212080"/>
            <a:ext cx="7223760" cy="777240"/>
          </a:xfrm>
          <a:prstGeom prst="rect">
            <a:avLst/>
          </a:prstGeom>
          <a:solidFill>
            <a:srgbClr val="E6DFED"/>
          </a:solidFill>
          <a:ln w="12700">
            <a:solidFill>
              <a:srgbClr val="BDA2DA"/>
            </a:solidFill>
            <a:prstDash val="solid"/>
          </a:ln>
        </p:spPr>
      </p:sp>
      <p:sp>
        <p:nvSpPr>
          <p:cNvPr id="23" name="Text 21"/>
          <p:cNvSpPr/>
          <p:nvPr/>
        </p:nvSpPr>
        <p:spPr>
          <a:xfrm>
            <a:off x="4663440" y="5212080"/>
            <a:ext cx="6858000" cy="777240"/>
          </a:xfrm>
          <a:prstGeom prst="rect">
            <a:avLst/>
          </a:prstGeom>
          <a:noFill/>
          <a:ln/>
        </p:spPr>
        <p:txBody>
          <a:bodyPr wrap="square" lIns="0" tIns="0" rIns="0" bIns="0" rtlCol="0" anchor="ctr"/>
          <a:lstStyle/>
          <a:p>
            <a:pPr indent="0" marL="0">
              <a:buNone/>
            </a:pPr>
            <a:r>
              <a:rPr lang="en-US" sz="1200" dirty="0">
                <a:solidFill>
                  <a:srgbClr val="2A1A3A"/>
                </a:solidFill>
                <a:latin typeface="Calibri" pitchFamily="34" charset="0"/>
                <a:ea typeface="Calibri" pitchFamily="34" charset="-122"/>
                <a:cs typeface="Calibri" pitchFamily="34" charset="-120"/>
              </a:rPr>
              <a:t>NSMicrophoneUsageDescription documented. Privacy Policy + Terms drafted before submission. RevenueCat handles store IAP requirements.</a:t>
            </a:r>
            <a:endParaRPr lang="en-US" sz="1200" dirty="0"/>
          </a:p>
        </p:txBody>
      </p:sp>
      <p:sp>
        <p:nvSpPr>
          <p:cNvPr id="24" name="Text 22"/>
          <p:cNvSpPr/>
          <p:nvPr/>
        </p:nvSpPr>
        <p:spPr>
          <a:xfrm>
            <a:off x="365760" y="6492240"/>
            <a:ext cx="1828800" cy="274320"/>
          </a:xfrm>
          <a:prstGeom prst="rect">
            <a:avLst/>
          </a:prstGeom>
          <a:noFill/>
          <a:ln/>
        </p:spPr>
        <p:txBody>
          <a:bodyPr wrap="square" rtlCol="0" anchor="ctr"/>
          <a:lstStyle/>
          <a:p>
            <a:pPr indent="0" marL="0">
              <a:buNone/>
            </a:pPr>
            <a:r>
              <a:rPr lang="en-US" sz="1000" b="1" dirty="0">
                <a:solidFill>
                  <a:srgbClr val="666666"/>
                </a:solidFill>
                <a:latin typeface="Calibri" pitchFamily="34" charset="0"/>
                <a:ea typeface="Calibri" pitchFamily="34" charset="-122"/>
                <a:cs typeface="Calibri" pitchFamily="34" charset="-120"/>
              </a:rPr>
              <a:t>Sheen AI</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4A2070"/>
        </a:solidFill>
      </p:bgPr>
    </p:bg>
    <p:spTree>
      <p:nvGrpSpPr>
        <p:cNvPr id="1" name=""/>
        <p:cNvGrpSpPr/>
        <p:nvPr/>
      </p:nvGrpSpPr>
      <p:grpSpPr>
        <a:xfrm>
          <a:off x="0" y="0"/>
          <a:ext cx="0" cy="0"/>
          <a:chOff x="0" y="0"/>
          <a:chExt cx="0" cy="0"/>
        </a:xfrm>
      </p:grpSpPr>
      <p:sp>
        <p:nvSpPr>
          <p:cNvPr id="2" name="Shape 0"/>
          <p:cNvSpPr/>
          <p:nvPr/>
        </p:nvSpPr>
        <p:spPr>
          <a:xfrm>
            <a:off x="11996928" y="0"/>
            <a:ext cx="164592" cy="6858000"/>
          </a:xfrm>
          <a:prstGeom prst="rect">
            <a:avLst/>
          </a:prstGeom>
          <a:solidFill>
            <a:srgbClr val="BDA2DA"/>
          </a:solidFill>
          <a:ln/>
        </p:spPr>
      </p:sp>
      <p:sp>
        <p:nvSpPr>
          <p:cNvPr id="3" name="Text 1"/>
          <p:cNvSpPr/>
          <p:nvPr/>
        </p:nvSpPr>
        <p:spPr>
          <a:xfrm>
            <a:off x="548640" y="640080"/>
            <a:ext cx="11064240" cy="457200"/>
          </a:xfrm>
          <a:prstGeom prst="rect">
            <a:avLst/>
          </a:prstGeom>
          <a:noFill/>
          <a:ln/>
        </p:spPr>
        <p:txBody>
          <a:bodyPr wrap="square" lIns="0" tIns="0" rIns="0" bIns="0" rtlCol="0" anchor="ctr"/>
          <a:lstStyle/>
          <a:p>
            <a:pPr algn="ctr" indent="0" marL="0">
              <a:buNone/>
            </a:pPr>
            <a:r>
              <a:rPr lang="en-US" sz="1600" b="1" spc="600" kern="0" dirty="0">
                <a:solidFill>
                  <a:srgbClr val="BDA2DA"/>
                </a:solidFill>
                <a:latin typeface="Calibri" pitchFamily="34" charset="0"/>
                <a:ea typeface="Calibri" pitchFamily="34" charset="-122"/>
                <a:cs typeface="Calibri" pitchFamily="34" charset="-120"/>
              </a:rPr>
              <a:t>THE ASK</a:t>
            </a:r>
            <a:endParaRPr lang="en-US" sz="1600" dirty="0"/>
          </a:p>
        </p:txBody>
      </p:sp>
      <p:sp>
        <p:nvSpPr>
          <p:cNvPr id="4" name="Text 2"/>
          <p:cNvSpPr/>
          <p:nvPr/>
        </p:nvSpPr>
        <p:spPr>
          <a:xfrm>
            <a:off x="548640" y="1097280"/>
            <a:ext cx="11064240" cy="640080"/>
          </a:xfrm>
          <a:prstGeom prst="rect">
            <a:avLst/>
          </a:prstGeom>
          <a:noFill/>
          <a:ln/>
        </p:spPr>
        <p:txBody>
          <a:bodyPr wrap="square" lIns="0" tIns="0" rIns="0" bIns="0"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What We Need to Ship</a:t>
            </a:r>
            <a:endParaRPr lang="en-US" sz="3600" dirty="0"/>
          </a:p>
        </p:txBody>
      </p:sp>
      <p:sp>
        <p:nvSpPr>
          <p:cNvPr id="5" name="Shape 3"/>
          <p:cNvSpPr/>
          <p:nvPr/>
        </p:nvSpPr>
        <p:spPr>
          <a:xfrm>
            <a:off x="1783080" y="2148840"/>
            <a:ext cx="731520" cy="731520"/>
          </a:xfrm>
          <a:prstGeom prst="ellipse">
            <a:avLst/>
          </a:prstGeom>
          <a:solidFill>
            <a:srgbClr val="D4A24C"/>
          </a:solidFill>
          <a:ln/>
        </p:spPr>
      </p:sp>
      <p:sp>
        <p:nvSpPr>
          <p:cNvPr id="6" name="Text 4"/>
          <p:cNvSpPr/>
          <p:nvPr/>
        </p:nvSpPr>
        <p:spPr>
          <a:xfrm>
            <a:off x="1783080" y="2148840"/>
            <a:ext cx="731520"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01</a:t>
            </a:r>
            <a:endParaRPr lang="en-US" sz="1800" dirty="0"/>
          </a:p>
        </p:txBody>
      </p:sp>
      <p:sp>
        <p:nvSpPr>
          <p:cNvPr id="7" name="Text 5"/>
          <p:cNvSpPr/>
          <p:nvPr/>
        </p:nvSpPr>
        <p:spPr>
          <a:xfrm>
            <a:off x="2697480" y="2057400"/>
            <a:ext cx="320040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Apple Developer enrolment</a:t>
            </a:r>
            <a:endParaRPr lang="en-US" sz="1600" dirty="0"/>
          </a:p>
        </p:txBody>
      </p:sp>
      <p:sp>
        <p:nvSpPr>
          <p:cNvPr id="8" name="Text 6"/>
          <p:cNvSpPr/>
          <p:nvPr/>
        </p:nvSpPr>
        <p:spPr>
          <a:xfrm>
            <a:off x="2697480" y="2468880"/>
            <a:ext cx="3200400" cy="548640"/>
          </a:xfrm>
          <a:prstGeom prst="rect">
            <a:avLst/>
          </a:prstGeom>
          <a:noFill/>
          <a:ln/>
        </p:spPr>
        <p:txBody>
          <a:bodyPr wrap="square" lIns="0" tIns="0" rIns="0" bIns="0" rtlCol="0" anchor="ctr"/>
          <a:lstStyle/>
          <a:p>
            <a:pPr indent="0" marL="0">
              <a:buNone/>
            </a:pPr>
            <a:r>
              <a:rPr lang="en-US" sz="1100" dirty="0">
                <a:solidFill>
                  <a:srgbClr val="BDA2DA"/>
                </a:solidFill>
                <a:latin typeface="Calibri" pitchFamily="34" charset="0"/>
                <a:ea typeface="Calibri" pitchFamily="34" charset="-122"/>
                <a:cs typeface="Calibri" pitchFamily="34" charset="-120"/>
              </a:rPr>
              <a:t>$99 per year. Required for TestFlight + App Store. Approval ~24-48 hours.</a:t>
            </a:r>
            <a:endParaRPr lang="en-US" sz="1100" dirty="0"/>
          </a:p>
        </p:txBody>
      </p:sp>
      <p:sp>
        <p:nvSpPr>
          <p:cNvPr id="9" name="Shape 7"/>
          <p:cNvSpPr/>
          <p:nvPr/>
        </p:nvSpPr>
        <p:spPr>
          <a:xfrm>
            <a:off x="6263640" y="2148840"/>
            <a:ext cx="731520" cy="731520"/>
          </a:xfrm>
          <a:prstGeom prst="ellipse">
            <a:avLst/>
          </a:prstGeom>
          <a:solidFill>
            <a:srgbClr val="D4A24C"/>
          </a:solidFill>
          <a:ln/>
        </p:spPr>
      </p:sp>
      <p:sp>
        <p:nvSpPr>
          <p:cNvPr id="10" name="Text 8"/>
          <p:cNvSpPr/>
          <p:nvPr/>
        </p:nvSpPr>
        <p:spPr>
          <a:xfrm>
            <a:off x="6263640" y="2148840"/>
            <a:ext cx="731520"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02</a:t>
            </a:r>
            <a:endParaRPr lang="en-US" sz="1800" dirty="0"/>
          </a:p>
        </p:txBody>
      </p:sp>
      <p:sp>
        <p:nvSpPr>
          <p:cNvPr id="11" name="Text 9"/>
          <p:cNvSpPr/>
          <p:nvPr/>
        </p:nvSpPr>
        <p:spPr>
          <a:xfrm>
            <a:off x="7178040" y="2057400"/>
            <a:ext cx="320040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Mac access for iOS build</a:t>
            </a:r>
            <a:endParaRPr lang="en-US" sz="1600" dirty="0"/>
          </a:p>
        </p:txBody>
      </p:sp>
      <p:sp>
        <p:nvSpPr>
          <p:cNvPr id="12" name="Text 10"/>
          <p:cNvSpPr/>
          <p:nvPr/>
        </p:nvSpPr>
        <p:spPr>
          <a:xfrm>
            <a:off x="7178040" y="2468880"/>
            <a:ext cx="3200400" cy="548640"/>
          </a:xfrm>
          <a:prstGeom prst="rect">
            <a:avLst/>
          </a:prstGeom>
          <a:noFill/>
          <a:ln/>
        </p:spPr>
        <p:txBody>
          <a:bodyPr wrap="square" lIns="0" tIns="0" rIns="0" bIns="0" rtlCol="0" anchor="ctr"/>
          <a:lstStyle/>
          <a:p>
            <a:pPr indent="0" marL="0">
              <a:buNone/>
            </a:pPr>
            <a:r>
              <a:rPr lang="en-US" sz="1100" dirty="0">
                <a:solidFill>
                  <a:srgbClr val="BDA2DA"/>
                </a:solidFill>
                <a:latin typeface="Calibri" pitchFamily="34" charset="0"/>
                <a:ea typeface="Calibri" pitchFamily="34" charset="-122"/>
                <a:cs typeface="Calibri" pitchFamily="34" charset="-120"/>
              </a:rPr>
              <a:t>macOS + Xcode. Either purchase / loan a Mac, or use a cloud Mac CI like Codemagic.</a:t>
            </a:r>
            <a:endParaRPr lang="en-US" sz="1100" dirty="0"/>
          </a:p>
        </p:txBody>
      </p:sp>
      <p:sp>
        <p:nvSpPr>
          <p:cNvPr id="13" name="Shape 11"/>
          <p:cNvSpPr/>
          <p:nvPr/>
        </p:nvSpPr>
        <p:spPr>
          <a:xfrm>
            <a:off x="1783080" y="3337560"/>
            <a:ext cx="731520" cy="731520"/>
          </a:xfrm>
          <a:prstGeom prst="ellipse">
            <a:avLst/>
          </a:prstGeom>
          <a:solidFill>
            <a:srgbClr val="D4A24C"/>
          </a:solidFill>
          <a:ln/>
        </p:spPr>
      </p:sp>
      <p:sp>
        <p:nvSpPr>
          <p:cNvPr id="14" name="Text 12"/>
          <p:cNvSpPr/>
          <p:nvPr/>
        </p:nvSpPr>
        <p:spPr>
          <a:xfrm>
            <a:off x="1783080" y="3337560"/>
            <a:ext cx="731520"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03</a:t>
            </a:r>
            <a:endParaRPr lang="en-US" sz="1800" dirty="0"/>
          </a:p>
        </p:txBody>
      </p:sp>
      <p:sp>
        <p:nvSpPr>
          <p:cNvPr id="15" name="Text 13"/>
          <p:cNvSpPr/>
          <p:nvPr/>
        </p:nvSpPr>
        <p:spPr>
          <a:xfrm>
            <a:off x="2697480" y="3246120"/>
            <a:ext cx="320040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Google Play Console</a:t>
            </a:r>
            <a:endParaRPr lang="en-US" sz="1600" dirty="0"/>
          </a:p>
        </p:txBody>
      </p:sp>
      <p:sp>
        <p:nvSpPr>
          <p:cNvPr id="16" name="Text 14"/>
          <p:cNvSpPr/>
          <p:nvPr/>
        </p:nvSpPr>
        <p:spPr>
          <a:xfrm>
            <a:off x="2697480" y="3657600"/>
            <a:ext cx="3200400" cy="548640"/>
          </a:xfrm>
          <a:prstGeom prst="rect">
            <a:avLst/>
          </a:prstGeom>
          <a:noFill/>
          <a:ln/>
        </p:spPr>
        <p:txBody>
          <a:bodyPr wrap="square" lIns="0" tIns="0" rIns="0" bIns="0" rtlCol="0" anchor="ctr"/>
          <a:lstStyle/>
          <a:p>
            <a:pPr indent="0" marL="0">
              <a:buNone/>
            </a:pPr>
            <a:r>
              <a:rPr lang="en-US" sz="1100" dirty="0">
                <a:solidFill>
                  <a:srgbClr val="BDA2DA"/>
                </a:solidFill>
                <a:latin typeface="Calibri" pitchFamily="34" charset="0"/>
                <a:ea typeface="Calibri" pitchFamily="34" charset="-122"/>
                <a:cs typeface="Calibri" pitchFamily="34" charset="-120"/>
              </a:rPr>
              <a:t>$25 one-time. Android distribution channel.</a:t>
            </a:r>
            <a:endParaRPr lang="en-US" sz="1100" dirty="0"/>
          </a:p>
        </p:txBody>
      </p:sp>
      <p:sp>
        <p:nvSpPr>
          <p:cNvPr id="17" name="Shape 15"/>
          <p:cNvSpPr/>
          <p:nvPr/>
        </p:nvSpPr>
        <p:spPr>
          <a:xfrm>
            <a:off x="6263640" y="3337560"/>
            <a:ext cx="731520" cy="731520"/>
          </a:xfrm>
          <a:prstGeom prst="ellipse">
            <a:avLst/>
          </a:prstGeom>
          <a:solidFill>
            <a:srgbClr val="D4A24C"/>
          </a:solidFill>
          <a:ln/>
        </p:spPr>
      </p:sp>
      <p:sp>
        <p:nvSpPr>
          <p:cNvPr id="18" name="Text 16"/>
          <p:cNvSpPr/>
          <p:nvPr/>
        </p:nvSpPr>
        <p:spPr>
          <a:xfrm>
            <a:off x="6263640" y="3337560"/>
            <a:ext cx="731520"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04</a:t>
            </a:r>
            <a:endParaRPr lang="en-US" sz="1800" dirty="0"/>
          </a:p>
        </p:txBody>
      </p:sp>
      <p:sp>
        <p:nvSpPr>
          <p:cNvPr id="19" name="Text 17"/>
          <p:cNvSpPr/>
          <p:nvPr/>
        </p:nvSpPr>
        <p:spPr>
          <a:xfrm>
            <a:off x="7178040" y="3246120"/>
            <a:ext cx="320040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Beta cohort</a:t>
            </a:r>
            <a:endParaRPr lang="en-US" sz="1600" dirty="0"/>
          </a:p>
        </p:txBody>
      </p:sp>
      <p:sp>
        <p:nvSpPr>
          <p:cNvPr id="20" name="Text 18"/>
          <p:cNvSpPr/>
          <p:nvPr/>
        </p:nvSpPr>
        <p:spPr>
          <a:xfrm>
            <a:off x="7178040" y="3657600"/>
            <a:ext cx="3200400" cy="548640"/>
          </a:xfrm>
          <a:prstGeom prst="rect">
            <a:avLst/>
          </a:prstGeom>
          <a:noFill/>
          <a:ln/>
        </p:spPr>
        <p:txBody>
          <a:bodyPr wrap="square" lIns="0" tIns="0" rIns="0" bIns="0" rtlCol="0" anchor="ctr"/>
          <a:lstStyle/>
          <a:p>
            <a:pPr indent="0" marL="0">
              <a:buNone/>
            </a:pPr>
            <a:r>
              <a:rPr lang="en-US" sz="1100" dirty="0">
                <a:solidFill>
                  <a:srgbClr val="BDA2DA"/>
                </a:solidFill>
                <a:latin typeface="Calibri" pitchFamily="34" charset="0"/>
                <a:ea typeface="Calibri" pitchFamily="34" charset="-122"/>
                <a:cs typeface="Calibri" pitchFamily="34" charset="-120"/>
              </a:rPr>
              <a:t>10-20 friendly testers across iOS + Android, ideally multilingual to validate translation flow.</a:t>
            </a:r>
            <a:endParaRPr lang="en-US" sz="1100" dirty="0"/>
          </a:p>
        </p:txBody>
      </p:sp>
      <p:sp>
        <p:nvSpPr>
          <p:cNvPr id="21" name="Shape 19"/>
          <p:cNvSpPr/>
          <p:nvPr/>
        </p:nvSpPr>
        <p:spPr>
          <a:xfrm>
            <a:off x="1783080" y="4526280"/>
            <a:ext cx="731520" cy="731520"/>
          </a:xfrm>
          <a:prstGeom prst="ellipse">
            <a:avLst/>
          </a:prstGeom>
          <a:solidFill>
            <a:srgbClr val="D4A24C"/>
          </a:solidFill>
          <a:ln/>
        </p:spPr>
      </p:sp>
      <p:sp>
        <p:nvSpPr>
          <p:cNvPr id="22" name="Text 20"/>
          <p:cNvSpPr/>
          <p:nvPr/>
        </p:nvSpPr>
        <p:spPr>
          <a:xfrm>
            <a:off x="1783080" y="4526280"/>
            <a:ext cx="731520"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05</a:t>
            </a:r>
            <a:endParaRPr lang="en-US" sz="1800" dirty="0"/>
          </a:p>
        </p:txBody>
      </p:sp>
      <p:sp>
        <p:nvSpPr>
          <p:cNvPr id="23" name="Text 21"/>
          <p:cNvSpPr/>
          <p:nvPr/>
        </p:nvSpPr>
        <p:spPr>
          <a:xfrm>
            <a:off x="2697480" y="4434840"/>
            <a:ext cx="320040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Marketing seed budget</a:t>
            </a:r>
            <a:endParaRPr lang="en-US" sz="1600" dirty="0"/>
          </a:p>
        </p:txBody>
      </p:sp>
      <p:sp>
        <p:nvSpPr>
          <p:cNvPr id="24" name="Text 22"/>
          <p:cNvSpPr/>
          <p:nvPr/>
        </p:nvSpPr>
        <p:spPr>
          <a:xfrm>
            <a:off x="2697480" y="4846320"/>
            <a:ext cx="3200400" cy="548640"/>
          </a:xfrm>
          <a:prstGeom prst="rect">
            <a:avLst/>
          </a:prstGeom>
          <a:noFill/>
          <a:ln/>
        </p:spPr>
        <p:txBody>
          <a:bodyPr wrap="square" lIns="0" tIns="0" rIns="0" bIns="0" rtlCol="0" anchor="ctr"/>
          <a:lstStyle/>
          <a:p>
            <a:pPr indent="0" marL="0">
              <a:buNone/>
            </a:pPr>
            <a:r>
              <a:rPr lang="en-US" sz="1100" dirty="0">
                <a:solidFill>
                  <a:srgbClr val="BDA2DA"/>
                </a:solidFill>
                <a:latin typeface="Calibri" pitchFamily="34" charset="0"/>
                <a:ea typeface="Calibri" pitchFamily="34" charset="-122"/>
                <a:cs typeface="Calibri" pitchFamily="34" charset="-120"/>
              </a:rPr>
              <a:t>$2K-$5K for paid social + content to validate the conversion funnel before scaling spend.</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4A2070"/>
        </a:solidFill>
      </p:bgPr>
    </p:bg>
    <p:spTree>
      <p:nvGrpSpPr>
        <p:cNvPr id="1" name=""/>
        <p:cNvGrpSpPr/>
        <p:nvPr/>
      </p:nvGrpSpPr>
      <p:grpSpPr>
        <a:xfrm>
          <a:off x="0" y="0"/>
          <a:ext cx="0" cy="0"/>
          <a:chOff x="0" y="0"/>
          <a:chExt cx="0" cy="0"/>
        </a:xfrm>
      </p:grpSpPr>
      <p:sp>
        <p:nvSpPr>
          <p:cNvPr id="2" name="Shape 0"/>
          <p:cNvSpPr/>
          <p:nvPr/>
        </p:nvSpPr>
        <p:spPr>
          <a:xfrm>
            <a:off x="11996928" y="0"/>
            <a:ext cx="164592" cy="6858000"/>
          </a:xfrm>
          <a:prstGeom prst="rect">
            <a:avLst/>
          </a:prstGeom>
          <a:solidFill>
            <a:srgbClr val="BDA2DA"/>
          </a:solidFill>
          <a:ln/>
        </p:spPr>
      </p:sp>
      <p:sp>
        <p:nvSpPr>
          <p:cNvPr id="3" name="Text 1"/>
          <p:cNvSpPr/>
          <p:nvPr/>
        </p:nvSpPr>
        <p:spPr>
          <a:xfrm>
            <a:off x="914400" y="2103120"/>
            <a:ext cx="10332720" cy="1280160"/>
          </a:xfrm>
          <a:prstGeom prst="rect">
            <a:avLst/>
          </a:prstGeom>
          <a:noFill/>
          <a:ln/>
        </p:spPr>
        <p:txBody>
          <a:bodyPr wrap="square" lIns="0" tIns="0" rIns="0" bIns="0" rtlCol="0" anchor="ctr"/>
          <a:lstStyle/>
          <a:p>
            <a:pPr algn="ctr" indent="0" marL="0">
              <a:buNone/>
            </a:pPr>
            <a:r>
              <a:rPr lang="en-US" sz="8800" b="1" dirty="0">
                <a:solidFill>
                  <a:srgbClr val="FFFFFF"/>
                </a:solidFill>
                <a:latin typeface="Calibri" pitchFamily="34" charset="0"/>
                <a:ea typeface="Calibri" pitchFamily="34" charset="-122"/>
                <a:cs typeface="Calibri" pitchFamily="34" charset="-120"/>
              </a:rPr>
              <a:t>Thank You</a:t>
            </a:r>
            <a:endParaRPr lang="en-US" sz="8800" dirty="0"/>
          </a:p>
        </p:txBody>
      </p:sp>
      <p:sp>
        <p:nvSpPr>
          <p:cNvPr id="4" name="Text 2"/>
          <p:cNvSpPr/>
          <p:nvPr/>
        </p:nvSpPr>
        <p:spPr>
          <a:xfrm>
            <a:off x="914400" y="3383280"/>
            <a:ext cx="10332720" cy="548640"/>
          </a:xfrm>
          <a:prstGeom prst="rect">
            <a:avLst/>
          </a:prstGeom>
          <a:noFill/>
          <a:ln/>
        </p:spPr>
        <p:txBody>
          <a:bodyPr wrap="square" lIns="0" tIns="0" rIns="0" bIns="0" rtlCol="0" anchor="ctr"/>
          <a:lstStyle/>
          <a:p>
            <a:pPr algn="ctr" indent="0" marL="0">
              <a:buNone/>
            </a:pPr>
            <a:r>
              <a:rPr lang="en-US" sz="2200" i="1" dirty="0">
                <a:solidFill>
                  <a:srgbClr val="BDA2DA"/>
                </a:solidFill>
                <a:latin typeface="Calibri" pitchFamily="34" charset="0"/>
                <a:ea typeface="Calibri" pitchFamily="34" charset="-122"/>
                <a:cs typeface="Calibri" pitchFamily="34" charset="-120"/>
              </a:rPr>
              <a:t>Sheen AI — meetings worth their substance.</a:t>
            </a:r>
            <a:endParaRPr lang="en-US" sz="2200" dirty="0"/>
          </a:p>
        </p:txBody>
      </p:sp>
      <p:sp>
        <p:nvSpPr>
          <p:cNvPr id="5" name="Shape 3"/>
          <p:cNvSpPr/>
          <p:nvPr/>
        </p:nvSpPr>
        <p:spPr>
          <a:xfrm>
            <a:off x="3337560" y="4572000"/>
            <a:ext cx="5486400" cy="1554480"/>
          </a:xfrm>
          <a:prstGeom prst="rect">
            <a:avLst/>
          </a:prstGeom>
          <a:solidFill>
            <a:srgbClr val="FFFFFF">
              <a:alpha val="10000"/>
            </a:srgbClr>
          </a:solidFill>
          <a:ln w="12700">
            <a:solidFill>
              <a:srgbClr val="BDA2DA"/>
            </a:solidFill>
            <a:prstDash val="solid"/>
          </a:ln>
        </p:spPr>
      </p:sp>
      <p:sp>
        <p:nvSpPr>
          <p:cNvPr id="6" name="Text 4"/>
          <p:cNvSpPr/>
          <p:nvPr/>
        </p:nvSpPr>
        <p:spPr>
          <a:xfrm>
            <a:off x="3520440" y="4709160"/>
            <a:ext cx="5120640" cy="1325880"/>
          </a:xfrm>
          <a:prstGeom prst="rect">
            <a:avLst/>
          </a:prstGeom>
          <a:noFill/>
          <a:ln/>
        </p:spPr>
        <p:txBody>
          <a:bodyPr wrap="square" lIns="0" tIns="0" rIns="0" bIns="0" rtlCol="0" anchor="ctr"/>
          <a:lstStyle/>
          <a:p>
            <a:pPr algn="ctr" indent="0" marL="0">
              <a:spcAft>
                <a:spcPts val="400"/>
              </a:spcAft>
              <a:buNone/>
            </a:pPr>
            <a:r>
              <a:rPr lang="en-US" sz="1800" b="1" dirty="0">
                <a:solidFill>
                  <a:srgbClr val="FFFFFF"/>
                </a:solidFill>
                <a:latin typeface="Calibri" pitchFamily="34" charset="0"/>
                <a:ea typeface="Calibri" pitchFamily="34" charset="-122"/>
                <a:cs typeface="Calibri" pitchFamily="34" charset="-120"/>
              </a:rPr>
              <a:t>Halit Koraya</a:t>
            </a:r>
            <a:endParaRPr lang="en-US" sz="1800" dirty="0"/>
          </a:p>
          <a:p>
            <a:pPr algn="ctr" indent="0" marL="0">
              <a:spcAft>
                <a:spcPts val="400"/>
              </a:spcAft>
              <a:buNone/>
            </a:pPr>
            <a:r>
              <a:rPr lang="en-US" sz="1400" dirty="0">
                <a:solidFill>
                  <a:srgbClr val="BDA2DA"/>
                </a:solidFill>
                <a:latin typeface="Calibri" pitchFamily="34" charset="0"/>
                <a:ea typeface="Calibri" pitchFamily="34" charset="-122"/>
                <a:cs typeface="Calibri" pitchFamily="34" charset="-120"/>
              </a:rPr>
              <a:t>github.com/halitkoraya-ai/sheen-ai</a:t>
            </a:r>
            <a:endParaRPr lang="en-US" sz="1800" dirty="0"/>
          </a:p>
          <a:p>
            <a:pPr algn="ctr" indent="0" marL="0">
              <a:spcAft>
                <a:spcPts val="400"/>
              </a:spcAft>
              <a:buNone/>
            </a:pPr>
            <a:r>
              <a:rPr lang="en-US" sz="1400" dirty="0">
                <a:solidFill>
                  <a:srgbClr val="BDA2DA"/>
                </a:solidFill>
                <a:latin typeface="Calibri" pitchFamily="34" charset="0"/>
                <a:ea typeface="Calibri" pitchFamily="34" charset="-122"/>
                <a:cs typeface="Calibri" pitchFamily="34" charset="-120"/>
              </a:rPr>
              <a:t>halitkoraya@gmail.com</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Sheen AI — Stakeholder Pitch Deck</dc:title>
  <dc:subject>Cross-platform meeting transcription + AI assistant</dc:subject>
  <dc:creator>Halit Koraya</dc:creator>
  <cp:lastModifiedBy>Halit Koraya</cp:lastModifiedBy>
  <cp:revision>1</cp:revision>
  <dcterms:created xsi:type="dcterms:W3CDTF">2026-05-08T10:25:21Z</dcterms:created>
  <dcterms:modified xsi:type="dcterms:W3CDTF">2026-05-08T10:25:21Z</dcterms:modified>
</cp:coreProperties>
</file>